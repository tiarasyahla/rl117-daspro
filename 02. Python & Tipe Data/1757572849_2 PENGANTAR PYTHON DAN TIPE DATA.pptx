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01" r:id="rId45"/>
    <p:sldId id="302" r:id="rId46"/>
    <p:sldId id="303" r:id="rId47"/>
    <p:sldId id="304" r:id="rId48"/>
    <p:sldId id="305" r:id="rId49"/>
    <p:sldId id="306" r:id="rId50"/>
    <p:sldId id="307" r:id="rId51"/>
    <p:sldId id="308" r:id="rId52"/>
    <p:sldId id="309" r:id="rId53"/>
    <p:sldId id="310" r:id="rId54"/>
    <p:sldId id="311" r:id="rId55"/>
    <p:sldId id="312" r:id="rId56"/>
    <p:sldId id="313" r:id="rId57"/>
    <p:sldId id="314" r:id="rId58"/>
    <p:sldId id="315" r:id="rId59"/>
    <p:sldId id="316" r:id="rId60"/>
    <p:sldId id="327" r:id="rId61"/>
    <p:sldId id="32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713"/>
    <p:restoredTop sz="96296"/>
  </p:normalViewPr>
  <p:slideViewPr>
    <p:cSldViewPr snapToGrid="0">
      <p:cViewPr varScale="1">
        <p:scale>
          <a:sx n="116" d="100"/>
          <a:sy n="116" d="100"/>
        </p:scale>
        <p:origin x="200" y="3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E05272-72D5-F345-94B5-CCE264DD64C5}" type="datetimeFigureOut">
              <a:rPr lang="en-US" smtClean="0"/>
              <a:t>9/11/25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7FC485-BAB3-DB4D-8232-AFA43C57E7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7844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>
              <a:spcBef>
                <a:spcPts val="0"/>
              </a:spcBef>
              <a:spcAft>
                <a:spcPts val="0"/>
              </a:spcAft>
            </a:pP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Tipe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data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adalah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suatu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media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atau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memori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pada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komputer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yang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digunakan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untuk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menampung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informasi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</a:t>
            </a:r>
            <a:endParaRPr lang="en-ID" b="0" i="0" u="none" strike="noStrike" dirty="0">
              <a:solidFill>
                <a:srgbClr val="000000"/>
              </a:solidFill>
              <a:effectLst/>
            </a:endParaRPr>
          </a:p>
          <a:p>
            <a:br>
              <a:rPr lang="en-ID" dirty="0"/>
            </a:br>
            <a:br>
              <a:rPr lang="en-ID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6121B9-5694-5E48-AC93-9E7B4510D9C5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1822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sv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1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8.svg"/><Relationship Id="rId4" Type="http://schemas.openxmlformats.org/officeDocument/2006/relationships/image" Target="../media/image9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1760C-150A-D504-E74E-46B2CD722AE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68638" y="2025564"/>
            <a:ext cx="6683923" cy="2387600"/>
          </a:xfrm>
        </p:spPr>
        <p:txBody>
          <a:bodyPr anchor="b">
            <a:noAutofit/>
          </a:bodyPr>
          <a:lstStyle>
            <a:lvl1pPr algn="l">
              <a:defRPr sz="5400" b="1" i="0">
                <a:latin typeface="Gill Sans MT" panose="020B0502020104020203" pitchFamily="34" charset="77"/>
                <a:cs typeface="Aharoni" panose="02010803020104030203" pitchFamily="2" charset="-79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0F35F9-698B-DA5C-C7FF-2A95142113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68638" y="4630129"/>
            <a:ext cx="5042681" cy="718073"/>
          </a:xfrm>
        </p:spPr>
        <p:txBody>
          <a:bodyPr/>
          <a:lstStyle>
            <a:lvl1pPr marL="0" indent="0" algn="ctr">
              <a:buNone/>
              <a:defRPr sz="2400" b="1" i="0">
                <a:latin typeface="Gill Sans MT" panose="020B0502020104020203" pitchFamily="34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433BD6FD-C059-80B4-333E-ACA6245ED5B1}"/>
              </a:ext>
            </a:extLst>
          </p:cNvPr>
          <p:cNvSpPr/>
          <p:nvPr userDrawn="1"/>
        </p:nvSpPr>
        <p:spPr>
          <a:xfrm>
            <a:off x="-1090037" y="-2714590"/>
            <a:ext cx="6940440" cy="6705041"/>
          </a:xfrm>
          <a:custGeom>
            <a:avLst/>
            <a:gdLst/>
            <a:ahLst/>
            <a:cxnLst/>
            <a:rect l="l" t="t" r="r" b="b"/>
            <a:pathLst>
              <a:path w="10812392" h="10812392">
                <a:moveTo>
                  <a:pt x="0" y="0"/>
                </a:moveTo>
                <a:lnTo>
                  <a:pt x="10812393" y="0"/>
                </a:lnTo>
                <a:lnTo>
                  <a:pt x="10812393" y="10812392"/>
                </a:lnTo>
                <a:lnTo>
                  <a:pt x="0" y="108123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6">
            <a:extLst>
              <a:ext uri="{FF2B5EF4-FFF2-40B4-BE49-F238E27FC236}">
                <a16:creationId xmlns:a16="http://schemas.microsoft.com/office/drawing/2014/main" id="{3CAD99F5-8EB6-6CE3-49FA-74FD8735816E}"/>
              </a:ext>
            </a:extLst>
          </p:cNvPr>
          <p:cNvSpPr/>
          <p:nvPr userDrawn="1"/>
        </p:nvSpPr>
        <p:spPr>
          <a:xfrm>
            <a:off x="-2704898" y="2272421"/>
            <a:ext cx="4585579" cy="4585579"/>
          </a:xfrm>
          <a:custGeom>
            <a:avLst/>
            <a:gdLst/>
            <a:ahLst/>
            <a:cxnLst/>
            <a:rect l="l" t="t" r="r" b="b"/>
            <a:pathLst>
              <a:path w="5764383" h="5764383">
                <a:moveTo>
                  <a:pt x="0" y="0"/>
                </a:moveTo>
                <a:lnTo>
                  <a:pt x="5764383" y="0"/>
                </a:lnTo>
                <a:lnTo>
                  <a:pt x="5764383" y="5764383"/>
                </a:lnTo>
                <a:lnTo>
                  <a:pt x="0" y="57643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7">
            <a:extLst>
              <a:ext uri="{FF2B5EF4-FFF2-40B4-BE49-F238E27FC236}">
                <a16:creationId xmlns:a16="http://schemas.microsoft.com/office/drawing/2014/main" id="{C9AA94A3-1D0B-95B3-DF97-48B827321325}"/>
              </a:ext>
            </a:extLst>
          </p:cNvPr>
          <p:cNvSpPr/>
          <p:nvPr userDrawn="1"/>
        </p:nvSpPr>
        <p:spPr>
          <a:xfrm>
            <a:off x="239439" y="4835878"/>
            <a:ext cx="4585578" cy="4585578"/>
          </a:xfrm>
          <a:custGeom>
            <a:avLst/>
            <a:gdLst/>
            <a:ahLst/>
            <a:cxnLst/>
            <a:rect l="l" t="t" r="r" b="b"/>
            <a:pathLst>
              <a:path w="5764383" h="5764383">
                <a:moveTo>
                  <a:pt x="0" y="0"/>
                </a:moveTo>
                <a:lnTo>
                  <a:pt x="5764383" y="0"/>
                </a:lnTo>
                <a:lnTo>
                  <a:pt x="5764383" y="5764382"/>
                </a:lnTo>
                <a:lnTo>
                  <a:pt x="0" y="57643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8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C177270-A6A6-64D5-9347-308E71A1CC3A}"/>
              </a:ext>
            </a:extLst>
          </p:cNvPr>
          <p:cNvSpPr txBox="1"/>
          <p:nvPr userDrawn="1"/>
        </p:nvSpPr>
        <p:spPr>
          <a:xfrm>
            <a:off x="681033" y="637930"/>
            <a:ext cx="4143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0" dirty="0">
                <a:solidFill>
                  <a:schemeClr val="bg1"/>
                </a:solidFill>
                <a:latin typeface="Gill Sans MT" panose="020B0502020104020203" pitchFamily="34" charset="77"/>
              </a:rPr>
              <a:t>REKAYASA PERANGKAT LUNAK</a:t>
            </a:r>
          </a:p>
        </p:txBody>
      </p:sp>
    </p:spTree>
    <p:extLst>
      <p:ext uri="{BB962C8B-B14F-4D97-AF65-F5344CB8AC3E}">
        <p14:creationId xmlns:p14="http://schemas.microsoft.com/office/powerpoint/2010/main" val="6587876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3">
            <a:extLst>
              <a:ext uri="{FF2B5EF4-FFF2-40B4-BE49-F238E27FC236}">
                <a16:creationId xmlns:a16="http://schemas.microsoft.com/office/drawing/2014/main" id="{515C394D-C021-DF68-DBDD-E9413F9061B7}"/>
              </a:ext>
            </a:extLst>
          </p:cNvPr>
          <p:cNvSpPr/>
          <p:nvPr userDrawn="1"/>
        </p:nvSpPr>
        <p:spPr>
          <a:xfrm>
            <a:off x="0" y="0"/>
            <a:ext cx="12192000" cy="1690688"/>
          </a:xfrm>
          <a:custGeom>
            <a:avLst/>
            <a:gdLst/>
            <a:ahLst/>
            <a:cxnLst/>
            <a:rect l="l" t="t" r="r" b="b"/>
            <a:pathLst>
              <a:path w="18288000" h="3608707">
                <a:moveTo>
                  <a:pt x="0" y="0"/>
                </a:moveTo>
                <a:lnTo>
                  <a:pt x="18288000" y="0"/>
                </a:lnTo>
                <a:lnTo>
                  <a:pt x="18288000" y="3608707"/>
                </a:lnTo>
                <a:lnTo>
                  <a:pt x="0" y="36087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184715"/>
            </a:stretch>
          </a:blipFill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463C90-8185-169A-D4A8-DB18D76DB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>
                <a:solidFill>
                  <a:schemeClr val="bg1"/>
                </a:solidFill>
                <a:latin typeface="Gill Sans MT" panose="020B0502020104020203" pitchFamily="34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C741D-17FE-FCFD-3E2B-5C3274015B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77"/>
              </a:defRPr>
            </a:lvl1pPr>
            <a:lvl2pPr>
              <a:defRPr>
                <a:latin typeface="Gill Sans MT" panose="020B0502020104020203" pitchFamily="34" charset="77"/>
              </a:defRPr>
            </a:lvl2pPr>
            <a:lvl3pPr>
              <a:defRPr>
                <a:latin typeface="Gill Sans MT" panose="020B0502020104020203" pitchFamily="34" charset="77"/>
              </a:defRPr>
            </a:lvl3pPr>
            <a:lvl4pPr>
              <a:defRPr>
                <a:latin typeface="Gill Sans MT" panose="020B0502020104020203" pitchFamily="34" charset="77"/>
              </a:defRPr>
            </a:lvl4pPr>
            <a:lvl5pPr>
              <a:defRPr>
                <a:latin typeface="Gill Sans MT" panose="020B0502020104020203" pitchFamily="34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937841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2">
            <a:extLst>
              <a:ext uri="{FF2B5EF4-FFF2-40B4-BE49-F238E27FC236}">
                <a16:creationId xmlns:a16="http://schemas.microsoft.com/office/drawing/2014/main" id="{8919F672-3EBD-7ED0-57D7-0C747184B83C}"/>
              </a:ext>
            </a:extLst>
          </p:cNvPr>
          <p:cNvSpPr/>
          <p:nvPr userDrawn="1"/>
        </p:nvSpPr>
        <p:spPr>
          <a:xfrm rot="673413">
            <a:off x="6773829" y="-485966"/>
            <a:ext cx="8137998" cy="7829930"/>
          </a:xfrm>
          <a:custGeom>
            <a:avLst/>
            <a:gdLst/>
            <a:ahLst/>
            <a:cxnLst/>
            <a:rect l="l" t="t" r="r" b="b"/>
            <a:pathLst>
              <a:path w="13265113" h="13265113">
                <a:moveTo>
                  <a:pt x="0" y="0"/>
                </a:moveTo>
                <a:lnTo>
                  <a:pt x="13265113" y="0"/>
                </a:lnTo>
                <a:lnTo>
                  <a:pt x="13265113" y="13265112"/>
                </a:lnTo>
                <a:lnTo>
                  <a:pt x="0" y="132651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BCE2D0-AB6C-07B4-2C4E-8481F7272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4710821" cy="2852737"/>
          </a:xfrm>
        </p:spPr>
        <p:txBody>
          <a:bodyPr anchor="b"/>
          <a:lstStyle>
            <a:lvl1pPr>
              <a:defRPr sz="6000" b="1" i="0">
                <a:latin typeface="Gill Sans MT" panose="020B0502020104020203" pitchFamily="34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B12767-782B-0360-24AC-B6F385029A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4710821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Gill Sans MT" panose="020B0502020104020203" pitchFamily="34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BC4F8A94-35F1-F519-5C09-D2A510CC50EB}"/>
              </a:ext>
            </a:extLst>
          </p:cNvPr>
          <p:cNvGrpSpPr/>
          <p:nvPr userDrawn="1"/>
        </p:nvGrpSpPr>
        <p:grpSpPr>
          <a:xfrm>
            <a:off x="7462998" y="269295"/>
            <a:ext cx="7077020" cy="6588705"/>
            <a:chOff x="0" y="0"/>
            <a:chExt cx="6350000" cy="5911850"/>
          </a:xfrm>
          <a:solidFill>
            <a:schemeClr val="accent3">
              <a:lumMod val="20000"/>
              <a:lumOff val="80000"/>
            </a:schemeClr>
          </a:solidFill>
        </p:grpSpPr>
        <p:sp>
          <p:nvSpPr>
            <p:cNvPr id="9" name="Freeform 4">
              <a:extLst>
                <a:ext uri="{FF2B5EF4-FFF2-40B4-BE49-F238E27FC236}">
                  <a16:creationId xmlns:a16="http://schemas.microsoft.com/office/drawing/2014/main" id="{F3253A5D-723C-8310-5D9B-18494A980C46}"/>
                </a:ext>
              </a:extLst>
            </p:cNvPr>
            <p:cNvSpPr/>
            <p:nvPr/>
          </p:nvSpPr>
          <p:spPr>
            <a:xfrm>
              <a:off x="-68580" y="0"/>
              <a:ext cx="6417310" cy="5911850"/>
            </a:xfrm>
            <a:custGeom>
              <a:avLst/>
              <a:gdLst/>
              <a:ahLst/>
              <a:cxnLst/>
              <a:rect l="l" t="t" r="r" b="b"/>
              <a:pathLst>
                <a:path w="6417310" h="5911850">
                  <a:moveTo>
                    <a:pt x="1215390" y="402590"/>
                  </a:moveTo>
                  <a:lnTo>
                    <a:pt x="177800" y="2192020"/>
                  </a:lnTo>
                  <a:cubicBezTo>
                    <a:pt x="0" y="2498090"/>
                    <a:pt x="43180" y="2884170"/>
                    <a:pt x="283210" y="3144520"/>
                  </a:cubicBezTo>
                  <a:lnTo>
                    <a:pt x="2594610" y="5651500"/>
                  </a:lnTo>
                  <a:cubicBezTo>
                    <a:pt x="2747010" y="5817870"/>
                    <a:pt x="2962910" y="5911850"/>
                    <a:pt x="3187700" y="5911850"/>
                  </a:cubicBezTo>
                  <a:lnTo>
                    <a:pt x="5609590" y="5911850"/>
                  </a:lnTo>
                  <a:cubicBezTo>
                    <a:pt x="6055360" y="5911850"/>
                    <a:pt x="6417310" y="5549900"/>
                    <a:pt x="6417310" y="5104130"/>
                  </a:cubicBezTo>
                  <a:lnTo>
                    <a:pt x="6417310" y="1891030"/>
                  </a:lnTo>
                  <a:cubicBezTo>
                    <a:pt x="6417310" y="1724660"/>
                    <a:pt x="6366510" y="1562100"/>
                    <a:pt x="6269990" y="1426210"/>
                  </a:cubicBezTo>
                  <a:lnTo>
                    <a:pt x="5507990" y="342900"/>
                  </a:lnTo>
                  <a:cubicBezTo>
                    <a:pt x="5356860" y="128270"/>
                    <a:pt x="5110480" y="0"/>
                    <a:pt x="4847590" y="0"/>
                  </a:cubicBezTo>
                  <a:lnTo>
                    <a:pt x="1913890" y="0"/>
                  </a:lnTo>
                  <a:cubicBezTo>
                    <a:pt x="1625600" y="0"/>
                    <a:pt x="1358900" y="153670"/>
                    <a:pt x="1215390" y="402590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5476291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2">
            <a:extLst>
              <a:ext uri="{FF2B5EF4-FFF2-40B4-BE49-F238E27FC236}">
                <a16:creationId xmlns:a16="http://schemas.microsoft.com/office/drawing/2014/main" id="{41FBA89D-3B3E-26C9-52EA-7C0C1DC8245D}"/>
              </a:ext>
            </a:extLst>
          </p:cNvPr>
          <p:cNvGrpSpPr/>
          <p:nvPr userDrawn="1"/>
        </p:nvGrpSpPr>
        <p:grpSpPr>
          <a:xfrm>
            <a:off x="0" y="0"/>
            <a:ext cx="12192000" cy="1927274"/>
            <a:chOff x="0" y="0"/>
            <a:chExt cx="24384000" cy="5030819"/>
          </a:xfrm>
          <a:solidFill>
            <a:schemeClr val="accent1">
              <a:lumMod val="50000"/>
            </a:schemeClr>
          </a:solidFill>
        </p:grpSpPr>
        <p:sp>
          <p:nvSpPr>
            <p:cNvPr id="11" name="AutoShape 3">
              <a:extLst>
                <a:ext uri="{FF2B5EF4-FFF2-40B4-BE49-F238E27FC236}">
                  <a16:creationId xmlns:a16="http://schemas.microsoft.com/office/drawing/2014/main" id="{99B3262B-727C-1F17-EE1F-677F84EBE0D1}"/>
                </a:ext>
              </a:extLst>
            </p:cNvPr>
            <p:cNvSpPr/>
            <p:nvPr/>
          </p:nvSpPr>
          <p:spPr>
            <a:xfrm>
              <a:off x="0" y="0"/>
              <a:ext cx="24384000" cy="5030819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8" name="Group 2">
            <a:extLst>
              <a:ext uri="{FF2B5EF4-FFF2-40B4-BE49-F238E27FC236}">
                <a16:creationId xmlns:a16="http://schemas.microsoft.com/office/drawing/2014/main" id="{57ECD795-11BC-4A89-6929-93D19409EF4E}"/>
              </a:ext>
            </a:extLst>
          </p:cNvPr>
          <p:cNvGrpSpPr/>
          <p:nvPr userDrawn="1"/>
        </p:nvGrpSpPr>
        <p:grpSpPr>
          <a:xfrm>
            <a:off x="0" y="0"/>
            <a:ext cx="12192000" cy="1927274"/>
            <a:chOff x="0" y="0"/>
            <a:chExt cx="24384000" cy="5030819"/>
          </a:xfrm>
        </p:grpSpPr>
        <p:sp>
          <p:nvSpPr>
            <p:cNvPr id="9" name="AutoShape 3">
              <a:extLst>
                <a:ext uri="{FF2B5EF4-FFF2-40B4-BE49-F238E27FC236}">
                  <a16:creationId xmlns:a16="http://schemas.microsoft.com/office/drawing/2014/main" id="{CF9B217B-C26C-AC73-48B8-119D8EEA0305}"/>
                </a:ext>
              </a:extLst>
            </p:cNvPr>
            <p:cNvSpPr/>
            <p:nvPr/>
          </p:nvSpPr>
          <p:spPr>
            <a:xfrm>
              <a:off x="0" y="0"/>
              <a:ext cx="24384000" cy="5030819"/>
            </a:xfrm>
            <a:prstGeom prst="rect">
              <a:avLst/>
            </a:prstGeom>
            <a:solidFill>
              <a:srgbClr val="A9846F">
                <a:alpha val="13725"/>
              </a:srgbClr>
            </a:solid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9082680-88F3-E286-ADA0-7C49EFD148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ctr">
              <a:defRPr sz="4000" b="1" i="0">
                <a:solidFill>
                  <a:schemeClr val="bg1"/>
                </a:solidFill>
                <a:latin typeface="Gill Sans MT" panose="020B0502020104020203" pitchFamily="34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F05A69-E81E-8AA0-7FA6-FBC212CB7B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141537"/>
            <a:ext cx="5181600" cy="4351338"/>
          </a:xfrm>
        </p:spPr>
        <p:txBody>
          <a:bodyPr/>
          <a:lstStyle>
            <a:lvl1pPr>
              <a:defRPr>
                <a:latin typeface="Gill Sans MT" panose="020B0502020104020203" pitchFamily="34" charset="77"/>
              </a:defRPr>
            </a:lvl1pPr>
            <a:lvl2pPr>
              <a:defRPr>
                <a:latin typeface="Gill Sans MT" panose="020B0502020104020203" pitchFamily="34" charset="77"/>
              </a:defRPr>
            </a:lvl2pPr>
            <a:lvl3pPr>
              <a:defRPr>
                <a:latin typeface="Gill Sans MT" panose="020B0502020104020203" pitchFamily="34" charset="77"/>
              </a:defRPr>
            </a:lvl3pPr>
            <a:lvl4pPr>
              <a:defRPr>
                <a:latin typeface="Gill Sans MT" panose="020B0502020104020203" pitchFamily="34" charset="77"/>
              </a:defRPr>
            </a:lvl4pPr>
            <a:lvl5pPr>
              <a:defRPr>
                <a:latin typeface="Gill Sans MT" panose="020B0502020104020203" pitchFamily="34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F153CA-69A6-56E8-DB28-7618EE3AA7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41537"/>
            <a:ext cx="5181600" cy="4351338"/>
          </a:xfrm>
        </p:spPr>
        <p:txBody>
          <a:bodyPr/>
          <a:lstStyle>
            <a:lvl1pPr>
              <a:defRPr>
                <a:latin typeface="Gill Sans MT" panose="020B0502020104020203" pitchFamily="34" charset="77"/>
              </a:defRPr>
            </a:lvl1pPr>
            <a:lvl2pPr>
              <a:defRPr>
                <a:latin typeface="Gill Sans MT" panose="020B0502020104020203" pitchFamily="34" charset="77"/>
              </a:defRPr>
            </a:lvl2pPr>
            <a:lvl3pPr>
              <a:defRPr>
                <a:latin typeface="Gill Sans MT" panose="020B0502020104020203" pitchFamily="34" charset="77"/>
              </a:defRPr>
            </a:lvl3pPr>
            <a:lvl4pPr>
              <a:defRPr>
                <a:latin typeface="Gill Sans MT" panose="020B0502020104020203" pitchFamily="34" charset="77"/>
              </a:defRPr>
            </a:lvl4pPr>
            <a:lvl5pPr>
              <a:defRPr>
                <a:latin typeface="Gill Sans MT" panose="020B0502020104020203" pitchFamily="34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Freeform 10">
            <a:extLst>
              <a:ext uri="{FF2B5EF4-FFF2-40B4-BE49-F238E27FC236}">
                <a16:creationId xmlns:a16="http://schemas.microsoft.com/office/drawing/2014/main" id="{91F7AADE-8EE6-9338-8160-470CE767CEE3}"/>
              </a:ext>
            </a:extLst>
          </p:cNvPr>
          <p:cNvSpPr/>
          <p:nvPr userDrawn="1"/>
        </p:nvSpPr>
        <p:spPr>
          <a:xfrm>
            <a:off x="5672782" y="-530349"/>
            <a:ext cx="846436" cy="846436"/>
          </a:xfrm>
          <a:custGeom>
            <a:avLst/>
            <a:gdLst/>
            <a:ahLst/>
            <a:cxnLst/>
            <a:rect l="l" t="t" r="r" b="b"/>
            <a:pathLst>
              <a:path w="1621594" h="1621594">
                <a:moveTo>
                  <a:pt x="0" y="0"/>
                </a:moveTo>
                <a:lnTo>
                  <a:pt x="1621594" y="0"/>
                </a:lnTo>
                <a:lnTo>
                  <a:pt x="1621594" y="1621594"/>
                </a:lnTo>
                <a:lnTo>
                  <a:pt x="0" y="16215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1">
            <a:extLst>
              <a:ext uri="{FF2B5EF4-FFF2-40B4-BE49-F238E27FC236}">
                <a16:creationId xmlns:a16="http://schemas.microsoft.com/office/drawing/2014/main" id="{17BE3EE1-AA84-0B65-856D-B22A46A14E02}"/>
              </a:ext>
            </a:extLst>
          </p:cNvPr>
          <p:cNvSpPr/>
          <p:nvPr userDrawn="1"/>
        </p:nvSpPr>
        <p:spPr>
          <a:xfrm>
            <a:off x="5672782" y="6492875"/>
            <a:ext cx="846436" cy="846436"/>
          </a:xfrm>
          <a:custGeom>
            <a:avLst/>
            <a:gdLst/>
            <a:ahLst/>
            <a:cxnLst/>
            <a:rect l="l" t="t" r="r" b="b"/>
            <a:pathLst>
              <a:path w="1621594" h="1621594">
                <a:moveTo>
                  <a:pt x="0" y="0"/>
                </a:moveTo>
                <a:lnTo>
                  <a:pt x="1621594" y="0"/>
                </a:lnTo>
                <a:lnTo>
                  <a:pt x="1621594" y="1621594"/>
                </a:lnTo>
                <a:lnTo>
                  <a:pt x="0" y="16215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41233524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743C6-3AC3-2E23-CED3-8F09020726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407808-550C-EDA3-8C1E-B5D90DC69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C8A83F-B8C6-9850-B9F0-C84609FB05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529018-CFBE-502E-B83F-59B76511DB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4BA4C0-6A9A-3ABA-165C-920EFF0891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529344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29">
            <a:extLst>
              <a:ext uri="{FF2B5EF4-FFF2-40B4-BE49-F238E27FC236}">
                <a16:creationId xmlns:a16="http://schemas.microsoft.com/office/drawing/2014/main" id="{EC4EECB4-B97A-EA9E-5C81-890134F5E532}"/>
              </a:ext>
            </a:extLst>
          </p:cNvPr>
          <p:cNvSpPr/>
          <p:nvPr/>
        </p:nvSpPr>
        <p:spPr>
          <a:xfrm>
            <a:off x="0" y="6094827"/>
            <a:ext cx="12192000" cy="763173"/>
          </a:xfrm>
          <a:custGeom>
            <a:avLst/>
            <a:gdLst/>
            <a:ahLst/>
            <a:cxnLst/>
            <a:rect l="l" t="t" r="r" b="b"/>
            <a:pathLst>
              <a:path w="4816592" h="305799">
                <a:moveTo>
                  <a:pt x="0" y="0"/>
                </a:moveTo>
                <a:lnTo>
                  <a:pt x="4816592" y="0"/>
                </a:lnTo>
                <a:lnTo>
                  <a:pt x="4816592" y="305799"/>
                </a:lnTo>
                <a:lnTo>
                  <a:pt x="0" y="305799"/>
                </a:lnTo>
                <a:close/>
              </a:path>
            </a:pathLst>
          </a:custGeom>
          <a:solidFill>
            <a:srgbClr val="F4F4F4"/>
          </a:solidFill>
        </p:spPr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64349327-1A17-0CFE-2B8D-1D50261B5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b="1">
                <a:solidFill>
                  <a:schemeClr val="tx2">
                    <a:lumMod val="75000"/>
                  </a:schemeClr>
                </a:solidFill>
                <a:latin typeface="Gill Sans MT" panose="020B0502020104020203" pitchFamily="34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Freeform 7">
            <a:extLst>
              <a:ext uri="{FF2B5EF4-FFF2-40B4-BE49-F238E27FC236}">
                <a16:creationId xmlns:a16="http://schemas.microsoft.com/office/drawing/2014/main" id="{E6672B45-5413-EB9C-8B10-79FC60D4456A}"/>
              </a:ext>
            </a:extLst>
          </p:cNvPr>
          <p:cNvSpPr/>
          <p:nvPr userDrawn="1"/>
        </p:nvSpPr>
        <p:spPr>
          <a:xfrm>
            <a:off x="-460473" y="-548090"/>
            <a:ext cx="1826429" cy="1826429"/>
          </a:xfrm>
          <a:custGeom>
            <a:avLst/>
            <a:gdLst/>
            <a:ahLst/>
            <a:cxnLst/>
            <a:rect l="l" t="t" r="r" b="b"/>
            <a:pathLst>
              <a:path w="5764383" h="5764383">
                <a:moveTo>
                  <a:pt x="0" y="0"/>
                </a:moveTo>
                <a:lnTo>
                  <a:pt x="5764383" y="0"/>
                </a:lnTo>
                <a:lnTo>
                  <a:pt x="5764383" y="5764382"/>
                </a:lnTo>
                <a:lnTo>
                  <a:pt x="0" y="57643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11057588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2">
            <a:extLst>
              <a:ext uri="{FF2B5EF4-FFF2-40B4-BE49-F238E27FC236}">
                <a16:creationId xmlns:a16="http://schemas.microsoft.com/office/drawing/2014/main" id="{D76D24A9-4C44-6B4D-E8B9-96558E200D82}"/>
              </a:ext>
            </a:extLst>
          </p:cNvPr>
          <p:cNvGrpSpPr/>
          <p:nvPr userDrawn="1"/>
        </p:nvGrpSpPr>
        <p:grpSpPr>
          <a:xfrm>
            <a:off x="0" y="5739616"/>
            <a:ext cx="12192000" cy="1188721"/>
            <a:chOff x="0" y="0"/>
            <a:chExt cx="24384000" cy="5030819"/>
          </a:xfrm>
        </p:grpSpPr>
        <p:sp>
          <p:nvSpPr>
            <p:cNvPr id="7" name="AutoShape 3">
              <a:extLst>
                <a:ext uri="{FF2B5EF4-FFF2-40B4-BE49-F238E27FC236}">
                  <a16:creationId xmlns:a16="http://schemas.microsoft.com/office/drawing/2014/main" id="{9DDA39D9-5441-E437-3D28-EADBA70D5CF1}"/>
                </a:ext>
              </a:extLst>
            </p:cNvPr>
            <p:cNvSpPr/>
            <p:nvPr/>
          </p:nvSpPr>
          <p:spPr>
            <a:xfrm>
              <a:off x="0" y="0"/>
              <a:ext cx="24384000" cy="5030819"/>
            </a:xfrm>
            <a:prstGeom prst="rect">
              <a:avLst/>
            </a:prstGeom>
            <a:solidFill>
              <a:srgbClr val="A9846F">
                <a:alpha val="13725"/>
              </a:srgbClr>
            </a:solidFill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8" name="Group 2">
            <a:extLst>
              <a:ext uri="{FF2B5EF4-FFF2-40B4-BE49-F238E27FC236}">
                <a16:creationId xmlns:a16="http://schemas.microsoft.com/office/drawing/2014/main" id="{AE33936C-1B41-E63A-F456-69A17879EB35}"/>
              </a:ext>
            </a:extLst>
          </p:cNvPr>
          <p:cNvGrpSpPr/>
          <p:nvPr userDrawn="1"/>
        </p:nvGrpSpPr>
        <p:grpSpPr>
          <a:xfrm>
            <a:off x="0" y="5739618"/>
            <a:ext cx="12192000" cy="1188720"/>
            <a:chOff x="0" y="0"/>
            <a:chExt cx="24384000" cy="5030819"/>
          </a:xfrm>
          <a:solidFill>
            <a:schemeClr val="accent1">
              <a:lumMod val="50000"/>
            </a:schemeClr>
          </a:solidFill>
        </p:grpSpPr>
        <p:sp>
          <p:nvSpPr>
            <p:cNvPr id="9" name="AutoShape 3">
              <a:extLst>
                <a:ext uri="{FF2B5EF4-FFF2-40B4-BE49-F238E27FC236}">
                  <a16:creationId xmlns:a16="http://schemas.microsoft.com/office/drawing/2014/main" id="{D7394CF8-83FD-AC32-F27D-5114C7C66E49}"/>
                </a:ext>
              </a:extLst>
            </p:cNvPr>
            <p:cNvSpPr/>
            <p:nvPr/>
          </p:nvSpPr>
          <p:spPr>
            <a:xfrm>
              <a:off x="0" y="0"/>
              <a:ext cx="24384000" cy="5030819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10" name="Freeform 11">
            <a:extLst>
              <a:ext uri="{FF2B5EF4-FFF2-40B4-BE49-F238E27FC236}">
                <a16:creationId xmlns:a16="http://schemas.microsoft.com/office/drawing/2014/main" id="{CDFE3B20-4A60-BC55-80FA-9BF693759D68}"/>
              </a:ext>
            </a:extLst>
          </p:cNvPr>
          <p:cNvSpPr/>
          <p:nvPr userDrawn="1"/>
        </p:nvSpPr>
        <p:spPr>
          <a:xfrm>
            <a:off x="5672782" y="-423218"/>
            <a:ext cx="846436" cy="846436"/>
          </a:xfrm>
          <a:custGeom>
            <a:avLst/>
            <a:gdLst/>
            <a:ahLst/>
            <a:cxnLst/>
            <a:rect l="l" t="t" r="r" b="b"/>
            <a:pathLst>
              <a:path w="1621594" h="1621594">
                <a:moveTo>
                  <a:pt x="0" y="0"/>
                </a:moveTo>
                <a:lnTo>
                  <a:pt x="1621594" y="0"/>
                </a:lnTo>
                <a:lnTo>
                  <a:pt x="1621594" y="1621594"/>
                </a:lnTo>
                <a:lnTo>
                  <a:pt x="0" y="16215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2221787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2">
            <a:extLst>
              <a:ext uri="{FF2B5EF4-FFF2-40B4-BE49-F238E27FC236}">
                <a16:creationId xmlns:a16="http://schemas.microsoft.com/office/drawing/2014/main" id="{535A315B-011B-B841-4FBB-67716B0E6150}"/>
              </a:ext>
            </a:extLst>
          </p:cNvPr>
          <p:cNvSpPr/>
          <p:nvPr userDrawn="1"/>
        </p:nvSpPr>
        <p:spPr>
          <a:xfrm>
            <a:off x="-3453972" y="-850278"/>
            <a:ext cx="8558555" cy="8558555"/>
          </a:xfrm>
          <a:custGeom>
            <a:avLst/>
            <a:gdLst/>
            <a:ahLst/>
            <a:cxnLst/>
            <a:rect l="l" t="t" r="r" b="b"/>
            <a:pathLst>
              <a:path w="13960430" h="13960430">
                <a:moveTo>
                  <a:pt x="0" y="0"/>
                </a:moveTo>
                <a:lnTo>
                  <a:pt x="13960431" y="0"/>
                </a:lnTo>
                <a:lnTo>
                  <a:pt x="13960431" y="13960430"/>
                </a:lnTo>
                <a:lnTo>
                  <a:pt x="0" y="139604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6851FE-27BB-EA1B-9054-0A1F77D3C1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223149" y="2162739"/>
            <a:ext cx="5618871" cy="2926715"/>
          </a:xfrm>
        </p:spPr>
        <p:txBody>
          <a:bodyPr/>
          <a:lstStyle>
            <a:lvl1pPr>
              <a:defRPr b="1" i="0">
                <a:latin typeface="Gill Sans MT" panose="020B0502020104020203" pitchFamily="34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99AE97C-A4D8-5599-F8F4-4F17A9779DE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29263" y="352425"/>
            <a:ext cx="6302375" cy="6076950"/>
          </a:xfrm>
        </p:spPr>
        <p:txBody>
          <a:bodyPr>
            <a:normAutofit/>
          </a:bodyPr>
          <a:lstStyle>
            <a:lvl1pPr>
              <a:defRPr sz="3200">
                <a:latin typeface="Gill Sans MT" panose="020B0502020104020203" pitchFamily="34" charset="77"/>
              </a:defRPr>
            </a:lvl1pPr>
            <a:lvl2pPr>
              <a:defRPr sz="2800">
                <a:latin typeface="Gill Sans MT" panose="020B0502020104020203" pitchFamily="34" charset="77"/>
              </a:defRPr>
            </a:lvl2pPr>
            <a:lvl3pPr>
              <a:defRPr sz="2400">
                <a:latin typeface="Gill Sans MT" panose="020B0502020104020203" pitchFamily="34" charset="77"/>
              </a:defRPr>
            </a:lvl3pPr>
            <a:lvl4pPr>
              <a:defRPr sz="2000">
                <a:latin typeface="Gill Sans MT" panose="020B0502020104020203" pitchFamily="34" charset="77"/>
              </a:defRPr>
            </a:lvl4pPr>
            <a:lvl5pPr>
              <a:defRPr sz="2000">
                <a:latin typeface="Gill Sans MT" panose="020B0502020104020203" pitchFamily="34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422203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2">
            <a:extLst>
              <a:ext uri="{FF2B5EF4-FFF2-40B4-BE49-F238E27FC236}">
                <a16:creationId xmlns:a16="http://schemas.microsoft.com/office/drawing/2014/main" id="{6E896274-BB9F-BD97-6D6C-EBC584D12450}"/>
              </a:ext>
            </a:extLst>
          </p:cNvPr>
          <p:cNvSpPr/>
          <p:nvPr userDrawn="1"/>
        </p:nvSpPr>
        <p:spPr>
          <a:xfrm>
            <a:off x="4582511" y="1906093"/>
            <a:ext cx="879309" cy="879309"/>
          </a:xfrm>
          <a:custGeom>
            <a:avLst/>
            <a:gdLst/>
            <a:ahLst/>
            <a:cxnLst/>
            <a:rect l="l" t="t" r="r" b="b"/>
            <a:pathLst>
              <a:path w="1621594" h="1621594">
                <a:moveTo>
                  <a:pt x="0" y="0"/>
                </a:moveTo>
                <a:lnTo>
                  <a:pt x="1621594" y="0"/>
                </a:lnTo>
                <a:lnTo>
                  <a:pt x="1621594" y="1621594"/>
                </a:lnTo>
                <a:lnTo>
                  <a:pt x="0" y="16215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3">
            <a:extLst>
              <a:ext uri="{FF2B5EF4-FFF2-40B4-BE49-F238E27FC236}">
                <a16:creationId xmlns:a16="http://schemas.microsoft.com/office/drawing/2014/main" id="{869B31BE-B7B2-0778-9449-B7438136502B}"/>
              </a:ext>
            </a:extLst>
          </p:cNvPr>
          <p:cNvSpPr/>
          <p:nvPr userDrawn="1"/>
        </p:nvSpPr>
        <p:spPr>
          <a:xfrm>
            <a:off x="4582511" y="4390500"/>
            <a:ext cx="879309" cy="879309"/>
          </a:xfrm>
          <a:custGeom>
            <a:avLst/>
            <a:gdLst/>
            <a:ahLst/>
            <a:cxnLst/>
            <a:rect l="l" t="t" r="r" b="b"/>
            <a:pathLst>
              <a:path w="1621594" h="1621594">
                <a:moveTo>
                  <a:pt x="0" y="0"/>
                </a:moveTo>
                <a:lnTo>
                  <a:pt x="1621594" y="0"/>
                </a:lnTo>
                <a:lnTo>
                  <a:pt x="1621594" y="1621593"/>
                </a:lnTo>
                <a:lnTo>
                  <a:pt x="0" y="16215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9A288E6-176F-BABA-2FDA-430F32189B98}"/>
              </a:ext>
            </a:extLst>
          </p:cNvPr>
          <p:cNvGrpSpPr/>
          <p:nvPr userDrawn="1"/>
        </p:nvGrpSpPr>
        <p:grpSpPr>
          <a:xfrm>
            <a:off x="0" y="0"/>
            <a:ext cx="5022166" cy="6858000"/>
            <a:chOff x="0" y="0"/>
            <a:chExt cx="2478633" cy="2709333"/>
          </a:xfrm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769347F9-B76C-2B2A-6D73-865FF372C708}"/>
                </a:ext>
              </a:extLst>
            </p:cNvPr>
            <p:cNvSpPr/>
            <p:nvPr/>
          </p:nvSpPr>
          <p:spPr>
            <a:xfrm>
              <a:off x="0" y="0"/>
              <a:ext cx="2478633" cy="2709333"/>
            </a:xfrm>
            <a:custGeom>
              <a:avLst/>
              <a:gdLst/>
              <a:ahLst/>
              <a:cxnLst/>
              <a:rect l="l" t="t" r="r" b="b"/>
              <a:pathLst>
                <a:path w="2478633" h="2709333">
                  <a:moveTo>
                    <a:pt x="0" y="0"/>
                  </a:moveTo>
                  <a:lnTo>
                    <a:pt x="2478633" y="0"/>
                  </a:lnTo>
                  <a:lnTo>
                    <a:pt x="247863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D552AED-E6F7-DBDB-BEEA-388D9E69665B}"/>
                </a:ext>
              </a:extLst>
            </p:cNvPr>
            <p:cNvSpPr txBox="1"/>
            <p:nvPr/>
          </p:nvSpPr>
          <p:spPr>
            <a:xfrm>
              <a:off x="0" y="-38100"/>
              <a:ext cx="247863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4A428EF-3210-DB4B-AB6C-880547C588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199"/>
            <a:ext cx="3932237" cy="2328203"/>
          </a:xfrm>
        </p:spPr>
        <p:txBody>
          <a:bodyPr anchor="b">
            <a:normAutofit/>
          </a:bodyPr>
          <a:lstStyle>
            <a:lvl1pPr>
              <a:defRPr sz="3600" b="1">
                <a:latin typeface="Gill Sans MT" panose="020B0502020104020203" pitchFamily="34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E97830-ABEC-8B43-C72D-4C4DFBD840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latin typeface="Gill Sans MT" panose="020B0502020104020203" pitchFamily="34" charset="77"/>
              </a:defRPr>
            </a:lvl1pPr>
            <a:lvl2pPr>
              <a:defRPr sz="2800">
                <a:latin typeface="Gill Sans MT" panose="020B0502020104020203" pitchFamily="34" charset="77"/>
              </a:defRPr>
            </a:lvl2pPr>
            <a:lvl3pPr>
              <a:defRPr sz="2400">
                <a:latin typeface="Gill Sans MT" panose="020B0502020104020203" pitchFamily="34" charset="77"/>
              </a:defRPr>
            </a:lvl3pPr>
            <a:lvl4pPr>
              <a:defRPr sz="2000">
                <a:latin typeface="Gill Sans MT" panose="020B0502020104020203" pitchFamily="34" charset="77"/>
              </a:defRPr>
            </a:lvl4pPr>
            <a:lvl5pPr>
              <a:defRPr sz="2000">
                <a:latin typeface="Gill Sans MT" panose="020B0502020104020203" pitchFamily="34" charset="77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2EED15-05C0-5249-CED6-E4472745B7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912012"/>
            <a:ext cx="3932237" cy="2956976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Gill Sans MT" panose="020B0502020104020203" pitchFamily="34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0328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410BC-2A4E-4DC8-9DB8-02E205BBF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 b="1" i="0">
                <a:latin typeface="Gill Sans MT" panose="020B0502020104020203" pitchFamily="34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E789763-E27E-A0EE-397B-C0C8844C3F4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9788" y="2193925"/>
            <a:ext cx="3932237" cy="4038600"/>
          </a:xfrm>
        </p:spPr>
        <p:txBody>
          <a:bodyPr/>
          <a:lstStyle>
            <a:lvl1pPr>
              <a:defRPr>
                <a:latin typeface="Gill Sans MT" panose="020B0502020104020203" pitchFamily="34" charset="77"/>
              </a:defRPr>
            </a:lvl1pPr>
            <a:lvl2pPr>
              <a:defRPr>
                <a:latin typeface="Gill Sans MT" panose="020B0502020104020203" pitchFamily="34" charset="77"/>
              </a:defRPr>
            </a:lvl2pPr>
            <a:lvl3pPr>
              <a:defRPr>
                <a:latin typeface="Gill Sans MT" panose="020B0502020104020203" pitchFamily="34" charset="77"/>
              </a:defRPr>
            </a:lvl3pPr>
            <a:lvl4pPr>
              <a:defRPr>
                <a:latin typeface="Gill Sans MT" panose="020B0502020104020203" pitchFamily="34" charset="77"/>
              </a:defRPr>
            </a:lvl4pPr>
            <a:lvl5pPr>
              <a:defRPr>
                <a:latin typeface="Gill Sans MT" panose="020B0502020104020203" pitchFamily="34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4" name="Group 2">
            <a:extLst>
              <a:ext uri="{FF2B5EF4-FFF2-40B4-BE49-F238E27FC236}">
                <a16:creationId xmlns:a16="http://schemas.microsoft.com/office/drawing/2014/main" id="{4E91ACBB-AF92-B3EB-35DE-F92A5FC9C32B}"/>
              </a:ext>
            </a:extLst>
          </p:cNvPr>
          <p:cNvGrpSpPr/>
          <p:nvPr userDrawn="1"/>
        </p:nvGrpSpPr>
        <p:grpSpPr>
          <a:xfrm>
            <a:off x="4772025" y="-509886"/>
            <a:ext cx="7877771" cy="7877771"/>
            <a:chOff x="0" y="0"/>
            <a:chExt cx="13141858" cy="13141858"/>
          </a:xfrm>
        </p:grpSpPr>
        <p:sp>
          <p:nvSpPr>
            <p:cNvPr id="15" name="Freeform 3">
              <a:extLst>
                <a:ext uri="{FF2B5EF4-FFF2-40B4-BE49-F238E27FC236}">
                  <a16:creationId xmlns:a16="http://schemas.microsoft.com/office/drawing/2014/main" id="{9BCC494D-BBD8-4A6E-097B-6E21EFC86690}"/>
                </a:ext>
              </a:extLst>
            </p:cNvPr>
            <p:cNvSpPr/>
            <p:nvPr/>
          </p:nvSpPr>
          <p:spPr>
            <a:xfrm rot="-1200957">
              <a:off x="1444916" y="1444916"/>
              <a:ext cx="10252025" cy="10252025"/>
            </a:xfrm>
            <a:custGeom>
              <a:avLst/>
              <a:gdLst/>
              <a:ahLst/>
              <a:cxnLst/>
              <a:rect l="l" t="t" r="r" b="b"/>
              <a:pathLst>
                <a:path w="10252025" h="10252025">
                  <a:moveTo>
                    <a:pt x="0" y="0"/>
                  </a:moveTo>
                  <a:lnTo>
                    <a:pt x="10252025" y="0"/>
                  </a:lnTo>
                  <a:lnTo>
                    <a:pt x="10252025" y="10252025"/>
                  </a:lnTo>
                  <a:lnTo>
                    <a:pt x="0" y="102520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1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6" name="Freeform 4">
              <a:extLst>
                <a:ext uri="{FF2B5EF4-FFF2-40B4-BE49-F238E27FC236}">
                  <a16:creationId xmlns:a16="http://schemas.microsoft.com/office/drawing/2014/main" id="{C76A96AA-B38B-B3E0-9037-D51B0685AEC4}"/>
                </a:ext>
              </a:extLst>
            </p:cNvPr>
            <p:cNvSpPr/>
            <p:nvPr/>
          </p:nvSpPr>
          <p:spPr>
            <a:xfrm>
              <a:off x="1311122" y="1311122"/>
              <a:ext cx="10252025" cy="10252025"/>
            </a:xfrm>
            <a:custGeom>
              <a:avLst/>
              <a:gdLst/>
              <a:ahLst/>
              <a:cxnLst/>
              <a:rect l="l" t="t" r="r" b="b"/>
              <a:pathLst>
                <a:path w="10252025" h="10252025">
                  <a:moveTo>
                    <a:pt x="0" y="0"/>
                  </a:moveTo>
                  <a:lnTo>
                    <a:pt x="10252025" y="0"/>
                  </a:lnTo>
                  <a:lnTo>
                    <a:pt x="10252025" y="10252025"/>
                  </a:lnTo>
                  <a:lnTo>
                    <a:pt x="0" y="102520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EEF98BC8-5D27-98A6-AA64-E292728E74F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614616" y="1253298"/>
            <a:ext cx="4192588" cy="4191000"/>
          </a:xfrm>
        </p:spPr>
        <p:txBody>
          <a:bodyPr/>
          <a:lstStyle/>
          <a:p>
            <a:endParaRPr lang="en-US"/>
          </a:p>
        </p:txBody>
      </p:sp>
      <p:sp>
        <p:nvSpPr>
          <p:cNvPr id="19" name="Freeform 11">
            <a:extLst>
              <a:ext uri="{FF2B5EF4-FFF2-40B4-BE49-F238E27FC236}">
                <a16:creationId xmlns:a16="http://schemas.microsoft.com/office/drawing/2014/main" id="{EBF7F67B-1435-D631-7220-E6B98C128C8A}"/>
              </a:ext>
            </a:extLst>
          </p:cNvPr>
          <p:cNvSpPr/>
          <p:nvPr userDrawn="1"/>
        </p:nvSpPr>
        <p:spPr>
          <a:xfrm>
            <a:off x="-357888" y="6335400"/>
            <a:ext cx="846436" cy="846436"/>
          </a:xfrm>
          <a:custGeom>
            <a:avLst/>
            <a:gdLst/>
            <a:ahLst/>
            <a:cxnLst/>
            <a:rect l="l" t="t" r="r" b="b"/>
            <a:pathLst>
              <a:path w="1621594" h="1621594">
                <a:moveTo>
                  <a:pt x="0" y="0"/>
                </a:moveTo>
                <a:lnTo>
                  <a:pt x="1621594" y="0"/>
                </a:lnTo>
                <a:lnTo>
                  <a:pt x="1621594" y="1621594"/>
                </a:lnTo>
                <a:lnTo>
                  <a:pt x="0" y="162159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14071699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337B4-FB53-EA98-745B-324E01435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C0D3F7-ABC2-8C73-96EB-B87BB86717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070C0E-9B53-1C5D-1516-FCFA9DA44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A6BC9-2F17-4644-8BAF-C8380839D32A}" type="datetimeFigureOut">
              <a:rPr lang="en-US" smtClean="0"/>
              <a:t>9/11/25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471263-F331-F40B-B7FF-B14F8E32A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696A29-2D21-4948-15D6-2FD146A3D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50487-239F-9443-BCF2-594FF8C340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8496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2E876F-6920-8F54-4EBA-C93296F78B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0A0B17-96AB-031D-3FF0-094D35871D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253DFC-38B1-D398-AA0D-2F305C4F1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A6BC9-2F17-4644-8BAF-C8380839D32A}" type="datetimeFigureOut">
              <a:rPr lang="en-US" smtClean="0"/>
              <a:t>9/11/25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FDFDFE-CFB9-BE46-BCBE-794FDA41E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F1BF20-F219-0484-193D-4174FB51B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50487-239F-9443-BCF2-594FF8C340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198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2">
            <a:extLst>
              <a:ext uri="{FF2B5EF4-FFF2-40B4-BE49-F238E27FC236}">
                <a16:creationId xmlns:a16="http://schemas.microsoft.com/office/drawing/2014/main" id="{DAF45971-146F-4FCB-2DA8-B55376909150}"/>
              </a:ext>
            </a:extLst>
          </p:cNvPr>
          <p:cNvGrpSpPr/>
          <p:nvPr userDrawn="1"/>
        </p:nvGrpSpPr>
        <p:grpSpPr>
          <a:xfrm>
            <a:off x="0" y="0"/>
            <a:ext cx="6426631" cy="6858000"/>
            <a:chOff x="0" y="0"/>
            <a:chExt cx="1321562" cy="2709333"/>
          </a:xfrm>
          <a:solidFill>
            <a:schemeClr val="bg2"/>
          </a:solidFill>
        </p:grpSpPr>
        <p:sp>
          <p:nvSpPr>
            <p:cNvPr id="8" name="Freeform 3">
              <a:extLst>
                <a:ext uri="{FF2B5EF4-FFF2-40B4-BE49-F238E27FC236}">
                  <a16:creationId xmlns:a16="http://schemas.microsoft.com/office/drawing/2014/main" id="{C5320BAC-8342-0B2C-73E6-ECD90C900314}"/>
                </a:ext>
              </a:extLst>
            </p:cNvPr>
            <p:cNvSpPr/>
            <p:nvPr/>
          </p:nvSpPr>
          <p:spPr>
            <a:xfrm>
              <a:off x="0" y="0"/>
              <a:ext cx="1321562" cy="2709333"/>
            </a:xfrm>
            <a:custGeom>
              <a:avLst/>
              <a:gdLst/>
              <a:ahLst/>
              <a:cxnLst/>
              <a:rect l="l" t="t" r="r" b="b"/>
              <a:pathLst>
                <a:path w="1321562" h="2709333">
                  <a:moveTo>
                    <a:pt x="0" y="0"/>
                  </a:moveTo>
                  <a:lnTo>
                    <a:pt x="1321562" y="0"/>
                  </a:lnTo>
                  <a:lnTo>
                    <a:pt x="1321562" y="2709333"/>
                  </a:lnTo>
                  <a:lnTo>
                    <a:pt x="0" y="2709333"/>
                  </a:lnTo>
                  <a:close/>
                </a:path>
              </a:pathLst>
            </a:custGeom>
            <a:grpFill/>
          </p:spPr>
        </p:sp>
        <p:sp>
          <p:nvSpPr>
            <p:cNvPr id="9" name="TextBox 4">
              <a:extLst>
                <a:ext uri="{FF2B5EF4-FFF2-40B4-BE49-F238E27FC236}">
                  <a16:creationId xmlns:a16="http://schemas.microsoft.com/office/drawing/2014/main" id="{51BF87C4-4052-0BB4-9860-B4D57157B4E8}"/>
                </a:ext>
              </a:extLst>
            </p:cNvPr>
            <p:cNvSpPr txBox="1"/>
            <p:nvPr/>
          </p:nvSpPr>
          <p:spPr>
            <a:xfrm>
              <a:off x="0" y="-47625"/>
              <a:ext cx="1321562" cy="2756958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9"/>
                </a:lnSpc>
              </a:pPr>
              <a:endParaRPr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DEC704E-0FAF-0265-4B1D-424377B87B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0630" y="388140"/>
            <a:ext cx="5915933" cy="1325563"/>
          </a:xfrm>
        </p:spPr>
        <p:txBody>
          <a:bodyPr>
            <a:noAutofit/>
          </a:bodyPr>
          <a:lstStyle>
            <a:lvl1pPr>
              <a:defRPr sz="4000" b="1" i="0">
                <a:solidFill>
                  <a:schemeClr val="accent1"/>
                </a:solidFill>
                <a:latin typeface="Gill Sans MT" panose="020B0502020104020203" pitchFamily="34" charset="77"/>
                <a:cs typeface="Aharoni" panose="02010803020104030203" pitchFamily="2" charset="-79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E41CE5-EA1B-DFAB-544F-9AD0A9B343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1470" y="388140"/>
            <a:ext cx="5089899" cy="6198640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1pPr>
            <a:lvl2pPr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2pPr>
            <a:lvl3pPr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3pPr>
            <a:lvl4pPr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4pPr>
            <a:lvl5pPr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C83F293-4741-2FD1-C31F-A4B661637F1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44017" y="2124632"/>
            <a:ext cx="5196076" cy="3723697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4" name="AutoShape 7">
            <a:extLst>
              <a:ext uri="{FF2B5EF4-FFF2-40B4-BE49-F238E27FC236}">
                <a16:creationId xmlns:a16="http://schemas.microsoft.com/office/drawing/2014/main" id="{530BA52E-938B-4ECD-DA47-F3765811E4C0}"/>
              </a:ext>
            </a:extLst>
          </p:cNvPr>
          <p:cNvSpPr/>
          <p:nvPr userDrawn="1"/>
        </p:nvSpPr>
        <p:spPr>
          <a:xfrm flipV="1">
            <a:off x="330631" y="1913909"/>
            <a:ext cx="3400467" cy="0"/>
          </a:xfrm>
          <a:prstGeom prst="line">
            <a:avLst/>
          </a:prstGeom>
          <a:ln w="76200" cap="flat">
            <a:solidFill>
              <a:schemeClr val="accent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11">
            <a:extLst>
              <a:ext uri="{FF2B5EF4-FFF2-40B4-BE49-F238E27FC236}">
                <a16:creationId xmlns:a16="http://schemas.microsoft.com/office/drawing/2014/main" id="{E3843229-7005-2BC5-91EE-259A831BB6F9}"/>
              </a:ext>
            </a:extLst>
          </p:cNvPr>
          <p:cNvSpPr/>
          <p:nvPr userDrawn="1"/>
        </p:nvSpPr>
        <p:spPr>
          <a:xfrm>
            <a:off x="6003413" y="6434782"/>
            <a:ext cx="846436" cy="846436"/>
          </a:xfrm>
          <a:custGeom>
            <a:avLst/>
            <a:gdLst/>
            <a:ahLst/>
            <a:cxnLst/>
            <a:rect l="l" t="t" r="r" b="b"/>
            <a:pathLst>
              <a:path w="1621594" h="1621594">
                <a:moveTo>
                  <a:pt x="0" y="0"/>
                </a:moveTo>
                <a:lnTo>
                  <a:pt x="1621594" y="0"/>
                </a:lnTo>
                <a:lnTo>
                  <a:pt x="1621594" y="1621594"/>
                </a:lnTo>
                <a:lnTo>
                  <a:pt x="0" y="16215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21462723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C704E-0FAF-0265-4B1D-424377B87B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6432933" cy="1325563"/>
          </a:xfrm>
        </p:spPr>
        <p:txBody>
          <a:bodyPr/>
          <a:lstStyle>
            <a:lvl1pPr>
              <a:defRPr b="1" i="0">
                <a:solidFill>
                  <a:schemeClr val="tx1"/>
                </a:solidFill>
                <a:latin typeface="Gill Sans MT" panose="020B0502020104020203" pitchFamily="34" charset="77"/>
                <a:cs typeface="Aharoni" panose="02010803020104030203" pitchFamily="2" charset="-79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E41CE5-EA1B-DFAB-544F-9AD0A9B343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96939"/>
            <a:ext cx="7315200" cy="3280023"/>
          </a:xfrm>
        </p:spPr>
        <p:txBody>
          <a:bodyPr/>
          <a:lstStyle>
            <a:lvl1pPr>
              <a:defRPr>
                <a:latin typeface="Gill Sans MT" panose="020B0502020104020203" pitchFamily="34" charset="77"/>
              </a:defRPr>
            </a:lvl1pPr>
            <a:lvl2pPr>
              <a:defRPr>
                <a:latin typeface="Gill Sans MT" panose="020B0502020104020203" pitchFamily="34" charset="77"/>
              </a:defRPr>
            </a:lvl2pPr>
            <a:lvl3pPr>
              <a:defRPr>
                <a:latin typeface="Gill Sans MT" panose="020B0502020104020203" pitchFamily="34" charset="77"/>
              </a:defRPr>
            </a:lvl3pPr>
            <a:lvl4pPr>
              <a:defRPr>
                <a:latin typeface="Gill Sans MT" panose="020B0502020104020203" pitchFamily="34" charset="77"/>
              </a:defRPr>
            </a:lvl4pPr>
            <a:lvl5pPr>
              <a:defRPr>
                <a:latin typeface="Gill Sans MT" panose="020B0502020104020203" pitchFamily="34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7" name="Group 2">
            <a:extLst>
              <a:ext uri="{FF2B5EF4-FFF2-40B4-BE49-F238E27FC236}">
                <a16:creationId xmlns:a16="http://schemas.microsoft.com/office/drawing/2014/main" id="{EB4D66C9-F974-7255-DE5F-D48941E91D59}"/>
              </a:ext>
            </a:extLst>
          </p:cNvPr>
          <p:cNvGrpSpPr/>
          <p:nvPr userDrawn="1"/>
        </p:nvGrpSpPr>
        <p:grpSpPr>
          <a:xfrm>
            <a:off x="9216325" y="0"/>
            <a:ext cx="2975675" cy="6858000"/>
            <a:chOff x="0" y="0"/>
            <a:chExt cx="1321562" cy="2709333"/>
          </a:xfrm>
          <a:solidFill>
            <a:schemeClr val="bg2"/>
          </a:solidFill>
        </p:grpSpPr>
        <p:sp>
          <p:nvSpPr>
            <p:cNvPr id="8" name="Freeform 3">
              <a:extLst>
                <a:ext uri="{FF2B5EF4-FFF2-40B4-BE49-F238E27FC236}">
                  <a16:creationId xmlns:a16="http://schemas.microsoft.com/office/drawing/2014/main" id="{ADEF0BB9-6296-6AF7-51C0-407C4B5F697F}"/>
                </a:ext>
              </a:extLst>
            </p:cNvPr>
            <p:cNvSpPr/>
            <p:nvPr/>
          </p:nvSpPr>
          <p:spPr>
            <a:xfrm>
              <a:off x="0" y="0"/>
              <a:ext cx="1321562" cy="2709333"/>
            </a:xfrm>
            <a:custGeom>
              <a:avLst/>
              <a:gdLst/>
              <a:ahLst/>
              <a:cxnLst/>
              <a:rect l="l" t="t" r="r" b="b"/>
              <a:pathLst>
                <a:path w="1321562" h="2709333">
                  <a:moveTo>
                    <a:pt x="0" y="0"/>
                  </a:moveTo>
                  <a:lnTo>
                    <a:pt x="1321562" y="0"/>
                  </a:lnTo>
                  <a:lnTo>
                    <a:pt x="1321562" y="2709333"/>
                  </a:lnTo>
                  <a:lnTo>
                    <a:pt x="0" y="2709333"/>
                  </a:lnTo>
                  <a:close/>
                </a:path>
              </a:pathLst>
            </a:custGeom>
            <a:grpFill/>
          </p:spPr>
        </p:sp>
        <p:sp>
          <p:nvSpPr>
            <p:cNvPr id="9" name="TextBox 4">
              <a:extLst>
                <a:ext uri="{FF2B5EF4-FFF2-40B4-BE49-F238E27FC236}">
                  <a16:creationId xmlns:a16="http://schemas.microsoft.com/office/drawing/2014/main" id="{D45D2709-9245-5FB8-7922-6EC714C0EBF0}"/>
                </a:ext>
              </a:extLst>
            </p:cNvPr>
            <p:cNvSpPr txBox="1"/>
            <p:nvPr/>
          </p:nvSpPr>
          <p:spPr>
            <a:xfrm>
              <a:off x="0" y="-47625"/>
              <a:ext cx="1321562" cy="2756958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9"/>
                </a:lnSpc>
              </a:pPr>
              <a:endParaRPr/>
            </a:p>
          </p:txBody>
        </p:sp>
      </p:grpSp>
      <p:sp>
        <p:nvSpPr>
          <p:cNvPr id="25" name="Picture Placeholder 4">
            <a:extLst>
              <a:ext uri="{FF2B5EF4-FFF2-40B4-BE49-F238E27FC236}">
                <a16:creationId xmlns:a16="http://schemas.microsoft.com/office/drawing/2014/main" id="{EF618F19-F498-53C4-B0BE-F6F85DB2558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438860" y="1115879"/>
            <a:ext cx="3101559" cy="506108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5DB61C1A-4664-2515-0BDB-8AAAEC13BC4A}"/>
              </a:ext>
            </a:extLst>
          </p:cNvPr>
          <p:cNvSpPr/>
          <p:nvPr userDrawn="1"/>
        </p:nvSpPr>
        <p:spPr>
          <a:xfrm>
            <a:off x="11540419" y="6319210"/>
            <a:ext cx="879309" cy="879309"/>
          </a:xfrm>
          <a:custGeom>
            <a:avLst/>
            <a:gdLst/>
            <a:ahLst/>
            <a:cxnLst/>
            <a:rect l="l" t="t" r="r" b="b"/>
            <a:pathLst>
              <a:path w="1621594" h="1621594">
                <a:moveTo>
                  <a:pt x="0" y="0"/>
                </a:moveTo>
                <a:lnTo>
                  <a:pt x="1621594" y="0"/>
                </a:lnTo>
                <a:lnTo>
                  <a:pt x="1621594" y="1621593"/>
                </a:lnTo>
                <a:lnTo>
                  <a:pt x="0" y="16215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3517696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>
            <a:extLst>
              <a:ext uri="{FF2B5EF4-FFF2-40B4-BE49-F238E27FC236}">
                <a16:creationId xmlns:a16="http://schemas.microsoft.com/office/drawing/2014/main" id="{3C118350-FF52-CD9C-1313-186123ED8523}"/>
              </a:ext>
            </a:extLst>
          </p:cNvPr>
          <p:cNvSpPr/>
          <p:nvPr userDrawn="1"/>
        </p:nvSpPr>
        <p:spPr>
          <a:xfrm rot="673413">
            <a:off x="-656383" y="2526137"/>
            <a:ext cx="5355205" cy="5152481"/>
          </a:xfrm>
          <a:custGeom>
            <a:avLst/>
            <a:gdLst/>
            <a:ahLst/>
            <a:cxnLst/>
            <a:rect l="l" t="t" r="r" b="b"/>
            <a:pathLst>
              <a:path w="13265113" h="13265113">
                <a:moveTo>
                  <a:pt x="0" y="0"/>
                </a:moveTo>
                <a:lnTo>
                  <a:pt x="13265113" y="0"/>
                </a:lnTo>
                <a:lnTo>
                  <a:pt x="13265113" y="13265112"/>
                </a:lnTo>
                <a:lnTo>
                  <a:pt x="0" y="132651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3">
            <a:extLst>
              <a:ext uri="{FF2B5EF4-FFF2-40B4-BE49-F238E27FC236}">
                <a16:creationId xmlns:a16="http://schemas.microsoft.com/office/drawing/2014/main" id="{13F83178-2625-2AFC-0849-3FE1D1FDD959}"/>
              </a:ext>
            </a:extLst>
          </p:cNvPr>
          <p:cNvGrpSpPr/>
          <p:nvPr userDrawn="1"/>
        </p:nvGrpSpPr>
        <p:grpSpPr>
          <a:xfrm>
            <a:off x="-42840" y="2611746"/>
            <a:ext cx="4657029" cy="4335694"/>
            <a:chOff x="0" y="0"/>
            <a:chExt cx="6350000" cy="5911850"/>
          </a:xfrm>
          <a:solidFill>
            <a:schemeClr val="accent3">
              <a:lumMod val="20000"/>
              <a:lumOff val="80000"/>
            </a:schemeClr>
          </a:solidFill>
        </p:grpSpPr>
        <p:sp>
          <p:nvSpPr>
            <p:cNvPr id="6" name="Freeform 4">
              <a:extLst>
                <a:ext uri="{FF2B5EF4-FFF2-40B4-BE49-F238E27FC236}">
                  <a16:creationId xmlns:a16="http://schemas.microsoft.com/office/drawing/2014/main" id="{C7FC2B2B-0CB4-9049-24B7-13DF030760EC}"/>
                </a:ext>
              </a:extLst>
            </p:cNvPr>
            <p:cNvSpPr/>
            <p:nvPr/>
          </p:nvSpPr>
          <p:spPr>
            <a:xfrm>
              <a:off x="-68580" y="0"/>
              <a:ext cx="6417310" cy="5911850"/>
            </a:xfrm>
            <a:custGeom>
              <a:avLst/>
              <a:gdLst/>
              <a:ahLst/>
              <a:cxnLst/>
              <a:rect l="l" t="t" r="r" b="b"/>
              <a:pathLst>
                <a:path w="6417310" h="5911850">
                  <a:moveTo>
                    <a:pt x="1215390" y="402590"/>
                  </a:moveTo>
                  <a:lnTo>
                    <a:pt x="177800" y="2192020"/>
                  </a:lnTo>
                  <a:cubicBezTo>
                    <a:pt x="0" y="2498090"/>
                    <a:pt x="43180" y="2884170"/>
                    <a:pt x="283210" y="3144520"/>
                  </a:cubicBezTo>
                  <a:lnTo>
                    <a:pt x="2594610" y="5651500"/>
                  </a:lnTo>
                  <a:cubicBezTo>
                    <a:pt x="2747010" y="5817870"/>
                    <a:pt x="2962910" y="5911850"/>
                    <a:pt x="3187700" y="5911850"/>
                  </a:cubicBezTo>
                  <a:lnTo>
                    <a:pt x="5609590" y="5911850"/>
                  </a:lnTo>
                  <a:cubicBezTo>
                    <a:pt x="6055360" y="5911850"/>
                    <a:pt x="6417310" y="5549900"/>
                    <a:pt x="6417310" y="5104130"/>
                  </a:cubicBezTo>
                  <a:lnTo>
                    <a:pt x="6417310" y="1891030"/>
                  </a:lnTo>
                  <a:cubicBezTo>
                    <a:pt x="6417310" y="1724660"/>
                    <a:pt x="6366510" y="1562100"/>
                    <a:pt x="6269990" y="1426210"/>
                  </a:cubicBezTo>
                  <a:lnTo>
                    <a:pt x="5507990" y="342900"/>
                  </a:lnTo>
                  <a:cubicBezTo>
                    <a:pt x="5356860" y="128270"/>
                    <a:pt x="5110480" y="0"/>
                    <a:pt x="4847590" y="0"/>
                  </a:cubicBezTo>
                  <a:lnTo>
                    <a:pt x="1913890" y="0"/>
                  </a:lnTo>
                  <a:cubicBezTo>
                    <a:pt x="1625600" y="0"/>
                    <a:pt x="1358900" y="153670"/>
                    <a:pt x="1215390" y="402590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10" name="Group 2">
            <a:extLst>
              <a:ext uri="{FF2B5EF4-FFF2-40B4-BE49-F238E27FC236}">
                <a16:creationId xmlns:a16="http://schemas.microsoft.com/office/drawing/2014/main" id="{B0609229-C0D3-C3DA-E2AC-DFCF9FBF40C7}"/>
              </a:ext>
            </a:extLst>
          </p:cNvPr>
          <p:cNvGrpSpPr/>
          <p:nvPr userDrawn="1"/>
        </p:nvGrpSpPr>
        <p:grpSpPr>
          <a:xfrm>
            <a:off x="9216325" y="-120551"/>
            <a:ext cx="2975675" cy="6978551"/>
            <a:chOff x="0" y="-47625"/>
            <a:chExt cx="1321562" cy="2756958"/>
          </a:xfrm>
          <a:solidFill>
            <a:schemeClr val="bg2"/>
          </a:solidFill>
        </p:grpSpPr>
        <p:sp>
          <p:nvSpPr>
            <p:cNvPr id="12" name="TextBox 4">
              <a:extLst>
                <a:ext uri="{FF2B5EF4-FFF2-40B4-BE49-F238E27FC236}">
                  <a16:creationId xmlns:a16="http://schemas.microsoft.com/office/drawing/2014/main" id="{54C4EB8C-12AA-692D-142E-47B45F22A8D6}"/>
                </a:ext>
              </a:extLst>
            </p:cNvPr>
            <p:cNvSpPr txBox="1"/>
            <p:nvPr/>
          </p:nvSpPr>
          <p:spPr>
            <a:xfrm>
              <a:off x="0" y="-47625"/>
              <a:ext cx="1321562" cy="2756958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9"/>
                </a:lnSpc>
              </a:pPr>
              <a:endParaRPr>
                <a:solidFill>
                  <a:schemeClr val="bg1">
                    <a:lumMod val="85000"/>
                  </a:schemeClr>
                </a:solidFill>
              </a:endParaRPr>
            </a:p>
          </p:txBody>
        </p:sp>
        <p:sp>
          <p:nvSpPr>
            <p:cNvPr id="11" name="Freeform 3">
              <a:extLst>
                <a:ext uri="{FF2B5EF4-FFF2-40B4-BE49-F238E27FC236}">
                  <a16:creationId xmlns:a16="http://schemas.microsoft.com/office/drawing/2014/main" id="{E9BF052C-EA96-7F23-B46B-4C690B622C8F}"/>
                </a:ext>
              </a:extLst>
            </p:cNvPr>
            <p:cNvSpPr/>
            <p:nvPr/>
          </p:nvSpPr>
          <p:spPr>
            <a:xfrm>
              <a:off x="0" y="0"/>
              <a:ext cx="1321562" cy="2709333"/>
            </a:xfrm>
            <a:custGeom>
              <a:avLst/>
              <a:gdLst/>
              <a:ahLst/>
              <a:cxnLst/>
              <a:rect l="l" t="t" r="r" b="b"/>
              <a:pathLst>
                <a:path w="1321562" h="2709333">
                  <a:moveTo>
                    <a:pt x="0" y="0"/>
                  </a:moveTo>
                  <a:lnTo>
                    <a:pt x="1321562" y="0"/>
                  </a:lnTo>
                  <a:lnTo>
                    <a:pt x="1321562" y="2709333"/>
                  </a:lnTo>
                  <a:lnTo>
                    <a:pt x="0" y="2709333"/>
                  </a:lnTo>
                  <a:close/>
                </a:path>
              </a:pathLst>
            </a:custGeom>
            <a:grpFill/>
          </p:spPr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DEC704E-0FAF-0265-4B1D-424377B87B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5423115" cy="1325563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  <a:latin typeface="Gill Sans MT" panose="020B0502020104020203" pitchFamily="34" charset="77"/>
                <a:cs typeface="Aharoni" panose="02010803020104030203" pitchFamily="2" charset="-79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E41CE5-EA1B-DFAB-544F-9AD0A9B343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4370521"/>
            <a:ext cx="10878519" cy="1806441"/>
          </a:xfrm>
        </p:spPr>
        <p:txBody>
          <a:bodyPr/>
          <a:lstStyle>
            <a:lvl1pPr>
              <a:defRPr>
                <a:latin typeface="Gill Sans MT" panose="020B0502020104020203" pitchFamily="34" charset="77"/>
              </a:defRPr>
            </a:lvl1pPr>
            <a:lvl2pPr>
              <a:defRPr>
                <a:latin typeface="Gill Sans MT" panose="020B0502020104020203" pitchFamily="34" charset="77"/>
              </a:defRPr>
            </a:lvl2pPr>
            <a:lvl3pPr>
              <a:defRPr>
                <a:latin typeface="Gill Sans MT" panose="020B0502020104020203" pitchFamily="34" charset="77"/>
              </a:defRPr>
            </a:lvl3pPr>
            <a:lvl4pPr>
              <a:defRPr>
                <a:latin typeface="Gill Sans MT" panose="020B0502020104020203" pitchFamily="34" charset="77"/>
              </a:defRPr>
            </a:lvl4pPr>
            <a:lvl5pPr>
              <a:defRPr>
                <a:latin typeface="Gill Sans MT" panose="020B0502020104020203" pitchFamily="34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7" name="Group 2">
            <a:extLst>
              <a:ext uri="{FF2B5EF4-FFF2-40B4-BE49-F238E27FC236}">
                <a16:creationId xmlns:a16="http://schemas.microsoft.com/office/drawing/2014/main" id="{0F053009-CEA6-1D55-524E-8C8667E2A1FB}"/>
              </a:ext>
            </a:extLst>
          </p:cNvPr>
          <p:cNvGrpSpPr/>
          <p:nvPr userDrawn="1"/>
        </p:nvGrpSpPr>
        <p:grpSpPr>
          <a:xfrm>
            <a:off x="7578671" y="199556"/>
            <a:ext cx="4613329" cy="1030636"/>
            <a:chOff x="0" y="0"/>
            <a:chExt cx="4816593" cy="1192858"/>
          </a:xfrm>
          <a:solidFill>
            <a:schemeClr val="accent1"/>
          </a:solidFill>
        </p:grpSpPr>
        <p:sp>
          <p:nvSpPr>
            <p:cNvPr id="8" name="Freeform 3">
              <a:extLst>
                <a:ext uri="{FF2B5EF4-FFF2-40B4-BE49-F238E27FC236}">
                  <a16:creationId xmlns:a16="http://schemas.microsoft.com/office/drawing/2014/main" id="{9EE05AE0-B52E-9528-634C-F049ACAABE48}"/>
                </a:ext>
              </a:extLst>
            </p:cNvPr>
            <p:cNvSpPr/>
            <p:nvPr/>
          </p:nvSpPr>
          <p:spPr>
            <a:xfrm>
              <a:off x="0" y="0"/>
              <a:ext cx="4816592" cy="1192858"/>
            </a:xfrm>
            <a:custGeom>
              <a:avLst/>
              <a:gdLst/>
              <a:ahLst/>
              <a:cxnLst/>
              <a:rect l="l" t="t" r="r" b="b"/>
              <a:pathLst>
                <a:path w="4816592" h="1192858">
                  <a:moveTo>
                    <a:pt x="0" y="0"/>
                  </a:moveTo>
                  <a:lnTo>
                    <a:pt x="4816592" y="0"/>
                  </a:lnTo>
                  <a:lnTo>
                    <a:pt x="4816592" y="1192858"/>
                  </a:lnTo>
                  <a:lnTo>
                    <a:pt x="0" y="1192858"/>
                  </a:lnTo>
                  <a:close/>
                </a:path>
              </a:pathLst>
            </a:custGeom>
            <a:grpFill/>
          </p:spPr>
        </p:sp>
        <p:sp>
          <p:nvSpPr>
            <p:cNvPr id="9" name="TextBox 4">
              <a:extLst>
                <a:ext uri="{FF2B5EF4-FFF2-40B4-BE49-F238E27FC236}">
                  <a16:creationId xmlns:a16="http://schemas.microsoft.com/office/drawing/2014/main" id="{7058D0C8-ECDA-B4E8-FD05-78E44D9D6B7D}"/>
                </a:ext>
              </a:extLst>
            </p:cNvPr>
            <p:cNvSpPr txBox="1"/>
            <p:nvPr/>
          </p:nvSpPr>
          <p:spPr>
            <a:xfrm>
              <a:off x="0" y="-47625"/>
              <a:ext cx="4816593" cy="124048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9"/>
                </a:lnSpc>
              </a:pPr>
              <a:endParaRPr/>
            </a:p>
          </p:txBody>
        </p:sp>
      </p:grp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956961B4-ECCA-EE7C-0092-3F9081B8EB6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8199" y="2180915"/>
            <a:ext cx="2975675" cy="1782763"/>
          </a:xfrm>
        </p:spPr>
        <p:txBody>
          <a:bodyPr/>
          <a:lstStyle/>
          <a:p>
            <a:endParaRPr lang="en-US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A317DD58-7F3E-4D37-4F3C-A95B60CED5B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600411" y="2202103"/>
            <a:ext cx="2975675" cy="1782763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01765E-4633-913B-D20F-B44FF8056CC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97497" y="2139223"/>
            <a:ext cx="2975675" cy="1782763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5156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>
            <a:extLst>
              <a:ext uri="{FF2B5EF4-FFF2-40B4-BE49-F238E27FC236}">
                <a16:creationId xmlns:a16="http://schemas.microsoft.com/office/drawing/2014/main" id="{FE770EA0-781E-2927-7A6B-195D5F19E9C5}"/>
              </a:ext>
            </a:extLst>
          </p:cNvPr>
          <p:cNvSpPr/>
          <p:nvPr userDrawn="1"/>
        </p:nvSpPr>
        <p:spPr>
          <a:xfrm>
            <a:off x="5378449" y="3491169"/>
            <a:ext cx="879309" cy="879309"/>
          </a:xfrm>
          <a:custGeom>
            <a:avLst/>
            <a:gdLst/>
            <a:ahLst/>
            <a:cxnLst/>
            <a:rect l="l" t="t" r="r" b="b"/>
            <a:pathLst>
              <a:path w="1621594" h="1621594">
                <a:moveTo>
                  <a:pt x="0" y="0"/>
                </a:moveTo>
                <a:lnTo>
                  <a:pt x="1621594" y="0"/>
                </a:lnTo>
                <a:lnTo>
                  <a:pt x="1621594" y="1621593"/>
                </a:lnTo>
                <a:lnTo>
                  <a:pt x="0" y="16215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2">
            <a:extLst>
              <a:ext uri="{FF2B5EF4-FFF2-40B4-BE49-F238E27FC236}">
                <a16:creationId xmlns:a16="http://schemas.microsoft.com/office/drawing/2014/main" id="{DAF45971-146F-4FCB-2DA8-B55376909150}"/>
              </a:ext>
            </a:extLst>
          </p:cNvPr>
          <p:cNvGrpSpPr/>
          <p:nvPr userDrawn="1"/>
        </p:nvGrpSpPr>
        <p:grpSpPr>
          <a:xfrm>
            <a:off x="5765369" y="0"/>
            <a:ext cx="6426631" cy="6858000"/>
            <a:chOff x="0" y="0"/>
            <a:chExt cx="1321562" cy="2709333"/>
          </a:xfrm>
          <a:solidFill>
            <a:schemeClr val="bg2"/>
          </a:solidFill>
        </p:grpSpPr>
        <p:sp>
          <p:nvSpPr>
            <p:cNvPr id="8" name="Freeform 3">
              <a:extLst>
                <a:ext uri="{FF2B5EF4-FFF2-40B4-BE49-F238E27FC236}">
                  <a16:creationId xmlns:a16="http://schemas.microsoft.com/office/drawing/2014/main" id="{C5320BAC-8342-0B2C-73E6-ECD90C900314}"/>
                </a:ext>
              </a:extLst>
            </p:cNvPr>
            <p:cNvSpPr/>
            <p:nvPr/>
          </p:nvSpPr>
          <p:spPr>
            <a:xfrm>
              <a:off x="0" y="0"/>
              <a:ext cx="1321562" cy="2709333"/>
            </a:xfrm>
            <a:custGeom>
              <a:avLst/>
              <a:gdLst/>
              <a:ahLst/>
              <a:cxnLst/>
              <a:rect l="l" t="t" r="r" b="b"/>
              <a:pathLst>
                <a:path w="1321562" h="2709333">
                  <a:moveTo>
                    <a:pt x="0" y="0"/>
                  </a:moveTo>
                  <a:lnTo>
                    <a:pt x="1321562" y="0"/>
                  </a:lnTo>
                  <a:lnTo>
                    <a:pt x="1321562" y="2709333"/>
                  </a:lnTo>
                  <a:lnTo>
                    <a:pt x="0" y="2709333"/>
                  </a:lnTo>
                  <a:close/>
                </a:path>
              </a:pathLst>
            </a:custGeom>
            <a:grpFill/>
          </p:spPr>
        </p:sp>
        <p:sp>
          <p:nvSpPr>
            <p:cNvPr id="9" name="TextBox 4">
              <a:extLst>
                <a:ext uri="{FF2B5EF4-FFF2-40B4-BE49-F238E27FC236}">
                  <a16:creationId xmlns:a16="http://schemas.microsoft.com/office/drawing/2014/main" id="{51BF87C4-4052-0BB4-9860-B4D57157B4E8}"/>
                </a:ext>
              </a:extLst>
            </p:cNvPr>
            <p:cNvSpPr txBox="1"/>
            <p:nvPr/>
          </p:nvSpPr>
          <p:spPr>
            <a:xfrm>
              <a:off x="0" y="-47625"/>
              <a:ext cx="1321562" cy="2756958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9"/>
                </a:lnSpc>
              </a:pPr>
              <a:endParaRPr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DEC704E-0FAF-0265-4B1D-424377B87B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199" y="365125"/>
            <a:ext cx="4601705" cy="1325563"/>
          </a:xfrm>
        </p:spPr>
        <p:txBody>
          <a:bodyPr>
            <a:noAutofit/>
          </a:bodyPr>
          <a:lstStyle>
            <a:lvl1pPr>
              <a:defRPr sz="3600">
                <a:solidFill>
                  <a:schemeClr val="accent1"/>
                </a:solidFill>
                <a:latin typeface="Aharoni" panose="02010803020104030203" pitchFamily="2" charset="-79"/>
                <a:cs typeface="Aharoni" panose="02010803020104030203" pitchFamily="2" charset="-79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E41CE5-EA1B-DFAB-544F-9AD0A9B343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523081"/>
            <a:ext cx="5448946" cy="5811838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1pPr>
            <a:lvl2pPr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2pPr>
            <a:lvl3pPr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3pPr>
            <a:lvl4pPr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4pPr>
            <a:lvl5pPr>
              <a:defRPr>
                <a:solidFill>
                  <a:schemeClr val="tx1"/>
                </a:solidFill>
                <a:latin typeface="Gill Sans MT" panose="020B0502020104020203" pitchFamily="34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25562F7F-66DF-3DD7-3349-48BF61475B2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8199" y="2180915"/>
            <a:ext cx="4540250" cy="1782763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1634272D-A4A0-D639-9B87-E53F0BB24F8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38199" y="4453905"/>
            <a:ext cx="4540250" cy="1782763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4075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C704E-0FAF-0265-4B1D-424377B87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304099" cy="1325563"/>
          </a:xfrm>
        </p:spPr>
        <p:txBody>
          <a:bodyPr/>
          <a:lstStyle>
            <a:lvl1pPr>
              <a:defRPr b="1" i="0">
                <a:solidFill>
                  <a:schemeClr val="accent1"/>
                </a:solidFill>
                <a:latin typeface="Gill Sans MT" panose="020B0502020104020203" pitchFamily="34" charset="77"/>
                <a:cs typeface="Aharoni" panose="02010803020104030203" pitchFamily="2" charset="-79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E41CE5-EA1B-DFAB-544F-9AD0A9B343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96939"/>
            <a:ext cx="7315200" cy="3280023"/>
          </a:xfrm>
        </p:spPr>
        <p:txBody>
          <a:bodyPr/>
          <a:lstStyle>
            <a:lvl1pPr>
              <a:defRPr>
                <a:latin typeface="Gill Sans MT" panose="020B0502020104020203" pitchFamily="34" charset="77"/>
              </a:defRPr>
            </a:lvl1pPr>
            <a:lvl2pPr>
              <a:defRPr>
                <a:latin typeface="Gill Sans MT" panose="020B0502020104020203" pitchFamily="34" charset="77"/>
              </a:defRPr>
            </a:lvl2pPr>
            <a:lvl3pPr>
              <a:defRPr>
                <a:latin typeface="Gill Sans MT" panose="020B0502020104020203" pitchFamily="34" charset="77"/>
              </a:defRPr>
            </a:lvl3pPr>
            <a:lvl4pPr>
              <a:defRPr>
                <a:latin typeface="Gill Sans MT" panose="020B0502020104020203" pitchFamily="34" charset="77"/>
              </a:defRPr>
            </a:lvl4pPr>
            <a:lvl5pPr>
              <a:defRPr>
                <a:latin typeface="Gill Sans MT" panose="020B0502020104020203" pitchFamily="34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7" name="Group 2">
            <a:extLst>
              <a:ext uri="{FF2B5EF4-FFF2-40B4-BE49-F238E27FC236}">
                <a16:creationId xmlns:a16="http://schemas.microsoft.com/office/drawing/2014/main" id="{EB4D66C9-F974-7255-DE5F-D48941E91D59}"/>
              </a:ext>
            </a:extLst>
          </p:cNvPr>
          <p:cNvGrpSpPr/>
          <p:nvPr userDrawn="1"/>
        </p:nvGrpSpPr>
        <p:grpSpPr>
          <a:xfrm>
            <a:off x="9216325" y="191911"/>
            <a:ext cx="2975675" cy="6858000"/>
            <a:chOff x="0" y="0"/>
            <a:chExt cx="1321562" cy="2709333"/>
          </a:xfrm>
          <a:solidFill>
            <a:schemeClr val="bg2"/>
          </a:solidFill>
        </p:grpSpPr>
        <p:sp>
          <p:nvSpPr>
            <p:cNvPr id="8" name="Freeform 3">
              <a:extLst>
                <a:ext uri="{FF2B5EF4-FFF2-40B4-BE49-F238E27FC236}">
                  <a16:creationId xmlns:a16="http://schemas.microsoft.com/office/drawing/2014/main" id="{ADEF0BB9-6296-6AF7-51C0-407C4B5F697F}"/>
                </a:ext>
              </a:extLst>
            </p:cNvPr>
            <p:cNvSpPr/>
            <p:nvPr/>
          </p:nvSpPr>
          <p:spPr>
            <a:xfrm>
              <a:off x="0" y="0"/>
              <a:ext cx="1321562" cy="2709333"/>
            </a:xfrm>
            <a:custGeom>
              <a:avLst/>
              <a:gdLst/>
              <a:ahLst/>
              <a:cxnLst/>
              <a:rect l="l" t="t" r="r" b="b"/>
              <a:pathLst>
                <a:path w="1321562" h="2709333">
                  <a:moveTo>
                    <a:pt x="0" y="0"/>
                  </a:moveTo>
                  <a:lnTo>
                    <a:pt x="1321562" y="0"/>
                  </a:lnTo>
                  <a:lnTo>
                    <a:pt x="1321562" y="2709333"/>
                  </a:lnTo>
                  <a:lnTo>
                    <a:pt x="0" y="2709333"/>
                  </a:lnTo>
                  <a:close/>
                </a:path>
              </a:pathLst>
            </a:custGeom>
            <a:grpFill/>
          </p:spPr>
        </p:sp>
        <p:sp>
          <p:nvSpPr>
            <p:cNvPr id="9" name="TextBox 4">
              <a:extLst>
                <a:ext uri="{FF2B5EF4-FFF2-40B4-BE49-F238E27FC236}">
                  <a16:creationId xmlns:a16="http://schemas.microsoft.com/office/drawing/2014/main" id="{D45D2709-9245-5FB8-7922-6EC714C0EBF0}"/>
                </a:ext>
              </a:extLst>
            </p:cNvPr>
            <p:cNvSpPr txBox="1"/>
            <p:nvPr/>
          </p:nvSpPr>
          <p:spPr>
            <a:xfrm>
              <a:off x="0" y="-47625"/>
              <a:ext cx="1321562" cy="2756958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9"/>
                </a:lnSpc>
              </a:pPr>
              <a:endParaRPr/>
            </a:p>
          </p:txBody>
        </p:sp>
      </p:grpSp>
      <p:sp>
        <p:nvSpPr>
          <p:cNvPr id="24" name="AutoShape 18">
            <a:extLst>
              <a:ext uri="{FF2B5EF4-FFF2-40B4-BE49-F238E27FC236}">
                <a16:creationId xmlns:a16="http://schemas.microsoft.com/office/drawing/2014/main" id="{5A72F1C2-C799-4A9A-5989-9D4AA2D904F9}"/>
              </a:ext>
            </a:extLst>
          </p:cNvPr>
          <p:cNvSpPr/>
          <p:nvPr userDrawn="1"/>
        </p:nvSpPr>
        <p:spPr>
          <a:xfrm>
            <a:off x="870165" y="1872448"/>
            <a:ext cx="0" cy="725501"/>
          </a:xfrm>
          <a:prstGeom prst="line">
            <a:avLst/>
          </a:prstGeom>
          <a:ln w="76200" cap="flat">
            <a:solidFill>
              <a:schemeClr val="accent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5" name="Picture Placeholder 4">
            <a:extLst>
              <a:ext uri="{FF2B5EF4-FFF2-40B4-BE49-F238E27FC236}">
                <a16:creationId xmlns:a16="http://schemas.microsoft.com/office/drawing/2014/main" id="{EF618F19-F498-53C4-B0BE-F6F85DB2558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438860" y="1115879"/>
            <a:ext cx="3101559" cy="5061083"/>
          </a:xfrm>
        </p:spPr>
        <p:txBody>
          <a:bodyPr/>
          <a:lstStyle/>
          <a:p>
            <a:endParaRPr lang="en-US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91740583-7361-9AD7-3125-9803F49F3A1F}"/>
              </a:ext>
            </a:extLst>
          </p:cNvPr>
          <p:cNvSpPr/>
          <p:nvPr userDrawn="1"/>
        </p:nvSpPr>
        <p:spPr>
          <a:xfrm>
            <a:off x="11540419" y="6319210"/>
            <a:ext cx="879309" cy="879309"/>
          </a:xfrm>
          <a:custGeom>
            <a:avLst/>
            <a:gdLst/>
            <a:ahLst/>
            <a:cxnLst/>
            <a:rect l="l" t="t" r="r" b="b"/>
            <a:pathLst>
              <a:path w="1621594" h="1621594">
                <a:moveTo>
                  <a:pt x="0" y="0"/>
                </a:moveTo>
                <a:lnTo>
                  <a:pt x="1621594" y="0"/>
                </a:lnTo>
                <a:lnTo>
                  <a:pt x="1621594" y="1621593"/>
                </a:lnTo>
                <a:lnTo>
                  <a:pt x="0" y="16215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2915E256-1E1D-5476-8E85-168F2D05E9F7}"/>
              </a:ext>
            </a:extLst>
          </p:cNvPr>
          <p:cNvSpPr/>
          <p:nvPr userDrawn="1"/>
        </p:nvSpPr>
        <p:spPr>
          <a:xfrm rot="10121484">
            <a:off x="7300002" y="385669"/>
            <a:ext cx="879309" cy="879309"/>
          </a:xfrm>
          <a:custGeom>
            <a:avLst/>
            <a:gdLst/>
            <a:ahLst/>
            <a:cxnLst/>
            <a:rect l="l" t="t" r="r" b="b"/>
            <a:pathLst>
              <a:path w="1621594" h="1621594">
                <a:moveTo>
                  <a:pt x="0" y="0"/>
                </a:moveTo>
                <a:lnTo>
                  <a:pt x="1621594" y="0"/>
                </a:lnTo>
                <a:lnTo>
                  <a:pt x="1621594" y="1621593"/>
                </a:lnTo>
                <a:lnTo>
                  <a:pt x="0" y="16215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EB77396F-9644-D6FA-1C5B-DBA3FE54DB58}"/>
              </a:ext>
            </a:extLst>
          </p:cNvPr>
          <p:cNvSpPr/>
          <p:nvPr userDrawn="1"/>
        </p:nvSpPr>
        <p:spPr>
          <a:xfrm rot="10121484">
            <a:off x="7517621" y="385669"/>
            <a:ext cx="879309" cy="879309"/>
          </a:xfrm>
          <a:custGeom>
            <a:avLst/>
            <a:gdLst/>
            <a:ahLst/>
            <a:cxnLst/>
            <a:rect l="l" t="t" r="r" b="b"/>
            <a:pathLst>
              <a:path w="1621594" h="1621594">
                <a:moveTo>
                  <a:pt x="0" y="0"/>
                </a:moveTo>
                <a:lnTo>
                  <a:pt x="1621594" y="0"/>
                </a:lnTo>
                <a:lnTo>
                  <a:pt x="1621594" y="1621593"/>
                </a:lnTo>
                <a:lnTo>
                  <a:pt x="0" y="162159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241981547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2">
            <a:extLst>
              <a:ext uri="{FF2B5EF4-FFF2-40B4-BE49-F238E27FC236}">
                <a16:creationId xmlns:a16="http://schemas.microsoft.com/office/drawing/2014/main" id="{695D3AA7-FB7D-4292-0AD3-DEFA96EDE160}"/>
              </a:ext>
            </a:extLst>
          </p:cNvPr>
          <p:cNvGrpSpPr/>
          <p:nvPr userDrawn="1"/>
        </p:nvGrpSpPr>
        <p:grpSpPr>
          <a:xfrm>
            <a:off x="-108488" y="4339524"/>
            <a:ext cx="12300488" cy="2518475"/>
            <a:chOff x="0" y="0"/>
            <a:chExt cx="4816593" cy="1192858"/>
          </a:xfrm>
          <a:solidFill>
            <a:schemeClr val="bg2"/>
          </a:solidFill>
        </p:grpSpPr>
        <p:sp>
          <p:nvSpPr>
            <p:cNvPr id="9" name="Freeform 3">
              <a:extLst>
                <a:ext uri="{FF2B5EF4-FFF2-40B4-BE49-F238E27FC236}">
                  <a16:creationId xmlns:a16="http://schemas.microsoft.com/office/drawing/2014/main" id="{8E8AE2FD-0B64-EDE8-7354-51CAFEFDD94B}"/>
                </a:ext>
              </a:extLst>
            </p:cNvPr>
            <p:cNvSpPr/>
            <p:nvPr/>
          </p:nvSpPr>
          <p:spPr>
            <a:xfrm>
              <a:off x="0" y="0"/>
              <a:ext cx="4816592" cy="1192858"/>
            </a:xfrm>
            <a:custGeom>
              <a:avLst/>
              <a:gdLst/>
              <a:ahLst/>
              <a:cxnLst/>
              <a:rect l="l" t="t" r="r" b="b"/>
              <a:pathLst>
                <a:path w="4816592" h="1192858">
                  <a:moveTo>
                    <a:pt x="0" y="0"/>
                  </a:moveTo>
                  <a:lnTo>
                    <a:pt x="4816592" y="0"/>
                  </a:lnTo>
                  <a:lnTo>
                    <a:pt x="4816592" y="1192858"/>
                  </a:lnTo>
                  <a:lnTo>
                    <a:pt x="0" y="1192858"/>
                  </a:lnTo>
                  <a:close/>
                </a:path>
              </a:pathLst>
            </a:custGeom>
            <a:grpFill/>
          </p:spPr>
        </p:sp>
        <p:sp>
          <p:nvSpPr>
            <p:cNvPr id="10" name="TextBox 4">
              <a:extLst>
                <a:ext uri="{FF2B5EF4-FFF2-40B4-BE49-F238E27FC236}">
                  <a16:creationId xmlns:a16="http://schemas.microsoft.com/office/drawing/2014/main" id="{08EBE189-5D80-5E56-1FB9-243E324578A0}"/>
                </a:ext>
              </a:extLst>
            </p:cNvPr>
            <p:cNvSpPr txBox="1"/>
            <p:nvPr/>
          </p:nvSpPr>
          <p:spPr>
            <a:xfrm>
              <a:off x="0" y="-47625"/>
              <a:ext cx="4816593" cy="124048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9"/>
                </a:lnSpc>
              </a:pPr>
              <a:endParaRPr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500BAC6-B83E-8DCD-35FF-2E0483229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5919" y="365125"/>
            <a:ext cx="6037881" cy="1325563"/>
          </a:xfrm>
        </p:spPr>
        <p:txBody>
          <a:bodyPr/>
          <a:lstStyle>
            <a:lvl1pPr>
              <a:defRPr b="1" i="0">
                <a:solidFill>
                  <a:schemeClr val="accent1"/>
                </a:solidFill>
                <a:latin typeface="Gill Sans MT" panose="020B0502020104020203" pitchFamily="34" charset="77"/>
                <a:cs typeface="Aharoni" panose="02010803020104030203" pitchFamily="2" charset="-79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14EDD2-BB0D-A00F-2FD8-A24995B2B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315919" y="1825625"/>
            <a:ext cx="6037881" cy="2413349"/>
          </a:xfrm>
        </p:spPr>
        <p:txBody>
          <a:bodyPr/>
          <a:lstStyle>
            <a:lvl1pPr>
              <a:defRPr>
                <a:latin typeface="Gill Sans MT" panose="020B0502020104020203" pitchFamily="34" charset="77"/>
              </a:defRPr>
            </a:lvl1pPr>
            <a:lvl2pPr>
              <a:defRPr>
                <a:latin typeface="Gill Sans MT" panose="020B0502020104020203" pitchFamily="34" charset="77"/>
              </a:defRPr>
            </a:lvl2pPr>
            <a:lvl3pPr>
              <a:defRPr>
                <a:latin typeface="Gill Sans MT" panose="020B0502020104020203" pitchFamily="34" charset="77"/>
              </a:defRPr>
            </a:lvl3pPr>
            <a:lvl4pPr>
              <a:defRPr>
                <a:latin typeface="Gill Sans MT" panose="020B0502020104020203" pitchFamily="34" charset="77"/>
              </a:defRPr>
            </a:lvl4pPr>
            <a:lvl5pPr>
              <a:defRPr>
                <a:latin typeface="Gill Sans MT" panose="020B0502020104020203" pitchFamily="34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CE4DFF-5CA4-382A-075F-36EEAD5E28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15919" y="4373911"/>
            <a:ext cx="6037881" cy="2278412"/>
          </a:xfrm>
        </p:spPr>
        <p:txBody>
          <a:bodyPr/>
          <a:lstStyle>
            <a:lvl1pPr>
              <a:defRPr>
                <a:latin typeface="Gill Sans MT" panose="020B0502020104020203" pitchFamily="34" charset="77"/>
              </a:defRPr>
            </a:lvl1pPr>
            <a:lvl2pPr>
              <a:defRPr>
                <a:latin typeface="Gill Sans MT" panose="020B0502020104020203" pitchFamily="34" charset="77"/>
              </a:defRPr>
            </a:lvl2pPr>
            <a:lvl3pPr>
              <a:defRPr>
                <a:latin typeface="Gill Sans MT" panose="020B0502020104020203" pitchFamily="34" charset="77"/>
              </a:defRPr>
            </a:lvl3pPr>
            <a:lvl4pPr>
              <a:defRPr>
                <a:latin typeface="Gill Sans MT" panose="020B0502020104020203" pitchFamily="34" charset="77"/>
              </a:defRPr>
            </a:lvl4pPr>
            <a:lvl5pPr>
              <a:defRPr>
                <a:latin typeface="Gill Sans MT" panose="020B0502020104020203" pitchFamily="34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2BA93BF3-F2D7-A136-85FA-140578AFA4E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43084" y="365125"/>
            <a:ext cx="4540250" cy="5811837"/>
          </a:xfrm>
        </p:spPr>
        <p:txBody>
          <a:bodyPr/>
          <a:lstStyle>
            <a:lvl1pPr>
              <a:defRPr>
                <a:latin typeface="Gill Sans MT" panose="020B0502020104020203" pitchFamily="34" charset="77"/>
              </a:defRPr>
            </a:lvl1pPr>
          </a:lstStyle>
          <a:p>
            <a:endParaRPr lang="en-US" dirty="0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7420EA6D-A18D-AE31-E6AE-F3BC43069886}"/>
              </a:ext>
            </a:extLst>
          </p:cNvPr>
          <p:cNvSpPr/>
          <p:nvPr userDrawn="1"/>
        </p:nvSpPr>
        <p:spPr>
          <a:xfrm>
            <a:off x="-439655" y="6294166"/>
            <a:ext cx="879309" cy="879309"/>
          </a:xfrm>
          <a:custGeom>
            <a:avLst/>
            <a:gdLst/>
            <a:ahLst/>
            <a:cxnLst/>
            <a:rect l="l" t="t" r="r" b="b"/>
            <a:pathLst>
              <a:path w="1621594" h="1621594">
                <a:moveTo>
                  <a:pt x="0" y="0"/>
                </a:moveTo>
                <a:lnTo>
                  <a:pt x="1621594" y="0"/>
                </a:lnTo>
                <a:lnTo>
                  <a:pt x="1621594" y="1621593"/>
                </a:lnTo>
                <a:lnTo>
                  <a:pt x="0" y="16215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17893015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D572B2-2579-C934-8471-0E228785E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654AD1-0042-9DAC-E467-F3AAD6556D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042C67-6E0A-E036-5DEF-CBF56651D1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9A6BC9-2F17-4644-8BAF-C8380839D32A}" type="datetimeFigureOut">
              <a:rPr lang="en-US" smtClean="0"/>
              <a:t>9/11/25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C1351A-0A5A-A73E-384C-3A1744FC1E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5BD997-0963-C69F-A3C3-E78E18AC68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D50487-239F-9443-BCF2-594FF8C340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880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5" r:id="rId6"/>
    <p:sldLayoutId id="2147483661" r:id="rId7"/>
    <p:sldLayoutId id="2147483660" r:id="rId8"/>
    <p:sldLayoutId id="2147483656" r:id="rId9"/>
    <p:sldLayoutId id="2147483657" r:id="rId10"/>
    <p:sldLayoutId id="2147483658" r:id="rId11"/>
    <p:sldLayoutId id="2147483659" r:id="rId12"/>
    <p:sldLayoutId id="2147483662" r:id="rId13"/>
    <p:sldLayoutId id="2147483663" r:id="rId14"/>
    <p:sldLayoutId id="2147483664" r:id="rId15"/>
    <p:sldLayoutId id="2147483665" r:id="rId16"/>
    <p:sldLayoutId id="2147483666" r:id="rId17"/>
    <p:sldLayoutId id="2147483667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15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13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16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13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15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DB2B2-1420-2CD0-16A9-74EE8DE30A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PENGANTAR PYTHON DAN TIPE DATA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A4DE58-F161-772C-BD5E-1FF653B486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68638" y="4630129"/>
            <a:ext cx="5773610" cy="718073"/>
          </a:xfrm>
        </p:spPr>
        <p:txBody>
          <a:bodyPr>
            <a:normAutofit/>
          </a:bodyPr>
          <a:lstStyle/>
          <a:p>
            <a:r>
              <a:rPr lang="en-US" dirty="0"/>
              <a:t>RL117 – DASAR PEMROGRAMAN</a:t>
            </a:r>
          </a:p>
        </p:txBody>
      </p:sp>
    </p:spTree>
    <p:extLst>
      <p:ext uri="{BB962C8B-B14F-4D97-AF65-F5344CB8AC3E}">
        <p14:creationId xmlns:p14="http://schemas.microsoft.com/office/powerpoint/2010/main" val="18146327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D73A822-6EC7-6C29-0B45-4B85F18693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3A5D8E0-1EFF-42BA-C334-EF0FD74DF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Pengenalan</a:t>
            </a:r>
            <a:r>
              <a:rPr lang="en-US" dirty="0"/>
              <a:t> Python</a:t>
            </a:r>
          </a:p>
        </p:txBody>
      </p:sp>
    </p:spTree>
    <p:extLst>
      <p:ext uri="{BB962C8B-B14F-4D97-AF65-F5344CB8AC3E}">
        <p14:creationId xmlns:p14="http://schemas.microsoft.com/office/powerpoint/2010/main" val="39244330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A566D-DB3D-A35D-ADFE-00EF9DFA9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Pengenalan</a:t>
            </a:r>
            <a:r>
              <a:rPr lang="en-US" dirty="0"/>
              <a:t>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1B2549-286C-62AA-2243-F68729A814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just">
              <a:lnSpc>
                <a:spcPct val="120000"/>
              </a:lnSpc>
            </a:pPr>
            <a:r>
              <a:rPr lang="en-US" dirty="0"/>
              <a:t>Python </a:t>
            </a:r>
            <a:r>
              <a:rPr lang="en-US" dirty="0" err="1"/>
              <a:t>merupakan</a:t>
            </a:r>
            <a:r>
              <a:rPr lang="en-US" dirty="0"/>
              <a:t> </a:t>
            </a:r>
            <a:r>
              <a:rPr lang="en-US" dirty="0" err="1"/>
              <a:t>bahasa</a:t>
            </a:r>
            <a:r>
              <a:rPr lang="en-US" dirty="0"/>
              <a:t> </a:t>
            </a:r>
            <a:r>
              <a:rPr lang="en-US" dirty="0" err="1"/>
              <a:t>pemograman</a:t>
            </a:r>
            <a:r>
              <a:rPr lang="en-US" dirty="0"/>
              <a:t> yang </a:t>
            </a:r>
            <a:r>
              <a:rPr lang="en-US" dirty="0" err="1"/>
              <a:t>dibuat</a:t>
            </a:r>
            <a:r>
              <a:rPr lang="en-US" dirty="0"/>
              <a:t> oleh Guido van Rossum pada </a:t>
            </a:r>
            <a:r>
              <a:rPr lang="en-US" dirty="0" err="1"/>
              <a:t>tahun</a:t>
            </a:r>
            <a:r>
              <a:rPr lang="en-US" dirty="0"/>
              <a:t> 1991</a:t>
            </a:r>
          </a:p>
          <a:p>
            <a:pPr algn="just">
              <a:lnSpc>
                <a:spcPct val="120000"/>
              </a:lnSpc>
            </a:pPr>
            <a:r>
              <a:rPr lang="en-US" dirty="0" err="1"/>
              <a:t>Saat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, Python </a:t>
            </a:r>
            <a:r>
              <a:rPr lang="en-US" dirty="0" err="1"/>
              <a:t>dikelola</a:t>
            </a:r>
            <a:r>
              <a:rPr lang="en-US" dirty="0"/>
              <a:t> oleh </a:t>
            </a:r>
            <a:r>
              <a:rPr lang="en-US" dirty="0" err="1"/>
              <a:t>lembaga</a:t>
            </a:r>
            <a:r>
              <a:rPr lang="en-US" dirty="0"/>
              <a:t> non-</a:t>
            </a:r>
            <a:r>
              <a:rPr lang="en-US" dirty="0" err="1"/>
              <a:t>komersial</a:t>
            </a:r>
            <a:r>
              <a:rPr lang="en-US" dirty="0"/>
              <a:t> Python Software Foundation (PSF)</a:t>
            </a:r>
          </a:p>
          <a:p>
            <a:pPr algn="just">
              <a:lnSpc>
                <a:spcPct val="120000"/>
              </a:lnSpc>
            </a:pPr>
            <a:r>
              <a:rPr lang="en-US" dirty="0"/>
              <a:t>Python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kemampuan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penanganan</a:t>
            </a:r>
            <a:r>
              <a:rPr lang="en-US" dirty="0"/>
              <a:t> </a:t>
            </a:r>
            <a:r>
              <a:rPr lang="en-US" dirty="0" err="1"/>
              <a:t>masalah</a:t>
            </a:r>
            <a:r>
              <a:rPr lang="en-US" dirty="0"/>
              <a:t> dan </a:t>
            </a:r>
            <a:r>
              <a:rPr lang="en-US" dirty="0" err="1"/>
              <a:t>mengutamakan</a:t>
            </a:r>
            <a:r>
              <a:rPr lang="en-US" dirty="0"/>
              <a:t> </a:t>
            </a:r>
            <a:r>
              <a:rPr lang="en-US" dirty="0" err="1"/>
              <a:t>sintaks</a:t>
            </a:r>
            <a:r>
              <a:rPr lang="en-US" dirty="0"/>
              <a:t> yang </a:t>
            </a:r>
            <a:r>
              <a:rPr lang="en-US" dirty="0" err="1"/>
              <a:t>mudah</a:t>
            </a:r>
            <a:r>
              <a:rPr lang="en-US" dirty="0"/>
              <a:t> </a:t>
            </a:r>
            <a:r>
              <a:rPr lang="en-US" dirty="0" err="1"/>
              <a:t>dimengerti</a:t>
            </a:r>
            <a:r>
              <a:rPr lang="en-US" dirty="0"/>
              <a:t> dan </a:t>
            </a:r>
            <a:r>
              <a:rPr lang="en-US" dirty="0" err="1"/>
              <a:t>dibaca</a:t>
            </a:r>
            <a:r>
              <a:rPr lang="en-US" dirty="0"/>
              <a:t> (readability)</a:t>
            </a:r>
          </a:p>
          <a:p>
            <a:pPr algn="just">
              <a:lnSpc>
                <a:spcPct val="120000"/>
              </a:lnSpc>
            </a:pPr>
            <a:r>
              <a:rPr lang="en-US" dirty="0"/>
              <a:t>Python </a:t>
            </a:r>
            <a:r>
              <a:rPr lang="en-US" dirty="0" err="1"/>
              <a:t>mengadopsi</a:t>
            </a:r>
            <a:r>
              <a:rPr lang="en-US" dirty="0"/>
              <a:t> dynamic typing </a:t>
            </a:r>
            <a:r>
              <a:rPr lang="en-US" dirty="0" err="1"/>
              <a:t>secara</a:t>
            </a:r>
            <a:r>
              <a:rPr lang="en-US" dirty="0"/>
              <a:t> </a:t>
            </a:r>
            <a:r>
              <a:rPr lang="en-US" dirty="0" err="1"/>
              <a:t>opsional</a:t>
            </a:r>
            <a:r>
              <a:rPr lang="en-US" dirty="0"/>
              <a:t>, </a:t>
            </a:r>
            <a:r>
              <a:rPr lang="en-US" dirty="0" err="1"/>
              <a:t>artinya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membuat</a:t>
            </a:r>
            <a:r>
              <a:rPr lang="en-US" dirty="0"/>
              <a:t> variable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perlu</a:t>
            </a:r>
            <a:r>
              <a:rPr lang="en-US" dirty="0"/>
              <a:t> </a:t>
            </a:r>
            <a:r>
              <a:rPr lang="en-US" dirty="0" err="1"/>
              <a:t>deklarasi</a:t>
            </a:r>
            <a:r>
              <a:rPr lang="en-US" dirty="0"/>
              <a:t> </a:t>
            </a:r>
            <a:r>
              <a:rPr lang="en-US" dirty="0" err="1"/>
              <a:t>tipe</a:t>
            </a:r>
            <a:r>
              <a:rPr lang="en-US" dirty="0"/>
              <a:t> </a:t>
            </a:r>
            <a:r>
              <a:rPr lang="en-US" dirty="0" err="1"/>
              <a:t>variabelnya</a:t>
            </a:r>
            <a:r>
              <a:rPr lang="en-US" dirty="0"/>
              <a:t> </a:t>
            </a:r>
            <a:r>
              <a:rPr lang="en-US" dirty="0" err="1"/>
              <a:t>walaupun</a:t>
            </a:r>
            <a:r>
              <a:rPr lang="en-US" dirty="0"/>
              <a:t> </a:t>
            </a:r>
            <a:r>
              <a:rPr lang="en-US" dirty="0" err="1"/>
              <a:t>bisa</a:t>
            </a:r>
            <a:r>
              <a:rPr lang="en-US" dirty="0"/>
              <a:t> </a:t>
            </a:r>
            <a:r>
              <a:rPr lang="en-US" dirty="0" err="1"/>
              <a:t>dilakukan</a:t>
            </a:r>
            <a:r>
              <a:rPr lang="en-US" dirty="0"/>
              <a:t>.</a:t>
            </a:r>
          </a:p>
          <a:p>
            <a:pPr algn="just">
              <a:lnSpc>
                <a:spcPct val="120000"/>
              </a:lnSpc>
            </a:pPr>
            <a:r>
              <a:rPr lang="en-US" dirty="0" err="1"/>
              <a:t>Sejak</a:t>
            </a:r>
            <a:r>
              <a:rPr lang="en-US" dirty="0"/>
              <a:t> </a:t>
            </a:r>
            <a:r>
              <a:rPr lang="en-US" dirty="0" err="1"/>
              <a:t>versi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3.6, Python </a:t>
            </a:r>
            <a:r>
              <a:rPr lang="en-US" dirty="0" err="1"/>
              <a:t>sudah</a:t>
            </a:r>
            <a:r>
              <a:rPr lang="en-US" dirty="0"/>
              <a:t> </a:t>
            </a:r>
            <a:r>
              <a:rPr lang="en-US" dirty="0" err="1"/>
              <a:t>tersedia</a:t>
            </a:r>
            <a:r>
              <a:rPr lang="en-US" dirty="0"/>
              <a:t> </a:t>
            </a:r>
            <a:r>
              <a:rPr lang="en-US" dirty="0" err="1"/>
              <a:t>pilihan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static typing</a:t>
            </a:r>
          </a:p>
          <a:p>
            <a:pPr algn="just">
              <a:lnSpc>
                <a:spcPct val="120000"/>
              </a:lnSpc>
            </a:pPr>
            <a:r>
              <a:rPr lang="en-US" dirty="0"/>
              <a:t>Zen of Python </a:t>
            </a:r>
            <a:r>
              <a:rPr lang="en-US" dirty="0" err="1"/>
              <a:t>merupakan</a:t>
            </a:r>
            <a:r>
              <a:rPr lang="en-US" dirty="0"/>
              <a:t> salah </a:t>
            </a:r>
            <a:r>
              <a:rPr lang="en-US" dirty="0" err="1"/>
              <a:t>satu</a:t>
            </a:r>
            <a:r>
              <a:rPr lang="en-US" dirty="0"/>
              <a:t> </a:t>
            </a:r>
            <a:r>
              <a:rPr lang="en-US" dirty="0" err="1"/>
              <a:t>patokan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pengembangan</a:t>
            </a:r>
            <a:r>
              <a:rPr lang="en-US" dirty="0"/>
              <a:t> Python.</a:t>
            </a:r>
          </a:p>
        </p:txBody>
      </p:sp>
    </p:spTree>
    <p:extLst>
      <p:ext uri="{BB962C8B-B14F-4D97-AF65-F5344CB8AC3E}">
        <p14:creationId xmlns:p14="http://schemas.microsoft.com/office/powerpoint/2010/main" val="5171863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14C3-CAAD-A2ED-36BC-C9C34005B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Zen of Python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7D167B-AE40-6A3C-6D0A-EB6C323F4B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4053" y="1690688"/>
            <a:ext cx="7772400" cy="4895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4075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146A5-B758-7D08-0F06-D16F2AA38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Keunggulan</a:t>
            </a:r>
            <a:r>
              <a:rPr lang="en-US" dirty="0"/>
              <a:t>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AB1837-7735-0FC7-3B9F-4698ADF133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10000"/>
              </a:lnSpc>
            </a:pPr>
            <a:r>
              <a:rPr lang="en-US" sz="1800" dirty="0"/>
              <a:t>Python </a:t>
            </a:r>
            <a:r>
              <a:rPr lang="en-US" sz="1800" dirty="0" err="1"/>
              <a:t>merupakan</a:t>
            </a:r>
            <a:r>
              <a:rPr lang="en-US" sz="1800" dirty="0"/>
              <a:t> </a:t>
            </a:r>
            <a:r>
              <a:rPr lang="en-US" sz="1800" dirty="0" err="1"/>
              <a:t>bahasa</a:t>
            </a:r>
            <a:r>
              <a:rPr lang="en-US" sz="1800" dirty="0"/>
              <a:t> </a:t>
            </a:r>
            <a:r>
              <a:rPr lang="en-US" sz="1800" dirty="0" err="1"/>
              <a:t>pemograman</a:t>
            </a:r>
            <a:r>
              <a:rPr lang="en-US" sz="1800" dirty="0"/>
              <a:t> yang </a:t>
            </a:r>
            <a:r>
              <a:rPr lang="en-US" sz="1800" dirty="0" err="1"/>
              <a:t>memiliki</a:t>
            </a:r>
            <a:r>
              <a:rPr lang="en-US" sz="1800" dirty="0"/>
              <a:t> </a:t>
            </a:r>
            <a:r>
              <a:rPr lang="en-US" sz="1800" dirty="0" err="1"/>
              <a:t>banyak</a:t>
            </a:r>
            <a:r>
              <a:rPr lang="en-US" sz="1800" dirty="0"/>
              <a:t> </a:t>
            </a:r>
            <a:r>
              <a:rPr lang="en-US" sz="1800" dirty="0" err="1"/>
              <a:t>pengguna</a:t>
            </a:r>
            <a:r>
              <a:rPr lang="en-US" sz="1800" dirty="0"/>
              <a:t>.</a:t>
            </a:r>
          </a:p>
          <a:p>
            <a:pPr algn="just">
              <a:lnSpc>
                <a:spcPct val="110000"/>
              </a:lnSpc>
            </a:pPr>
            <a:r>
              <a:rPr lang="en-US" sz="1800" dirty="0" err="1"/>
              <a:t>Memiliki</a:t>
            </a:r>
            <a:r>
              <a:rPr lang="en-US" sz="1800" dirty="0"/>
              <a:t> </a:t>
            </a:r>
            <a:r>
              <a:rPr lang="en-US" sz="1800" dirty="0" err="1"/>
              <a:t>sintaks</a:t>
            </a:r>
            <a:r>
              <a:rPr lang="en-US" sz="1800" dirty="0"/>
              <a:t> </a:t>
            </a:r>
            <a:r>
              <a:rPr lang="en-US" sz="1800" dirty="0" err="1"/>
              <a:t>sederhana</a:t>
            </a:r>
            <a:r>
              <a:rPr lang="en-US" sz="1800" dirty="0"/>
              <a:t> </a:t>
            </a:r>
            <a:r>
              <a:rPr lang="en-US" sz="1800" dirty="0" err="1"/>
              <a:t>dengan</a:t>
            </a:r>
            <a:r>
              <a:rPr lang="en-US" sz="1800" dirty="0"/>
              <a:t> </a:t>
            </a:r>
            <a:r>
              <a:rPr lang="en-US" sz="1800" dirty="0" err="1"/>
              <a:t>banyak</a:t>
            </a:r>
            <a:r>
              <a:rPr lang="en-US" sz="1800" dirty="0"/>
              <a:t> kata </a:t>
            </a:r>
            <a:r>
              <a:rPr lang="en-US" sz="1800" dirty="0" err="1"/>
              <a:t>kunci</a:t>
            </a:r>
            <a:r>
              <a:rPr lang="en-US" sz="1800" dirty="0"/>
              <a:t> </a:t>
            </a:r>
            <a:r>
              <a:rPr lang="en-US" sz="1800" dirty="0" err="1"/>
              <a:t>dalam</a:t>
            </a:r>
            <a:r>
              <a:rPr lang="en-US" sz="1800" dirty="0"/>
              <a:t> Bahasa </a:t>
            </a:r>
            <a:r>
              <a:rPr lang="en-US" sz="1800" dirty="0" err="1"/>
              <a:t>Inggris</a:t>
            </a:r>
            <a:r>
              <a:rPr lang="en-US" sz="1800" dirty="0"/>
              <a:t> </a:t>
            </a:r>
            <a:r>
              <a:rPr lang="en-US" sz="1800" dirty="0" err="1"/>
              <a:t>sehingga</a:t>
            </a:r>
            <a:r>
              <a:rPr lang="en-US" sz="1800" dirty="0"/>
              <a:t> </a:t>
            </a:r>
            <a:r>
              <a:rPr lang="en-US" sz="1800" dirty="0" err="1"/>
              <a:t>lebih</a:t>
            </a:r>
            <a:r>
              <a:rPr lang="en-US" sz="1800" dirty="0"/>
              <a:t> user friendly.</a:t>
            </a:r>
          </a:p>
          <a:p>
            <a:pPr algn="just">
              <a:lnSpc>
                <a:spcPct val="110000"/>
              </a:lnSpc>
            </a:pPr>
            <a:r>
              <a:rPr lang="en-US" sz="1800" dirty="0" err="1"/>
              <a:t>Mudah</a:t>
            </a:r>
            <a:r>
              <a:rPr lang="en-US" sz="1800" dirty="0"/>
              <a:t> </a:t>
            </a:r>
            <a:r>
              <a:rPr lang="en-US" sz="1800" dirty="0" err="1"/>
              <a:t>diaplikasikan</a:t>
            </a:r>
            <a:r>
              <a:rPr lang="en-US" sz="1800" dirty="0"/>
              <a:t> </a:t>
            </a:r>
            <a:r>
              <a:rPr lang="en-US" sz="1800" dirty="0" err="1"/>
              <a:t>dalam</a:t>
            </a:r>
            <a:r>
              <a:rPr lang="en-US" sz="1800" dirty="0"/>
              <a:t> </a:t>
            </a:r>
            <a:r>
              <a:rPr lang="en-US" sz="1800" dirty="0" err="1"/>
              <a:t>pengembangan</a:t>
            </a:r>
            <a:r>
              <a:rPr lang="en-US" sz="1800" dirty="0"/>
              <a:t> </a:t>
            </a:r>
            <a:r>
              <a:rPr lang="en-US" sz="1800" dirty="0" err="1"/>
              <a:t>produk</a:t>
            </a:r>
            <a:r>
              <a:rPr lang="en-US" sz="1800" dirty="0"/>
              <a:t>.</a:t>
            </a:r>
          </a:p>
          <a:p>
            <a:pPr algn="just">
              <a:lnSpc>
                <a:spcPct val="110000"/>
              </a:lnSpc>
            </a:pPr>
            <a:r>
              <a:rPr lang="en-US" sz="1800" dirty="0" err="1"/>
              <a:t>Memiliki</a:t>
            </a:r>
            <a:r>
              <a:rPr lang="en-US" sz="1800" dirty="0"/>
              <a:t> </a:t>
            </a:r>
            <a:r>
              <a:rPr lang="en-US" sz="1800" dirty="0" err="1"/>
              <a:t>dukungan</a:t>
            </a:r>
            <a:r>
              <a:rPr lang="en-US" sz="1800" dirty="0"/>
              <a:t> </a:t>
            </a:r>
            <a:r>
              <a:rPr lang="en-US" sz="1800" dirty="0" err="1"/>
              <a:t>komunikasi</a:t>
            </a:r>
            <a:r>
              <a:rPr lang="en-US" sz="1800" dirty="0"/>
              <a:t> dan </a:t>
            </a:r>
            <a:r>
              <a:rPr lang="en-US" sz="1800" dirty="0" err="1"/>
              <a:t>memiliki</a:t>
            </a:r>
            <a:r>
              <a:rPr lang="en-US" sz="1800" dirty="0"/>
              <a:t> repository library dan </a:t>
            </a:r>
            <a:r>
              <a:rPr lang="en-US" sz="1800" dirty="0" err="1"/>
              <a:t>modul</a:t>
            </a:r>
            <a:r>
              <a:rPr lang="en-US" sz="1800" dirty="0"/>
              <a:t> yang open source.</a:t>
            </a:r>
          </a:p>
          <a:p>
            <a:pPr algn="just">
              <a:lnSpc>
                <a:spcPct val="110000"/>
              </a:lnSpc>
            </a:pPr>
            <a:r>
              <a:rPr lang="en-US" sz="1800" dirty="0" err="1"/>
              <a:t>Menyediakan</a:t>
            </a:r>
            <a:r>
              <a:rPr lang="en-US" sz="1800" dirty="0"/>
              <a:t> library yang </a:t>
            </a:r>
            <a:r>
              <a:rPr lang="en-US" sz="1800" dirty="0" err="1"/>
              <a:t>dapat</a:t>
            </a:r>
            <a:r>
              <a:rPr lang="en-US" sz="1800" dirty="0"/>
              <a:t> </a:t>
            </a:r>
            <a:r>
              <a:rPr lang="en-US" sz="1800" dirty="0" err="1"/>
              <a:t>digunakan</a:t>
            </a:r>
            <a:r>
              <a:rPr lang="en-US" sz="1800" dirty="0"/>
              <a:t> </a:t>
            </a:r>
            <a:r>
              <a:rPr lang="en-US" sz="1800" dirty="0" err="1"/>
              <a:t>seperti</a:t>
            </a:r>
            <a:r>
              <a:rPr lang="en-US" sz="1800" dirty="0"/>
              <a:t> unit testing, regular expression, databases, </a:t>
            </a:r>
            <a:r>
              <a:rPr lang="en-US" sz="1800" dirty="0" err="1"/>
              <a:t>dll</a:t>
            </a:r>
            <a:r>
              <a:rPr lang="en-US" sz="1800" dirty="0"/>
              <a:t>.</a:t>
            </a:r>
          </a:p>
          <a:p>
            <a:pPr algn="just">
              <a:lnSpc>
                <a:spcPct val="110000"/>
              </a:lnSpc>
            </a:pPr>
            <a:r>
              <a:rPr lang="en-US" sz="1800" dirty="0"/>
              <a:t>Python Package Index (PIP) </a:t>
            </a:r>
            <a:r>
              <a:rPr lang="en-US" sz="1800" dirty="0" err="1"/>
              <a:t>memiliki</a:t>
            </a:r>
            <a:r>
              <a:rPr lang="en-US" sz="1800" dirty="0"/>
              <a:t> </a:t>
            </a:r>
            <a:r>
              <a:rPr lang="en-US" sz="1800" dirty="0" err="1"/>
              <a:t>lebih</a:t>
            </a:r>
            <a:r>
              <a:rPr lang="en-US" sz="1800" dirty="0"/>
              <a:t> </a:t>
            </a:r>
            <a:r>
              <a:rPr lang="en-US" sz="1800" dirty="0" err="1"/>
              <a:t>dari</a:t>
            </a:r>
            <a:r>
              <a:rPr lang="en-US" sz="1800" dirty="0"/>
              <a:t> 209.000 </a:t>
            </a:r>
            <a:r>
              <a:rPr lang="en-US" sz="1800" dirty="0" err="1"/>
              <a:t>modul</a:t>
            </a:r>
            <a:r>
              <a:rPr lang="en-US" sz="1800" dirty="0"/>
              <a:t> yang </a:t>
            </a:r>
            <a:r>
              <a:rPr lang="en-US" sz="1800" dirty="0" err="1"/>
              <a:t>dapat</a:t>
            </a:r>
            <a:r>
              <a:rPr lang="en-US" sz="1800" dirty="0"/>
              <a:t> </a:t>
            </a:r>
            <a:r>
              <a:rPr lang="en-US" sz="1800" dirty="0" err="1"/>
              <a:t>diinstal</a:t>
            </a:r>
            <a:r>
              <a:rPr lang="en-US" sz="1800" dirty="0"/>
              <a:t> dan </a:t>
            </a:r>
            <a:r>
              <a:rPr lang="en-US" sz="1800" dirty="0" err="1"/>
              <a:t>digunakan</a:t>
            </a:r>
            <a:r>
              <a:rPr lang="en-US" sz="1800" dirty="0"/>
              <a:t> di </a:t>
            </a:r>
            <a:r>
              <a:rPr lang="en-US" sz="1800" dirty="0" err="1"/>
              <a:t>Pythonn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2800609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9AC45-E5DD-0136-BA93-800A92B0B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Keunggulan</a:t>
            </a:r>
            <a:r>
              <a:rPr lang="en-US" dirty="0"/>
              <a:t>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51AC18-E989-79E3-DB2C-30E59BAAC4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D" sz="2000" b="0" i="0" u="none" strike="noStrike" dirty="0">
                <a:solidFill>
                  <a:srgbClr val="000000"/>
                </a:solidFill>
                <a:effectLst/>
                <a:cs typeface="Calibri" panose="020F0502020204030204" pitchFamily="34" charset="0"/>
              </a:rPr>
              <a:t>Python </a:t>
            </a:r>
            <a:r>
              <a:rPr lang="en-ID" sz="2000" b="0" i="0" u="none" strike="noStrike" dirty="0" err="1">
                <a:solidFill>
                  <a:srgbClr val="000000"/>
                </a:solidFill>
                <a:effectLst/>
                <a:cs typeface="Calibri" panose="020F0502020204030204" pitchFamily="34" charset="0"/>
              </a:rPr>
              <a:t>merupakan</a:t>
            </a:r>
            <a:r>
              <a:rPr lang="en-ID" sz="2000" b="0" i="0" u="none" strike="noStrike" dirty="0">
                <a:solidFill>
                  <a:srgbClr val="000000"/>
                </a:solidFill>
                <a:effectLst/>
                <a:cs typeface="Calibri" panose="020F0502020204030204" pitchFamily="34" charset="0"/>
              </a:rPr>
              <a:t> salah </a:t>
            </a:r>
            <a:r>
              <a:rPr lang="en-ID" sz="2000" b="0" i="0" u="none" strike="noStrike" dirty="0" err="1">
                <a:solidFill>
                  <a:srgbClr val="000000"/>
                </a:solidFill>
                <a:effectLst/>
                <a:cs typeface="Calibri" panose="020F0502020204030204" pitchFamily="34" charset="0"/>
              </a:rPr>
              <a:t>satu</a:t>
            </a:r>
            <a:r>
              <a:rPr lang="en-ID" sz="2000" b="0" i="0" u="none" strike="noStrike" dirty="0">
                <a:solidFill>
                  <a:srgbClr val="000000"/>
                </a:solidFill>
                <a:effectLst/>
                <a:cs typeface="Calibri" panose="020F0502020204030204" pitchFamily="34" charset="0"/>
              </a:rPr>
              <a:t> Bahasa </a:t>
            </a:r>
            <a:r>
              <a:rPr lang="en-ID" sz="2000" b="0" i="0" u="none" strike="noStrike" dirty="0" err="1">
                <a:solidFill>
                  <a:srgbClr val="000000"/>
                </a:solidFill>
                <a:effectLst/>
                <a:cs typeface="Calibri" panose="020F0502020204030204" pitchFamily="34" charset="0"/>
              </a:rPr>
              <a:t>pilihan</a:t>
            </a:r>
            <a:r>
              <a:rPr lang="en-ID" sz="2000" b="0" i="0" u="none" strike="noStrike" dirty="0">
                <a:solidFill>
                  <a:srgbClr val="000000"/>
                </a:solidFill>
                <a:effectLst/>
                <a:cs typeface="Calibri" panose="020F0502020204030204" pitchFamily="34" charset="0"/>
              </a:rPr>
              <a:t> </a:t>
            </a:r>
            <a:r>
              <a:rPr lang="en-ID" sz="2000" b="0" i="0" u="none" strike="noStrike" dirty="0" err="1">
                <a:solidFill>
                  <a:srgbClr val="000000"/>
                </a:solidFill>
                <a:effectLst/>
                <a:cs typeface="Calibri" panose="020F0502020204030204" pitchFamily="34" charset="0"/>
              </a:rPr>
              <a:t>untuk</a:t>
            </a:r>
            <a:r>
              <a:rPr lang="en-ID" sz="2000" b="0" i="0" u="none" strike="noStrike" dirty="0">
                <a:solidFill>
                  <a:srgbClr val="000000"/>
                </a:solidFill>
                <a:effectLst/>
                <a:cs typeface="Calibri" panose="020F0502020204030204" pitchFamily="34" charset="0"/>
              </a:rPr>
              <a:t> </a:t>
            </a:r>
            <a:r>
              <a:rPr lang="en-ID" sz="2000" b="0" i="0" u="none" strike="noStrike" dirty="0" err="1">
                <a:solidFill>
                  <a:srgbClr val="000000"/>
                </a:solidFill>
                <a:effectLst/>
                <a:cs typeface="Calibri" panose="020F0502020204030204" pitchFamily="34" charset="0"/>
              </a:rPr>
              <a:t>masuk</a:t>
            </a:r>
            <a:r>
              <a:rPr lang="en-ID" sz="2000" b="0" i="0" u="none" strike="noStrike" dirty="0">
                <a:solidFill>
                  <a:srgbClr val="000000"/>
                </a:solidFill>
                <a:effectLst/>
                <a:cs typeface="Calibri" panose="020F0502020204030204" pitchFamily="34" charset="0"/>
              </a:rPr>
              <a:t> </a:t>
            </a:r>
            <a:r>
              <a:rPr lang="en-ID" sz="2000" b="0" i="0" u="none" strike="noStrike" dirty="0" err="1">
                <a:solidFill>
                  <a:srgbClr val="000000"/>
                </a:solidFill>
                <a:effectLst/>
                <a:cs typeface="Calibri" panose="020F0502020204030204" pitchFamily="34" charset="0"/>
              </a:rPr>
              <a:t>ke</a:t>
            </a:r>
            <a:r>
              <a:rPr lang="en-ID" sz="2000" b="0" i="0" u="none" strike="noStrike" dirty="0">
                <a:solidFill>
                  <a:srgbClr val="000000"/>
                </a:solidFill>
                <a:effectLst/>
                <a:cs typeface="Calibri" panose="020F0502020204030204" pitchFamily="34" charset="0"/>
              </a:rPr>
              <a:t> </a:t>
            </a:r>
            <a:r>
              <a:rPr lang="en-ID" sz="2000" b="0" i="1" u="none" strike="noStrike" dirty="0">
                <a:solidFill>
                  <a:srgbClr val="000000"/>
                </a:solidFill>
                <a:effectLst/>
                <a:cs typeface="Calibri" panose="020F0502020204030204" pitchFamily="34" charset="0"/>
              </a:rPr>
              <a:t>data</a:t>
            </a:r>
            <a:r>
              <a:rPr lang="en-ID" sz="2000" b="0" i="0" u="none" strike="noStrike" dirty="0">
                <a:solidFill>
                  <a:srgbClr val="000000"/>
                </a:solidFill>
                <a:effectLst/>
                <a:cs typeface="Calibri" panose="020F0502020204030204" pitchFamily="34" charset="0"/>
              </a:rPr>
              <a:t> </a:t>
            </a:r>
            <a:r>
              <a:rPr lang="en-ID" sz="2000" b="0" i="1" u="none" strike="noStrike" dirty="0">
                <a:solidFill>
                  <a:srgbClr val="000000"/>
                </a:solidFill>
                <a:effectLst/>
                <a:cs typeface="Calibri" panose="020F0502020204030204" pitchFamily="34" charset="0"/>
              </a:rPr>
              <a:t>science</a:t>
            </a:r>
            <a:endParaRPr lang="en-ID" sz="1800" b="0" i="0" u="none" strike="noStrike" dirty="0">
              <a:solidFill>
                <a:srgbClr val="4A8CFF"/>
              </a:solidFill>
              <a:effectLst/>
              <a:cs typeface="Calibri" panose="020F0502020204030204" pitchFamily="34" charset="0"/>
            </a:endParaRPr>
          </a:p>
          <a:p>
            <a:pPr algn="just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D" sz="2000" b="0" i="0" u="none" strike="noStrike" dirty="0" err="1">
                <a:solidFill>
                  <a:srgbClr val="000000"/>
                </a:solidFill>
                <a:effectLst/>
                <a:cs typeface="Calibri" panose="020F0502020204030204" pitchFamily="34" charset="0"/>
              </a:rPr>
              <a:t>Beberapa</a:t>
            </a:r>
            <a:r>
              <a:rPr lang="en-ID" sz="2000" b="0" i="0" u="none" strike="noStrike" dirty="0">
                <a:solidFill>
                  <a:srgbClr val="000000"/>
                </a:solidFill>
                <a:effectLst/>
                <a:cs typeface="Calibri" panose="020F0502020204030204" pitchFamily="34" charset="0"/>
              </a:rPr>
              <a:t> </a:t>
            </a:r>
            <a:r>
              <a:rPr lang="en-ID" sz="2000" b="0" i="0" u="none" strike="noStrike" dirty="0" err="1">
                <a:solidFill>
                  <a:srgbClr val="000000"/>
                </a:solidFill>
                <a:effectLst/>
                <a:cs typeface="Calibri" panose="020F0502020204030204" pitchFamily="34" charset="0"/>
              </a:rPr>
              <a:t>pemanfaatan</a:t>
            </a:r>
            <a:r>
              <a:rPr lang="en-ID" sz="2000" b="0" i="0" u="none" strike="noStrike" dirty="0">
                <a:solidFill>
                  <a:srgbClr val="000000"/>
                </a:solidFill>
                <a:effectLst/>
                <a:cs typeface="Calibri" panose="020F0502020204030204" pitchFamily="34" charset="0"/>
              </a:rPr>
              <a:t> Bahasa </a:t>
            </a:r>
            <a:r>
              <a:rPr lang="en-ID" sz="2000" b="0" i="0" u="none" strike="noStrike" dirty="0" err="1">
                <a:solidFill>
                  <a:srgbClr val="000000"/>
                </a:solidFill>
                <a:effectLst/>
                <a:cs typeface="Calibri" panose="020F0502020204030204" pitchFamily="34" charset="0"/>
              </a:rPr>
              <a:t>pemograman</a:t>
            </a:r>
            <a:r>
              <a:rPr lang="en-ID" sz="2000" b="0" i="0" u="none" strike="noStrike" dirty="0">
                <a:solidFill>
                  <a:srgbClr val="000000"/>
                </a:solidFill>
                <a:effectLst/>
                <a:cs typeface="Calibri" panose="020F0502020204030204" pitchFamily="34" charset="0"/>
              </a:rPr>
              <a:t> Python:</a:t>
            </a:r>
            <a:endParaRPr lang="en-ID" sz="1800" b="0" i="0" u="none" strike="noStrike" dirty="0">
              <a:solidFill>
                <a:srgbClr val="4A8CFF"/>
              </a:solidFill>
              <a:effectLst/>
              <a:cs typeface="Calibri" panose="020F0502020204030204" pitchFamily="34" charset="0"/>
            </a:endParaRPr>
          </a:p>
          <a:p>
            <a:pPr marL="742950" lvl="1" indent="-285750" algn="just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ID" sz="2000" b="0" i="0" u="none" strike="noStrike" dirty="0" err="1">
                <a:solidFill>
                  <a:srgbClr val="000000"/>
                </a:solidFill>
                <a:effectLst/>
                <a:cs typeface="Calibri" panose="020F0502020204030204" pitchFamily="34" charset="0"/>
              </a:rPr>
              <a:t>Pengembangan</a:t>
            </a:r>
            <a:r>
              <a:rPr lang="en-ID" sz="2000" b="0" i="0" u="none" strike="noStrike" dirty="0">
                <a:solidFill>
                  <a:srgbClr val="000000"/>
                </a:solidFill>
                <a:effectLst/>
                <a:cs typeface="Calibri" panose="020F0502020204030204" pitchFamily="34" charset="0"/>
              </a:rPr>
              <a:t> software (</a:t>
            </a:r>
            <a:r>
              <a:rPr lang="en-ID" sz="2000" b="0" i="1" u="none" strike="noStrike" dirty="0">
                <a:solidFill>
                  <a:srgbClr val="000000"/>
                </a:solidFill>
                <a:effectLst/>
                <a:cs typeface="Calibri" panose="020F0502020204030204" pitchFamily="34" charset="0"/>
              </a:rPr>
              <a:t>software development</a:t>
            </a:r>
            <a:r>
              <a:rPr lang="en-ID" sz="2000" b="0" i="0" u="none" strike="noStrike" dirty="0">
                <a:solidFill>
                  <a:srgbClr val="000000"/>
                </a:solidFill>
                <a:effectLst/>
                <a:cs typeface="Calibri" panose="020F0502020204030204" pitchFamily="34" charset="0"/>
              </a:rPr>
              <a:t>)</a:t>
            </a:r>
            <a:endParaRPr lang="en-ID" sz="1800" b="0" i="0" u="none" strike="noStrike" dirty="0">
              <a:solidFill>
                <a:srgbClr val="4A8CFF"/>
              </a:solidFill>
              <a:effectLst/>
              <a:cs typeface="Calibri" panose="020F0502020204030204" pitchFamily="34" charset="0"/>
            </a:endParaRPr>
          </a:p>
          <a:p>
            <a:pPr marL="742950" lvl="1" indent="-285750" algn="just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ID" sz="2000" b="0" i="0" u="none" strike="noStrike" dirty="0" err="1">
                <a:solidFill>
                  <a:srgbClr val="000000"/>
                </a:solidFill>
                <a:effectLst/>
                <a:cs typeface="Calibri" panose="020F0502020204030204" pitchFamily="34" charset="0"/>
              </a:rPr>
              <a:t>Aplikasi</a:t>
            </a:r>
            <a:r>
              <a:rPr lang="en-ID" sz="2000" b="0" i="0" u="none" strike="noStrike" dirty="0">
                <a:solidFill>
                  <a:srgbClr val="000000"/>
                </a:solidFill>
                <a:effectLst/>
                <a:cs typeface="Calibri" panose="020F0502020204030204" pitchFamily="34" charset="0"/>
              </a:rPr>
              <a:t> website (</a:t>
            </a:r>
            <a:r>
              <a:rPr lang="en-ID" sz="2000" b="0" i="1" u="none" strike="noStrike" dirty="0">
                <a:solidFill>
                  <a:srgbClr val="000000"/>
                </a:solidFill>
                <a:effectLst/>
                <a:cs typeface="Calibri" panose="020F0502020204030204" pitchFamily="34" charset="0"/>
              </a:rPr>
              <a:t>server-side</a:t>
            </a:r>
            <a:r>
              <a:rPr lang="en-ID" sz="2000" b="0" i="0" u="none" strike="noStrike" dirty="0">
                <a:solidFill>
                  <a:srgbClr val="000000"/>
                </a:solidFill>
                <a:effectLst/>
                <a:cs typeface="Calibri" panose="020F0502020204030204" pitchFamily="34" charset="0"/>
              </a:rPr>
              <a:t>)</a:t>
            </a:r>
            <a:endParaRPr lang="en-ID" sz="1800" b="0" i="0" u="none" strike="noStrike" dirty="0">
              <a:solidFill>
                <a:srgbClr val="4A8CFF"/>
              </a:solidFill>
              <a:effectLst/>
              <a:cs typeface="Calibri" panose="020F0502020204030204" pitchFamily="34" charset="0"/>
            </a:endParaRPr>
          </a:p>
          <a:p>
            <a:pPr marL="742950" lvl="1" indent="-285750" algn="just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ID" sz="2000" b="0" i="0" u="none" strike="noStrike" dirty="0" err="1">
                <a:solidFill>
                  <a:srgbClr val="000000"/>
                </a:solidFill>
                <a:effectLst/>
                <a:cs typeface="Calibri" panose="020F0502020204030204" pitchFamily="34" charset="0"/>
              </a:rPr>
              <a:t>Matematika</a:t>
            </a:r>
            <a:r>
              <a:rPr lang="en-ID" sz="2000" b="0" i="0" u="none" strike="noStrike" dirty="0">
                <a:solidFill>
                  <a:srgbClr val="000000"/>
                </a:solidFill>
                <a:effectLst/>
                <a:cs typeface="Calibri" panose="020F0502020204030204" pitchFamily="34" charset="0"/>
              </a:rPr>
              <a:t> dan </a:t>
            </a:r>
            <a:r>
              <a:rPr lang="en-ID" sz="2000" b="0" i="0" u="none" strike="noStrike" dirty="0" err="1">
                <a:solidFill>
                  <a:srgbClr val="000000"/>
                </a:solidFill>
                <a:effectLst/>
                <a:cs typeface="Calibri" panose="020F0502020204030204" pitchFamily="34" charset="0"/>
              </a:rPr>
              <a:t>ilmu</a:t>
            </a:r>
            <a:r>
              <a:rPr lang="en-ID" sz="2000" b="0" i="0" u="none" strike="noStrike" dirty="0">
                <a:solidFill>
                  <a:srgbClr val="000000"/>
                </a:solidFill>
                <a:effectLst/>
                <a:cs typeface="Calibri" panose="020F0502020204030204" pitchFamily="34" charset="0"/>
              </a:rPr>
              <a:t> data (</a:t>
            </a:r>
            <a:r>
              <a:rPr lang="en-ID" sz="2000" b="0" i="1" u="none" strike="noStrike" dirty="0">
                <a:solidFill>
                  <a:srgbClr val="000000"/>
                </a:solidFill>
                <a:effectLst/>
                <a:cs typeface="Calibri" panose="020F0502020204030204" pitchFamily="34" charset="0"/>
              </a:rPr>
              <a:t>data science</a:t>
            </a:r>
            <a:r>
              <a:rPr lang="en-ID" sz="2000" b="0" i="0" u="none" strike="noStrike" dirty="0">
                <a:solidFill>
                  <a:srgbClr val="000000"/>
                </a:solidFill>
                <a:effectLst/>
                <a:cs typeface="Calibri" panose="020F0502020204030204" pitchFamily="34" charset="0"/>
              </a:rPr>
              <a:t>)</a:t>
            </a:r>
            <a:endParaRPr lang="en-ID" sz="1800" b="0" i="0" u="none" strike="noStrike" dirty="0">
              <a:solidFill>
                <a:srgbClr val="4A8CFF"/>
              </a:solidFill>
              <a:effectLst/>
              <a:cs typeface="Calibri" panose="020F0502020204030204" pitchFamily="34" charset="0"/>
            </a:endParaRPr>
          </a:p>
          <a:p>
            <a:pPr marL="742950" lvl="1" indent="-285750" algn="just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ID" sz="2000" b="0" i="0" u="none" strike="noStrike" dirty="0">
                <a:solidFill>
                  <a:srgbClr val="000000"/>
                </a:solidFill>
                <a:effectLst/>
                <a:cs typeface="Calibri" panose="020F0502020204030204" pitchFamily="34" charset="0"/>
              </a:rPr>
              <a:t>Machine Learning (ML)</a:t>
            </a:r>
            <a:endParaRPr lang="en-ID" sz="1800" b="0" i="0" u="none" strike="noStrike" dirty="0">
              <a:solidFill>
                <a:srgbClr val="4A8CFF"/>
              </a:solidFill>
              <a:effectLst/>
              <a:cs typeface="Calibri" panose="020F0502020204030204" pitchFamily="34" charset="0"/>
            </a:endParaRPr>
          </a:p>
          <a:p>
            <a:pPr marL="742950" lvl="1" indent="-285750" algn="just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ID" sz="2000" b="0" i="0" u="none" strike="noStrike" dirty="0">
                <a:solidFill>
                  <a:srgbClr val="000000"/>
                </a:solidFill>
                <a:effectLst/>
                <a:cs typeface="Calibri" panose="020F0502020204030204" pitchFamily="34" charset="0"/>
              </a:rPr>
              <a:t>Internet of Things (IoT)</a:t>
            </a:r>
            <a:endParaRPr lang="en-ID" sz="1800" b="0" i="0" u="none" strike="noStrike" dirty="0">
              <a:solidFill>
                <a:srgbClr val="4A8CFF"/>
              </a:solidFill>
              <a:effectLst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35199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6BF4DE4-C52C-71F7-BF4D-45B8768DB3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64DF3D9-A0C1-54B5-BB8F-E112EA8B8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Instalasi</a:t>
            </a:r>
            <a:r>
              <a:rPr lang="en-US" dirty="0"/>
              <a:t> Python</a:t>
            </a:r>
          </a:p>
        </p:txBody>
      </p:sp>
    </p:spTree>
    <p:extLst>
      <p:ext uri="{BB962C8B-B14F-4D97-AF65-F5344CB8AC3E}">
        <p14:creationId xmlns:p14="http://schemas.microsoft.com/office/powerpoint/2010/main" val="39974949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EFC42-EA14-D475-C5E9-59A9A1F6C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Instalasi</a:t>
            </a:r>
            <a:r>
              <a:rPr lang="en-US" dirty="0"/>
              <a:t>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6CDCC7-8E39-70B7-36CC-9E26A6D02B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 err="1"/>
              <a:t>Unduh</a:t>
            </a:r>
            <a:r>
              <a:rPr lang="en-US" dirty="0"/>
              <a:t> pada </a:t>
            </a:r>
            <a:r>
              <a:rPr lang="en-US" dirty="0" err="1"/>
              <a:t>laman</a:t>
            </a:r>
            <a:r>
              <a:rPr lang="en-US" dirty="0"/>
              <a:t> https://</a:t>
            </a:r>
            <a:r>
              <a:rPr lang="en-US" dirty="0" err="1"/>
              <a:t>www.python.org</a:t>
            </a:r>
            <a:r>
              <a:rPr lang="en-US" dirty="0"/>
              <a:t>/downloads/windows/ </a:t>
            </a:r>
            <a:r>
              <a:rPr lang="en-US" dirty="0" err="1"/>
              <a:t>lalu</a:t>
            </a:r>
            <a:r>
              <a:rPr lang="en-US" dirty="0"/>
              <a:t> </a:t>
            </a:r>
            <a:r>
              <a:rPr lang="en-US" dirty="0" err="1"/>
              <a:t>pilih</a:t>
            </a:r>
            <a:r>
              <a:rPr lang="en-US" dirty="0"/>
              <a:t> </a:t>
            </a:r>
            <a:r>
              <a:rPr lang="en-US" dirty="0" err="1"/>
              <a:t>versi</a:t>
            </a:r>
            <a:r>
              <a:rPr lang="en-US" dirty="0"/>
              <a:t> Windows 64 Bit </a:t>
            </a:r>
            <a:r>
              <a:rPr lang="en-US" dirty="0" err="1"/>
              <a:t>atau</a:t>
            </a:r>
            <a:r>
              <a:rPr lang="en-US" dirty="0"/>
              <a:t> Windows 32 Bit.</a:t>
            </a:r>
          </a:p>
          <a:p>
            <a:pPr>
              <a:lnSpc>
                <a:spcPct val="100000"/>
              </a:lnSpc>
            </a:pPr>
            <a:r>
              <a:rPr lang="en-US" dirty="0" err="1"/>
              <a:t>Lakukan</a:t>
            </a:r>
            <a:r>
              <a:rPr lang="en-US" dirty="0"/>
              <a:t> </a:t>
            </a:r>
            <a:r>
              <a:rPr lang="en-US" dirty="0" err="1"/>
              <a:t>instalasi</a:t>
            </a:r>
            <a:r>
              <a:rPr lang="en-US" dirty="0"/>
              <a:t> </a:t>
            </a:r>
            <a:r>
              <a:rPr lang="en-US" dirty="0" err="1"/>
              <a:t>seperti</a:t>
            </a:r>
            <a:r>
              <a:rPr lang="en-US" dirty="0"/>
              <a:t> pada </a:t>
            </a:r>
            <a:r>
              <a:rPr lang="en-US" dirty="0" err="1"/>
              <a:t>gambar</a:t>
            </a:r>
            <a:r>
              <a:rPr lang="en-US" dirty="0"/>
              <a:t> </a:t>
            </a:r>
            <a:r>
              <a:rPr lang="en-US" dirty="0" err="1"/>
              <a:t>disamping</a:t>
            </a:r>
            <a:r>
              <a:rPr lang="en-US" dirty="0"/>
              <a:t> </a:t>
            </a:r>
            <a:r>
              <a:rPr lang="en-US" dirty="0" err="1"/>
              <a:t>ini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2EFAA83-F09B-60BE-F9AB-AA89118F2CE6}"/>
              </a:ext>
            </a:extLst>
          </p:cNvPr>
          <p:cNvPicPr>
            <a:picLocks noGrp="1" noChangeAspect="1" noChangeArrowheads="1"/>
          </p:cNvPicPr>
          <p:nvPr>
            <p:ph type="pic" sz="quarter" idx="10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332" r="-6665"/>
          <a:stretch/>
        </p:blipFill>
        <p:spPr bwMode="auto">
          <a:xfrm>
            <a:off x="0" y="2286677"/>
            <a:ext cx="6632293" cy="3723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55566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32B25-95F9-B0E0-ED34-081638CBA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Instalasi</a:t>
            </a:r>
            <a:r>
              <a:rPr lang="en-US" dirty="0"/>
              <a:t> Python: Windows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99EBDFC0-9590-183C-14DA-66FF9658A5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1350" y="1380067"/>
            <a:ext cx="8369300" cy="5194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24862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C36F6-358A-C6CE-489E-9D77CD3C9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Instalasi</a:t>
            </a:r>
            <a:r>
              <a:rPr lang="en-US" dirty="0"/>
              <a:t> Python: Windows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21295-6E0E-6FDC-57D1-4A366ACDCA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dirty="0" err="1"/>
              <a:t>Apabila</a:t>
            </a:r>
            <a:r>
              <a:rPr lang="en-US" dirty="0"/>
              <a:t> proses </a:t>
            </a:r>
            <a:r>
              <a:rPr lang="en-US" dirty="0" err="1"/>
              <a:t>intalasi</a:t>
            </a:r>
            <a:r>
              <a:rPr lang="en-US" dirty="0"/>
              <a:t> Python </a:t>
            </a:r>
            <a:r>
              <a:rPr lang="en-US" dirty="0" err="1"/>
              <a:t>sudah</a:t>
            </a:r>
            <a:r>
              <a:rPr lang="en-US" dirty="0"/>
              <a:t> </a:t>
            </a:r>
            <a:r>
              <a:rPr lang="en-US" dirty="0" err="1"/>
              <a:t>selesai</a:t>
            </a:r>
            <a:r>
              <a:rPr lang="en-US" dirty="0"/>
              <a:t>, </a:t>
            </a:r>
            <a:r>
              <a:rPr lang="en-US" dirty="0" err="1"/>
              <a:t>buka</a:t>
            </a:r>
            <a:r>
              <a:rPr lang="en-US" dirty="0"/>
              <a:t> Command Prompt </a:t>
            </a:r>
            <a:r>
              <a:rPr lang="en-US" dirty="0" err="1"/>
              <a:t>lalu</a:t>
            </a:r>
            <a:r>
              <a:rPr lang="en-US" dirty="0"/>
              <a:t> </a:t>
            </a:r>
            <a:r>
              <a:rPr lang="en-US" dirty="0" err="1"/>
              <a:t>ketik</a:t>
            </a:r>
            <a:r>
              <a:rPr lang="en-US" dirty="0"/>
              <a:t> python --version </a:t>
            </a:r>
            <a:r>
              <a:rPr lang="en-US" dirty="0" err="1"/>
              <a:t>apabila</a:t>
            </a:r>
            <a:r>
              <a:rPr lang="en-US" dirty="0"/>
              <a:t> </a:t>
            </a:r>
            <a:r>
              <a:rPr lang="en-US" dirty="0" err="1"/>
              <a:t>hasil</a:t>
            </a:r>
            <a:r>
              <a:rPr lang="en-US" dirty="0"/>
              <a:t> yang </a:t>
            </a:r>
            <a:r>
              <a:rPr lang="en-US" dirty="0" err="1"/>
              <a:t>ditampilkan</a:t>
            </a:r>
            <a:r>
              <a:rPr lang="en-US" dirty="0"/>
              <a:t> </a:t>
            </a:r>
            <a:r>
              <a:rPr lang="en-US" dirty="0" err="1"/>
              <a:t>seperti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selamat</a:t>
            </a:r>
            <a:r>
              <a:rPr lang="en-US" dirty="0"/>
              <a:t>! Python </a:t>
            </a:r>
            <a:r>
              <a:rPr lang="en-US" dirty="0" err="1"/>
              <a:t>sudah</a:t>
            </a:r>
            <a:r>
              <a:rPr lang="en-US" dirty="0"/>
              <a:t> </a:t>
            </a:r>
            <a:r>
              <a:rPr lang="en-US" dirty="0" err="1"/>
              <a:t>terpasang</a:t>
            </a:r>
            <a:r>
              <a:rPr lang="en-US" dirty="0"/>
              <a:t> di </a:t>
            </a:r>
            <a:r>
              <a:rPr lang="en-US" dirty="0" err="1"/>
              <a:t>komputer</a:t>
            </a:r>
            <a:r>
              <a:rPr lang="en-US" dirty="0"/>
              <a:t> Anda.</a:t>
            </a: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54EC0773-9691-2E2E-DF9C-F6C25B6EB18B}"/>
              </a:ext>
            </a:extLst>
          </p:cNvPr>
          <p:cNvPicPr>
            <a:picLocks noGrp="1" noChangeAspect="1" noChangeArrowheads="1"/>
          </p:cNvPicPr>
          <p:nvPr>
            <p:ph type="pic" sz="quarter" idx="1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20" b="7320"/>
          <a:stretch/>
        </p:blipFill>
        <p:spPr bwMode="auto">
          <a:xfrm>
            <a:off x="647054" y="2630469"/>
            <a:ext cx="4540250" cy="1782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4988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20337-E7F2-11D8-06B8-27AE4A508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Instalasi</a:t>
            </a:r>
            <a:r>
              <a:rPr lang="en-US" dirty="0"/>
              <a:t> Python: Linux dan MacOS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4FFFFE-4C6A-66BF-6F54-195C801A65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 err="1"/>
              <a:t>Umumnya</a:t>
            </a:r>
            <a:r>
              <a:rPr lang="en-US" dirty="0"/>
              <a:t> Python </a:t>
            </a:r>
            <a:r>
              <a:rPr lang="en-US" dirty="0" err="1"/>
              <a:t>sudah</a:t>
            </a:r>
            <a:r>
              <a:rPr lang="en-US" dirty="0"/>
              <a:t> </a:t>
            </a:r>
            <a:r>
              <a:rPr lang="en-US" dirty="0" err="1"/>
              <a:t>otomatis</a:t>
            </a:r>
            <a:r>
              <a:rPr lang="en-US" dirty="0"/>
              <a:t> </a:t>
            </a:r>
            <a:r>
              <a:rPr lang="en-US" dirty="0" err="1"/>
              <a:t>terpasang</a:t>
            </a:r>
            <a:r>
              <a:rPr lang="en-US" dirty="0"/>
              <a:t> di Linux dan MacOS</a:t>
            </a:r>
          </a:p>
          <a:p>
            <a:pPr>
              <a:lnSpc>
                <a:spcPct val="100000"/>
              </a:lnSpc>
            </a:pP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mengecek</a:t>
            </a:r>
            <a:r>
              <a:rPr lang="en-US" dirty="0"/>
              <a:t> Python yang </a:t>
            </a:r>
            <a:r>
              <a:rPr lang="en-US" dirty="0" err="1"/>
              <a:t>terpasang</a:t>
            </a:r>
            <a:r>
              <a:rPr lang="en-US" dirty="0"/>
              <a:t> pada Linux </a:t>
            </a:r>
            <a:r>
              <a:rPr lang="en-US" dirty="0" err="1"/>
              <a:t>atau</a:t>
            </a:r>
            <a:r>
              <a:rPr lang="en-US" dirty="0"/>
              <a:t> MacOS </a:t>
            </a:r>
            <a:r>
              <a:rPr lang="en-US" dirty="0" err="1"/>
              <a:t>buka</a:t>
            </a:r>
            <a:r>
              <a:rPr lang="en-US" dirty="0"/>
              <a:t> terminal </a:t>
            </a:r>
            <a:r>
              <a:rPr lang="en-US" dirty="0" err="1"/>
              <a:t>lalu</a:t>
            </a:r>
            <a:r>
              <a:rPr lang="en-US" dirty="0"/>
              <a:t> </a:t>
            </a:r>
            <a:r>
              <a:rPr lang="en-US" dirty="0" err="1"/>
              <a:t>ketik</a:t>
            </a:r>
            <a:r>
              <a:rPr lang="en-US" dirty="0"/>
              <a:t> python –version</a:t>
            </a:r>
          </a:p>
          <a:p>
            <a:pPr>
              <a:lnSpc>
                <a:spcPct val="100000"/>
              </a:lnSpc>
            </a:pPr>
            <a:r>
              <a:rPr lang="en-US" dirty="0" err="1"/>
              <a:t>Namun</a:t>
            </a:r>
            <a:r>
              <a:rPr lang="en-US" dirty="0"/>
              <a:t> </a:t>
            </a:r>
            <a:r>
              <a:rPr lang="en-US" dirty="0" err="1"/>
              <a:t>apabila</a:t>
            </a:r>
            <a:r>
              <a:rPr lang="en-US" dirty="0"/>
              <a:t> Python </a:t>
            </a:r>
            <a:r>
              <a:rPr lang="en-US" dirty="0" err="1"/>
              <a:t>belum</a:t>
            </a:r>
            <a:r>
              <a:rPr lang="en-US" dirty="0"/>
              <a:t> </a:t>
            </a:r>
            <a:r>
              <a:rPr lang="en-US" dirty="0" err="1"/>
              <a:t>terinstall</a:t>
            </a:r>
            <a:r>
              <a:rPr lang="en-US" dirty="0"/>
              <a:t> </a:t>
            </a:r>
            <a:r>
              <a:rPr lang="en-US" dirty="0" err="1"/>
              <a:t>bisa</a:t>
            </a:r>
            <a:r>
              <a:rPr lang="en-US" dirty="0"/>
              <a:t> </a:t>
            </a:r>
            <a:r>
              <a:rPr lang="en-US" dirty="0" err="1"/>
              <a:t>melakukan</a:t>
            </a:r>
            <a:r>
              <a:rPr lang="en-US" dirty="0"/>
              <a:t> </a:t>
            </a:r>
            <a:r>
              <a:rPr lang="en-US" dirty="0" err="1"/>
              <a:t>instalasi</a:t>
            </a:r>
            <a:r>
              <a:rPr lang="en-US" dirty="0"/>
              <a:t> Python </a:t>
            </a:r>
            <a:r>
              <a:rPr lang="en-US" dirty="0" err="1"/>
              <a:t>terlebih</a:t>
            </a:r>
            <a:r>
              <a:rPr lang="en-US" dirty="0"/>
              <a:t> </a:t>
            </a:r>
            <a:r>
              <a:rPr lang="en-US" dirty="0" err="1"/>
              <a:t>dahulu</a:t>
            </a:r>
            <a:r>
              <a:rPr lang="en-US" dirty="0"/>
              <a:t> yang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diakses</a:t>
            </a:r>
            <a:r>
              <a:rPr lang="en-US" dirty="0"/>
              <a:t> pada link https://</a:t>
            </a:r>
            <a:r>
              <a:rPr lang="en-US" dirty="0" err="1"/>
              <a:t>www.python.org</a:t>
            </a:r>
            <a:r>
              <a:rPr lang="en-US" dirty="0"/>
              <a:t>/downloads/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AE708016-D7A6-C355-FD5A-42A296540D15}"/>
              </a:ext>
            </a:extLst>
          </p:cNvPr>
          <p:cNvPicPr>
            <a:picLocks noGrp="1" noChangeAspect="1" noChangeArrowheads="1"/>
          </p:cNvPicPr>
          <p:nvPr>
            <p:ph type="pic" sz="quarter" idx="1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196" r="1" b="1281"/>
          <a:stretch/>
        </p:blipFill>
        <p:spPr bwMode="auto">
          <a:xfrm>
            <a:off x="838199" y="2407533"/>
            <a:ext cx="4540251" cy="3009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50768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078B3-ED03-1321-54BF-FA6740869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Setup Python: Visual Studio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3D9B5C-5DC6-0C1E-E096-44E42D1434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110000"/>
              </a:lnSpc>
            </a:pPr>
            <a:r>
              <a:rPr lang="en-US" dirty="0"/>
              <a:t>Download dan install software Visual Studio Code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mengklik</a:t>
            </a:r>
            <a:r>
              <a:rPr lang="en-US" dirty="0"/>
              <a:t> pada </a:t>
            </a:r>
            <a:r>
              <a:rPr lang="en-US" dirty="0" err="1"/>
              <a:t>tautan</a:t>
            </a:r>
            <a:r>
              <a:rPr lang="en-US" dirty="0"/>
              <a:t> https://</a:t>
            </a:r>
            <a:r>
              <a:rPr lang="en-US" dirty="0" err="1"/>
              <a:t>code.visualstudio.com</a:t>
            </a:r>
            <a:r>
              <a:rPr lang="en-US" dirty="0"/>
              <a:t>/download </a:t>
            </a:r>
            <a:r>
              <a:rPr lang="en-US" dirty="0" err="1"/>
              <a:t>sesuaikan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Operating System </a:t>
            </a:r>
            <a:r>
              <a:rPr lang="en-US" dirty="0" err="1"/>
              <a:t>anda</a:t>
            </a:r>
            <a:endParaRPr lang="en-US" dirty="0"/>
          </a:p>
          <a:p>
            <a:pPr>
              <a:lnSpc>
                <a:spcPct val="110000"/>
              </a:lnSpc>
            </a:pPr>
            <a:r>
              <a:rPr lang="en-US" dirty="0" err="1"/>
              <a:t>Apabila</a:t>
            </a:r>
            <a:r>
              <a:rPr lang="en-US" dirty="0"/>
              <a:t> </a:t>
            </a:r>
            <a:r>
              <a:rPr lang="en-US" dirty="0" err="1"/>
              <a:t>sudah</a:t>
            </a:r>
            <a:r>
              <a:rPr lang="en-US" dirty="0"/>
              <a:t> </a:t>
            </a:r>
            <a:r>
              <a:rPr lang="en-US" dirty="0" err="1"/>
              <a:t>selesai</a:t>
            </a:r>
            <a:r>
              <a:rPr lang="en-US" dirty="0"/>
              <a:t>, </a:t>
            </a:r>
            <a:r>
              <a:rPr lang="en-US" dirty="0" err="1"/>
              <a:t>jalankan</a:t>
            </a:r>
            <a:r>
              <a:rPr lang="en-US" dirty="0"/>
              <a:t> program Visual Studio Code</a:t>
            </a:r>
          </a:p>
          <a:p>
            <a:pPr>
              <a:lnSpc>
                <a:spcPct val="110000"/>
              </a:lnSpc>
            </a:pPr>
            <a:r>
              <a:rPr lang="en-US" dirty="0"/>
              <a:t>Anda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membuat</a:t>
            </a:r>
            <a:r>
              <a:rPr lang="en-US" dirty="0"/>
              <a:t> file Python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klik</a:t>
            </a:r>
            <a:r>
              <a:rPr lang="en-US" dirty="0"/>
              <a:t> file -&gt; </a:t>
            </a:r>
            <a:r>
              <a:rPr lang="en-US" dirty="0" err="1"/>
              <a:t>ketik</a:t>
            </a:r>
            <a:r>
              <a:rPr lang="en-US" dirty="0"/>
              <a:t> .</a:t>
            </a:r>
            <a:r>
              <a:rPr lang="en-US" dirty="0" err="1"/>
              <a:t>py</a:t>
            </a:r>
            <a:r>
              <a:rPr lang="en-US" dirty="0"/>
              <a:t> -&gt; </a:t>
            </a:r>
            <a:r>
              <a:rPr lang="en-US" dirty="0" err="1"/>
              <a:t>pilih</a:t>
            </a:r>
            <a:r>
              <a:rPr lang="en-US" dirty="0"/>
              <a:t> folder </a:t>
            </a:r>
            <a:r>
              <a:rPr lang="en-US" dirty="0" err="1"/>
              <a:t>dimana</a:t>
            </a:r>
            <a:r>
              <a:rPr lang="en-US" dirty="0"/>
              <a:t> file </a:t>
            </a:r>
            <a:r>
              <a:rPr lang="en-US" dirty="0" err="1"/>
              <a:t>tersebut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disimpan</a:t>
            </a:r>
            <a:r>
              <a:rPr lang="en-US" dirty="0"/>
              <a:t> -&gt; </a:t>
            </a:r>
            <a:r>
              <a:rPr lang="en-US" dirty="0" err="1"/>
              <a:t>tulis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file. </a:t>
            </a:r>
            <a:r>
              <a:rPr lang="en-US" dirty="0" err="1"/>
              <a:t>Contoh</a:t>
            </a:r>
            <a:r>
              <a:rPr lang="en-US" dirty="0"/>
              <a:t>: </a:t>
            </a:r>
            <a:r>
              <a:rPr lang="en-US" dirty="0" err="1"/>
              <a:t>test.py</a:t>
            </a:r>
            <a:r>
              <a:rPr lang="en-US" dirty="0"/>
              <a:t> -&gt; </a:t>
            </a:r>
            <a:r>
              <a:rPr lang="en-US" dirty="0" err="1"/>
              <a:t>klik</a:t>
            </a:r>
            <a:r>
              <a:rPr lang="en-US" dirty="0"/>
              <a:t> OK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C8D7F57D-1D54-4ABB-1543-C8FFFF302A56}"/>
              </a:ext>
            </a:extLst>
          </p:cNvPr>
          <p:cNvPicPr>
            <a:picLocks noGrp="1" noChangeAspect="1" noChangeArrowheads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15" b="2215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68409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E597F2E-9921-5DB7-B8BF-4BB296E5B8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45DE09E-9EA8-861C-23E2-A66BF621A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Setup Pada Python</a:t>
            </a:r>
          </a:p>
        </p:txBody>
      </p:sp>
    </p:spTree>
    <p:extLst>
      <p:ext uri="{BB962C8B-B14F-4D97-AF65-F5344CB8AC3E}">
        <p14:creationId xmlns:p14="http://schemas.microsoft.com/office/powerpoint/2010/main" val="22566864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8D9DF-5B5D-319D-E0DF-74A7E6BB5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Mode di Python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71F6FAE-3BAF-1C54-F4F4-430425377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F9A6AF3A-8755-FDB6-A280-A21A1263A2E2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2"/>
          <a:srcRect t="-20" b="1053"/>
          <a:stretch/>
        </p:blipFill>
        <p:spPr>
          <a:xfrm>
            <a:off x="838198" y="2078468"/>
            <a:ext cx="2975675" cy="2321169"/>
          </a:xfrm>
          <a:prstGeom prst="rect">
            <a:avLst/>
          </a:prstGeom>
        </p:spPr>
      </p:pic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C5EAC8C6-78AC-AFCA-EFF7-1DC99009507C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3"/>
          <a:srcRect t="2604" b="5284"/>
          <a:stretch/>
        </p:blipFill>
        <p:spPr>
          <a:xfrm>
            <a:off x="4600411" y="1899137"/>
            <a:ext cx="2975675" cy="2321169"/>
          </a:xfrm>
          <a:prstGeom prst="rect">
            <a:avLst/>
          </a:prstGeom>
        </p:spPr>
      </p:pic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51CBA692-198C-66B0-53F5-B7E07830B11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4"/>
          <a:srcRect l="-1" t="-13" r="-1" b="-15"/>
          <a:stretch/>
        </p:blipFill>
        <p:spPr>
          <a:xfrm>
            <a:off x="8408517" y="1914207"/>
            <a:ext cx="2975675" cy="2679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34627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7BA14-D734-BF3D-DDE3-93D7B196A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 Script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4CE554-0746-C97C-FA68-6B5D7E17F3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File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ekstensi</a:t>
            </a:r>
            <a:r>
              <a:rPr lang="en-US" dirty="0"/>
              <a:t> .</a:t>
            </a:r>
            <a:r>
              <a:rPr lang="en-US" dirty="0" err="1"/>
              <a:t>py</a:t>
            </a:r>
            <a:r>
              <a:rPr lang="en-US" dirty="0"/>
              <a:t> </a:t>
            </a:r>
            <a:r>
              <a:rPr lang="en-US" dirty="0" err="1"/>
              <a:t>dieksekusi</a:t>
            </a:r>
            <a:r>
              <a:rPr lang="en-US" dirty="0"/>
              <a:t> </a:t>
            </a:r>
            <a:r>
              <a:rPr lang="en-US" dirty="0" err="1"/>
              <a:t>melalui</a:t>
            </a:r>
            <a:r>
              <a:rPr lang="en-US" dirty="0"/>
              <a:t> terminal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menuliskan</a:t>
            </a:r>
            <a:r>
              <a:rPr lang="en-US" dirty="0"/>
              <a:t> python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nama_file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&gt;.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py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/>
              <a:t>atau</a:t>
            </a:r>
            <a:r>
              <a:rPr lang="en-US" dirty="0"/>
              <a:t> python3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nama_file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&gt;.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py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/>
              <a:t>seperti</a:t>
            </a:r>
            <a:r>
              <a:rPr lang="en-US" dirty="0"/>
              <a:t> pada </a:t>
            </a:r>
            <a:r>
              <a:rPr lang="en-US" dirty="0" err="1"/>
              <a:t>gambar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. </a:t>
            </a:r>
            <a:r>
              <a:rPr lang="en-US" dirty="0" err="1"/>
              <a:t>Kemudian</a:t>
            </a:r>
            <a:r>
              <a:rPr lang="en-US" dirty="0"/>
              <a:t> output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ditampilkan</a:t>
            </a:r>
            <a:r>
              <a:rPr lang="en-US" dirty="0"/>
              <a:t> di terminal</a:t>
            </a:r>
          </a:p>
          <a:p>
            <a:pPr marL="0" indent="0">
              <a:buNone/>
            </a:pP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pic>
        <p:nvPicPr>
          <p:cNvPr id="1029" name="Picture 5">
            <a:extLst>
              <a:ext uri="{FF2B5EF4-FFF2-40B4-BE49-F238E27FC236}">
                <a16:creationId xmlns:a16="http://schemas.microsoft.com/office/drawing/2014/main" id="{F2CAF331-EAAA-B75A-58B2-0D3FE125D78C}"/>
              </a:ext>
            </a:extLst>
          </p:cNvPr>
          <p:cNvPicPr>
            <a:picLocks noGrp="1" noChangeAspect="1" noChangeArrowheads="1"/>
          </p:cNvPicPr>
          <p:nvPr>
            <p:ph type="pic" sz="quarter" idx="1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595" r="468"/>
          <a:stretch/>
        </p:blipFill>
        <p:spPr bwMode="auto">
          <a:xfrm>
            <a:off x="838199" y="1690688"/>
            <a:ext cx="3986542" cy="2208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1" name="Picture 7">
            <a:extLst>
              <a:ext uri="{FF2B5EF4-FFF2-40B4-BE49-F238E27FC236}">
                <a16:creationId xmlns:a16="http://schemas.microsoft.com/office/drawing/2014/main" id="{2BDFA204-3B2F-E21A-EFF8-8556513D4512}"/>
              </a:ext>
            </a:extLst>
          </p:cNvPr>
          <p:cNvPicPr>
            <a:picLocks noGrp="1" noChangeAspect="1" noChangeArrowheads="1"/>
          </p:cNvPicPr>
          <p:nvPr>
            <p:ph type="pic" sz="quarter" idx="12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7" r="12137" b="-202"/>
          <a:stretch/>
        </p:blipFill>
        <p:spPr bwMode="auto">
          <a:xfrm>
            <a:off x="838199" y="4210259"/>
            <a:ext cx="3989196" cy="2282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451897B-C2D5-FF11-87F4-5182CC36FDB5}"/>
              </a:ext>
            </a:extLst>
          </p:cNvPr>
          <p:cNvSpPr txBox="1"/>
          <p:nvPr/>
        </p:nvSpPr>
        <p:spPr>
          <a:xfrm>
            <a:off x="647054" y="3503023"/>
            <a:ext cx="4316832" cy="369332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>
            <a:spAutoFit/>
          </a:bodyPr>
          <a:lstStyle/>
          <a:p>
            <a:r>
              <a:rPr lang="en-ID" b="0" i="0" u="none" strike="noStrike" dirty="0">
                <a:solidFill>
                  <a:srgbClr val="000000"/>
                </a:solidFill>
                <a:effectLst/>
              </a:rPr>
              <a:t> 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015183-546D-8B02-9D2F-E81FC8673CED}"/>
              </a:ext>
            </a:extLst>
          </p:cNvPr>
          <p:cNvSpPr txBox="1"/>
          <p:nvPr/>
        </p:nvSpPr>
        <p:spPr>
          <a:xfrm>
            <a:off x="647054" y="5815819"/>
            <a:ext cx="4316832" cy="92333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>
            <a:spAutoFit/>
          </a:bodyPr>
          <a:lstStyle/>
          <a:p>
            <a:r>
              <a:rPr lang="en-ID" b="0" i="0" u="none" strike="noStrike" dirty="0">
                <a:solidFill>
                  <a:srgbClr val="000000"/>
                </a:solidFill>
                <a:effectLst/>
              </a:rPr>
              <a:t> </a:t>
            </a:r>
          </a:p>
          <a:p>
            <a:endParaRPr lang="en-ID" dirty="0">
              <a:solidFill>
                <a:srgbClr val="000000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6029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6E691F6-98E8-E0E9-9D76-2B33DBDED8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802DE0C-BDE4-6805-AA63-C514DA929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Syntax Dasar Python</a:t>
            </a:r>
          </a:p>
        </p:txBody>
      </p:sp>
    </p:spTree>
    <p:extLst>
      <p:ext uri="{BB962C8B-B14F-4D97-AF65-F5344CB8AC3E}">
        <p14:creationId xmlns:p14="http://schemas.microsoft.com/office/powerpoint/2010/main" val="4871369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769FD-629A-B309-22E6-7A7797577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Sintax</a:t>
            </a:r>
            <a:r>
              <a:rPr lang="en-US" dirty="0"/>
              <a:t> Dasar: Print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890ECD-CC9A-FE1A-2539-8767A16065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427" y="2202365"/>
            <a:ext cx="8426380" cy="3775656"/>
          </a:xfrm>
        </p:spPr>
        <p:txBody>
          <a:bodyPr>
            <a:normAutofit lnSpcReduction="10000"/>
          </a:bodyPr>
          <a:lstStyle/>
          <a:p>
            <a:r>
              <a:rPr lang="en-US" sz="2400" dirty="0" err="1"/>
              <a:t>Dalam</a:t>
            </a:r>
            <a:r>
              <a:rPr lang="en-US" sz="2400" dirty="0"/>
              <a:t> </a:t>
            </a:r>
            <a:r>
              <a:rPr lang="en-US" sz="2400" dirty="0" err="1"/>
              <a:t>pemograman</a:t>
            </a:r>
            <a:r>
              <a:rPr lang="en-US" sz="2400" dirty="0"/>
              <a:t> Python </a:t>
            </a:r>
            <a:r>
              <a:rPr lang="en-US" sz="2400" dirty="0" err="1"/>
              <a:t>tidak</a:t>
            </a:r>
            <a:r>
              <a:rPr lang="en-US" sz="2400" dirty="0"/>
              <a:t> </a:t>
            </a:r>
            <a:r>
              <a:rPr lang="en-US" sz="2400" dirty="0" err="1"/>
              <a:t>diperlukan</a:t>
            </a:r>
            <a:r>
              <a:rPr lang="en-US" sz="2400" dirty="0"/>
              <a:t> </a:t>
            </a:r>
            <a:r>
              <a:rPr lang="en-US" sz="2400" dirty="0" err="1"/>
              <a:t>titik</a:t>
            </a:r>
            <a:r>
              <a:rPr lang="en-US" sz="2400" dirty="0"/>
              <a:t> </a:t>
            </a:r>
            <a:r>
              <a:rPr lang="en-US" sz="2400" dirty="0" err="1"/>
              <a:t>koma</a:t>
            </a:r>
            <a:r>
              <a:rPr lang="en-US" sz="2400" dirty="0"/>
              <a:t> (;) di </a:t>
            </a:r>
            <a:r>
              <a:rPr lang="en-US" sz="2400" dirty="0" err="1"/>
              <a:t>akhir</a:t>
            </a:r>
            <a:r>
              <a:rPr lang="en-US" sz="2400" dirty="0"/>
              <a:t> </a:t>
            </a:r>
            <a:r>
              <a:rPr lang="en-US" sz="2400" dirty="0" err="1"/>
              <a:t>kode</a:t>
            </a:r>
            <a:endParaRPr lang="en-US" sz="2400" dirty="0"/>
          </a:p>
          <a:p>
            <a:r>
              <a:rPr lang="en-US" sz="2400" dirty="0" err="1"/>
              <a:t>Perintah</a:t>
            </a:r>
            <a:r>
              <a:rPr lang="en-US" sz="2400" dirty="0"/>
              <a:t> 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print()</a:t>
            </a:r>
            <a:r>
              <a:rPr lang="en-US" sz="2400" dirty="0"/>
              <a:t> strings </a:t>
            </a:r>
            <a:r>
              <a:rPr lang="en-US" sz="2400" dirty="0" err="1"/>
              <a:t>dalam</a:t>
            </a:r>
            <a:r>
              <a:rPr lang="en-US" sz="2400" dirty="0"/>
              <a:t> Python </a:t>
            </a:r>
            <a:r>
              <a:rPr lang="en-US" sz="2400" dirty="0" err="1"/>
              <a:t>dilakukan</a:t>
            </a:r>
            <a:r>
              <a:rPr lang="en-US" sz="2400" dirty="0"/>
              <a:t> </a:t>
            </a:r>
            <a:r>
              <a:rPr lang="en-US" sz="2400" dirty="0" err="1"/>
              <a:t>dengan</a:t>
            </a:r>
            <a:r>
              <a:rPr lang="en-US" sz="2400" dirty="0"/>
              <a:t> </a:t>
            </a:r>
            <a:r>
              <a:rPr lang="en-US" sz="2400" dirty="0" err="1"/>
              <a:t>menggunakan</a:t>
            </a:r>
            <a:r>
              <a:rPr lang="en-US" sz="2400" dirty="0"/>
              <a:t> </a:t>
            </a:r>
            <a:r>
              <a:rPr lang="en-US" sz="2400" dirty="0" err="1"/>
              <a:t>kutip</a:t>
            </a:r>
            <a:r>
              <a:rPr lang="en-US" sz="2400" dirty="0"/>
              <a:t> </a:t>
            </a:r>
            <a:r>
              <a:rPr lang="en-US" sz="2400" dirty="0" err="1"/>
              <a:t>satu</a:t>
            </a:r>
            <a:r>
              <a:rPr lang="en-US" sz="2400" dirty="0"/>
              <a:t> </a:t>
            </a:r>
            <a:r>
              <a:rPr lang="en-US" sz="2400" dirty="0" err="1"/>
              <a:t>atau</a:t>
            </a:r>
            <a:r>
              <a:rPr lang="en-US" sz="2400" dirty="0"/>
              <a:t> </a:t>
            </a:r>
            <a:r>
              <a:rPr lang="en-US" sz="2400" dirty="0" err="1"/>
              <a:t>dua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br>
              <a:rPr lang="en-US" sz="2400" dirty="0"/>
            </a:br>
            <a:br>
              <a:rPr lang="en-US" sz="2400" dirty="0"/>
            </a:b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Operator </a:t>
            </a:r>
            <a:r>
              <a:rPr lang="en-US" sz="2400" dirty="0" err="1"/>
              <a:t>aritmatika</a:t>
            </a:r>
            <a:r>
              <a:rPr lang="en-US" sz="2400" dirty="0"/>
              <a:t> </a:t>
            </a:r>
            <a:r>
              <a:rPr lang="en-US" sz="2400" dirty="0" err="1"/>
              <a:t>dapat</a:t>
            </a:r>
            <a:r>
              <a:rPr lang="en-US" sz="2400" dirty="0"/>
              <a:t> </a:t>
            </a:r>
            <a:r>
              <a:rPr lang="en-US" sz="2400" dirty="0" err="1"/>
              <a:t>dilakukan</a:t>
            </a:r>
            <a:r>
              <a:rPr lang="en-US" sz="2400" dirty="0"/>
              <a:t> di </a:t>
            </a:r>
            <a:r>
              <a:rPr lang="en-US" sz="2400" dirty="0" err="1"/>
              <a:t>perintah</a:t>
            </a:r>
            <a:r>
              <a:rPr lang="en-US" sz="2400" dirty="0"/>
              <a:t> 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print()</a:t>
            </a:r>
            <a:r>
              <a:rPr lang="en-US" sz="2400" dirty="0"/>
              <a:t> </a:t>
            </a:r>
            <a:r>
              <a:rPr lang="en-US" sz="2400" dirty="0" err="1"/>
              <a:t>untuk</a:t>
            </a:r>
            <a:r>
              <a:rPr lang="en-US" sz="2400" dirty="0"/>
              <a:t> strings.</a:t>
            </a:r>
          </a:p>
          <a:p>
            <a:pPr marL="0" indent="0">
              <a:buNone/>
            </a:pPr>
            <a:endParaRPr lang="en-US" sz="24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B030D8C3-B892-4599-A92A-CC17175934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0487" y="3664211"/>
            <a:ext cx="4692441" cy="1250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2B655EFB-DE6D-A0B2-4597-F991CD8148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6057" y="5747534"/>
            <a:ext cx="6629120" cy="629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75478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C2944-6097-45CA-88EE-A94D4FCB1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Sintax</a:t>
            </a:r>
            <a:r>
              <a:rPr lang="en-US" dirty="0"/>
              <a:t> Dasar: Print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80E976-46E4-1C49-C9EA-8DF849641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Perintah</a:t>
            </a:r>
            <a:r>
              <a:rPr lang="en-US" dirty="0"/>
              <a:t>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print() </a:t>
            </a:r>
            <a:r>
              <a:rPr lang="en-US" dirty="0"/>
              <a:t>juga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melakukan</a:t>
            </a:r>
            <a:r>
              <a:rPr lang="en-US" dirty="0"/>
              <a:t> </a:t>
            </a:r>
            <a:r>
              <a:rPr lang="en-US" dirty="0" err="1"/>
              <a:t>aritmatika</a:t>
            </a:r>
            <a:r>
              <a:rPr lang="en-US" dirty="0"/>
              <a:t> </a:t>
            </a:r>
            <a:r>
              <a:rPr lang="en-US" dirty="0" err="1"/>
              <a:t>sederhana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numeric 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4CB7B629-2DC0-70C7-4AF1-81D2751BBB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168" y="3519365"/>
            <a:ext cx="8051800" cy="2070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62239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C0B97-7D3C-A67C-508F-0091AFCB7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Sintax</a:t>
            </a:r>
            <a:r>
              <a:rPr lang="en-US" dirty="0"/>
              <a:t> Dasar: Comment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CEA60F-507C-71B6-13C9-B36AF90F40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Comment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menjelaskan</a:t>
            </a:r>
            <a:r>
              <a:rPr lang="en-US" dirty="0"/>
              <a:t> </a:t>
            </a:r>
            <a:r>
              <a:rPr lang="en-US" dirty="0" err="1"/>
              <a:t>kode</a:t>
            </a:r>
            <a:r>
              <a:rPr lang="en-US" dirty="0"/>
              <a:t> Python, </a:t>
            </a:r>
            <a:r>
              <a:rPr lang="en-US" dirty="0" err="1"/>
              <a:t>membuat</a:t>
            </a:r>
            <a:r>
              <a:rPr lang="en-US" dirty="0"/>
              <a:t> </a:t>
            </a:r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mudah</a:t>
            </a:r>
            <a:r>
              <a:rPr lang="en-US" dirty="0"/>
              <a:t> </a:t>
            </a:r>
            <a:r>
              <a:rPr lang="en-US" dirty="0" err="1"/>
              <a:t>dibaca</a:t>
            </a:r>
            <a:r>
              <a:rPr lang="en-US" dirty="0"/>
              <a:t> dan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mencegah</a:t>
            </a:r>
            <a:r>
              <a:rPr lang="en-US" dirty="0"/>
              <a:t> </a:t>
            </a:r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dieksekusi</a:t>
            </a:r>
            <a:r>
              <a:rPr lang="en-US" dirty="0"/>
              <a:t> </a:t>
            </a:r>
            <a:r>
              <a:rPr lang="en-US" dirty="0" err="1"/>
              <a:t>saat</a:t>
            </a:r>
            <a:r>
              <a:rPr lang="en-US" dirty="0"/>
              <a:t> </a:t>
            </a:r>
            <a:r>
              <a:rPr lang="en-US" dirty="0" err="1"/>
              <a:t>sedang</a:t>
            </a:r>
            <a:r>
              <a:rPr lang="en-US" dirty="0"/>
              <a:t> </a:t>
            </a:r>
            <a:r>
              <a:rPr lang="en-US" dirty="0" err="1"/>
              <a:t>menguji</a:t>
            </a:r>
            <a:r>
              <a:rPr lang="en-US" dirty="0"/>
              <a:t> </a:t>
            </a:r>
            <a:r>
              <a:rPr lang="en-US" dirty="0" err="1"/>
              <a:t>kode</a:t>
            </a:r>
            <a:r>
              <a:rPr lang="en-US" dirty="0"/>
              <a:t>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0C39E132-5C44-ACBF-FC25-3517F43098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5748" y="4145496"/>
            <a:ext cx="7154287" cy="1647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82404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F4F3E-9E38-2EBA-EECD-F5C012B8E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376138" cy="1325563"/>
          </a:xfrm>
        </p:spPr>
        <p:txBody>
          <a:bodyPr>
            <a:normAutofit/>
          </a:bodyPr>
          <a:lstStyle/>
          <a:p>
            <a:r>
              <a:rPr lang="en-US" dirty="0" err="1"/>
              <a:t>Sintax</a:t>
            </a:r>
            <a:r>
              <a:rPr lang="en-US" dirty="0"/>
              <a:t> Dasar: Multi Line Comment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99688C-397B-74C6-D201-FE4DBA460F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menulis</a:t>
            </a:r>
            <a:r>
              <a:rPr lang="en-US" dirty="0"/>
              <a:t> </a:t>
            </a:r>
            <a:r>
              <a:rPr lang="en-US" dirty="0" err="1"/>
              <a:t>komentar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satu</a:t>
            </a:r>
            <a:r>
              <a:rPr lang="en-US" dirty="0"/>
              <a:t> baris,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tiga</a:t>
            </a:r>
            <a:r>
              <a:rPr lang="en-US" dirty="0"/>
              <a:t> </a:t>
            </a:r>
            <a:r>
              <a:rPr lang="en-US" dirty="0" err="1"/>
              <a:t>buah</a:t>
            </a:r>
            <a:r>
              <a:rPr lang="en-US" dirty="0"/>
              <a:t> </a:t>
            </a:r>
            <a:r>
              <a:rPr lang="en-US" dirty="0" err="1"/>
              <a:t>kutip</a:t>
            </a:r>
            <a:r>
              <a:rPr lang="en-US" dirty="0"/>
              <a:t> </a:t>
            </a:r>
            <a:r>
              <a:rPr lang="en-US" dirty="0" err="1"/>
              <a:t>dua</a:t>
            </a:r>
            <a:r>
              <a:rPr lang="en-US" dirty="0"/>
              <a:t> (“) </a:t>
            </a:r>
            <a:r>
              <a:rPr lang="en-US" dirty="0" err="1"/>
              <a:t>seperti</a:t>
            </a:r>
            <a:r>
              <a:rPr lang="en-US" dirty="0"/>
              <a:t> </a:t>
            </a:r>
            <a:r>
              <a:rPr lang="en-US" dirty="0" err="1"/>
              <a:t>gambar</a:t>
            </a:r>
            <a:r>
              <a:rPr lang="en-US" dirty="0"/>
              <a:t> di </a:t>
            </a:r>
            <a:r>
              <a:rPr lang="en-US" dirty="0" err="1"/>
              <a:t>bawah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.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0E8A9F4C-9031-B34B-A327-BB37F5B9DC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7301" y="3835945"/>
            <a:ext cx="6480698" cy="2194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25189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B4D2A3D-AD0D-F335-ADC1-2ABA17F1E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 1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CD46D6-A983-FFCD-3F12-25110484F2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Bahasa </a:t>
            </a:r>
            <a:r>
              <a:rPr lang="en-US" dirty="0" err="1"/>
              <a:t>pemograman</a:t>
            </a:r>
            <a:r>
              <a:rPr lang="en-US" dirty="0"/>
              <a:t> Python </a:t>
            </a:r>
            <a:r>
              <a:rPr lang="en-US" dirty="0" err="1"/>
              <a:t>mewajibkan</a:t>
            </a:r>
            <a:r>
              <a:rPr lang="en-US" dirty="0"/>
              <a:t> </a:t>
            </a:r>
            <a:r>
              <a:rPr lang="en-US" dirty="0" err="1"/>
              <a:t>titik</a:t>
            </a:r>
            <a:r>
              <a:rPr lang="en-US" dirty="0"/>
              <a:t> </a:t>
            </a:r>
            <a:r>
              <a:rPr lang="en-US" dirty="0" err="1"/>
              <a:t>koma</a:t>
            </a:r>
            <a:r>
              <a:rPr lang="en-US" dirty="0"/>
              <a:t> (;) di </a:t>
            </a:r>
            <a:r>
              <a:rPr lang="en-US" dirty="0" err="1"/>
              <a:t>akhir</a:t>
            </a:r>
            <a:r>
              <a:rPr lang="en-US" dirty="0"/>
              <a:t> </a:t>
            </a:r>
            <a:r>
              <a:rPr lang="en-US" dirty="0" err="1"/>
              <a:t>kode</a:t>
            </a:r>
            <a:endParaRPr lang="en-US" dirty="0"/>
          </a:p>
          <a:p>
            <a:pPr marL="514350" indent="-514350">
              <a:buFont typeface="+mj-lt"/>
              <a:buAutoNum type="alphaLcPeriod"/>
            </a:pPr>
            <a:r>
              <a:rPr lang="en-US" dirty="0" err="1"/>
              <a:t>Benar</a:t>
            </a:r>
            <a:endParaRPr lang="en-US" dirty="0"/>
          </a:p>
          <a:p>
            <a:pPr marL="514350" indent="-514350">
              <a:buFont typeface="+mj-lt"/>
              <a:buAutoNum type="alphaLcPeriod"/>
            </a:pPr>
            <a:r>
              <a:rPr lang="en-US" dirty="0"/>
              <a:t>Salah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2. </a:t>
            </a:r>
            <a:r>
              <a:rPr lang="en-US" dirty="0" err="1"/>
              <a:t>Apa</a:t>
            </a:r>
            <a:r>
              <a:rPr lang="en-US" dirty="0"/>
              <a:t> output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kode</a:t>
            </a:r>
            <a:r>
              <a:rPr lang="en-US" dirty="0"/>
              <a:t> print("Hello, World!" * 2) </a:t>
            </a:r>
          </a:p>
          <a:p>
            <a:pPr marL="514350" indent="-514350">
              <a:buFont typeface="+mj-lt"/>
              <a:buAutoNum type="alphaLcPeriod"/>
            </a:pPr>
            <a:r>
              <a:rPr lang="en-US" dirty="0"/>
              <a:t>Error</a:t>
            </a:r>
          </a:p>
          <a:p>
            <a:pPr marL="514350" indent="-514350">
              <a:buFont typeface="+mj-lt"/>
              <a:buAutoNum type="alphaLcPeriod"/>
            </a:pPr>
            <a:r>
              <a:rPr lang="en-US" dirty="0"/>
              <a:t>Hello, World</a:t>
            </a:r>
          </a:p>
          <a:p>
            <a:pPr marL="514350" indent="-514350">
              <a:buFont typeface="+mj-lt"/>
              <a:buAutoNum type="alphaLcPeriod"/>
            </a:pPr>
            <a:r>
              <a:rPr lang="en-US" dirty="0"/>
              <a:t>Hello, </a:t>
            </a:r>
            <a:r>
              <a:rPr lang="en-US" dirty="0" err="1"/>
              <a:t>World!Hello</a:t>
            </a:r>
            <a:r>
              <a:rPr lang="en-US" dirty="0"/>
              <a:t>, World!</a:t>
            </a:r>
          </a:p>
          <a:p>
            <a:pPr marL="514350" indent="-514350">
              <a:buFont typeface="+mj-lt"/>
              <a:buAutoNum type="alphaLcPeriod"/>
            </a:pPr>
            <a:r>
              <a:rPr lang="en-US" dirty="0"/>
              <a:t>Hello, World! Hello, World!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45042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49393BE-D8D2-3140-1F8A-49935CD88D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1F70C5D-8862-84BD-4B16-5C59073FA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Variabel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08222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05F77-2ECD-1554-D97F-A4EB557B8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D5AA62-9900-2F1E-DA72-EEEF2AB07F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Variabel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tempat</a:t>
            </a:r>
            <a:r>
              <a:rPr lang="en-US" dirty="0"/>
              <a:t> </a:t>
            </a:r>
            <a:r>
              <a:rPr lang="en-US" dirty="0" err="1"/>
              <a:t>penyimpanan</a:t>
            </a:r>
            <a:r>
              <a:rPr lang="en-US" dirty="0"/>
              <a:t> data yang </a:t>
            </a:r>
            <a:r>
              <a:rPr lang="en-US" dirty="0" err="1"/>
              <a:t>nilainya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berubah</a:t>
            </a:r>
            <a:r>
              <a:rPr lang="en-US" dirty="0"/>
              <a:t> (mutable)</a:t>
            </a:r>
          </a:p>
          <a:p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perlu</a:t>
            </a:r>
            <a:r>
              <a:rPr lang="en-US" dirty="0"/>
              <a:t> </a:t>
            </a:r>
            <a:r>
              <a:rPr lang="en-US" dirty="0" err="1"/>
              <a:t>mendeklarasikan</a:t>
            </a:r>
            <a:r>
              <a:rPr lang="en-US" dirty="0"/>
              <a:t> </a:t>
            </a:r>
            <a:r>
              <a:rPr lang="en-US" dirty="0" err="1"/>
              <a:t>tipe</a:t>
            </a:r>
            <a:r>
              <a:rPr lang="en-US" dirty="0"/>
              <a:t> </a:t>
            </a:r>
            <a:r>
              <a:rPr lang="en-US" dirty="0" err="1"/>
              <a:t>datanya</a:t>
            </a:r>
            <a:r>
              <a:rPr lang="en-US" dirty="0"/>
              <a:t> (</a:t>
            </a:r>
            <a:r>
              <a:rPr lang="en-US" dirty="0" err="1"/>
              <a:t>walaupun</a:t>
            </a:r>
            <a:r>
              <a:rPr lang="en-US" dirty="0"/>
              <a:t> </a:t>
            </a:r>
            <a:r>
              <a:rPr lang="en-US" dirty="0" err="1"/>
              <a:t>bisa</a:t>
            </a:r>
            <a:r>
              <a:rPr lang="en-US" dirty="0"/>
              <a:t> </a:t>
            </a:r>
            <a:r>
              <a:rPr lang="en-US" dirty="0" err="1"/>
              <a:t>dilakukan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		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nama_variable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&lt;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nilai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pic>
        <p:nvPicPr>
          <p:cNvPr id="6149" name="Picture 5">
            <a:extLst>
              <a:ext uri="{FF2B5EF4-FFF2-40B4-BE49-F238E27FC236}">
                <a16:creationId xmlns:a16="http://schemas.microsoft.com/office/drawing/2014/main" id="{04415C33-0C72-1FEC-B2F4-C6154491FA4E}"/>
              </a:ext>
            </a:extLst>
          </p:cNvPr>
          <p:cNvPicPr>
            <a:picLocks noGrp="1" noChangeAspect="1" noChangeArrowheads="1"/>
          </p:cNvPicPr>
          <p:nvPr>
            <p:ph type="pic" sz="quarter" idx="1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4" r="34753"/>
          <a:stretch/>
        </p:blipFill>
        <p:spPr bwMode="auto">
          <a:xfrm>
            <a:off x="435608" y="2180915"/>
            <a:ext cx="5075582" cy="1782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1" name="Picture 7">
            <a:extLst>
              <a:ext uri="{FF2B5EF4-FFF2-40B4-BE49-F238E27FC236}">
                <a16:creationId xmlns:a16="http://schemas.microsoft.com/office/drawing/2014/main" id="{78B6A621-A6F4-5529-7DE7-18EDC8663FEB}"/>
              </a:ext>
            </a:extLst>
          </p:cNvPr>
          <p:cNvPicPr>
            <a:picLocks noGrp="1" noChangeAspect="1" noChangeArrowheads="1"/>
          </p:cNvPicPr>
          <p:nvPr>
            <p:ph type="pic" sz="quarter" idx="12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68" r="35736"/>
          <a:stretch/>
        </p:blipFill>
        <p:spPr bwMode="auto">
          <a:xfrm>
            <a:off x="601260" y="4453905"/>
            <a:ext cx="4744278" cy="1782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44655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40BFF-054D-38C1-A23C-5F488728C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Variabel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B9453E-3E29-D50B-EC3E-8AECBD570E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dirty="0"/>
              <a:t>Ada </a:t>
            </a:r>
            <a:r>
              <a:rPr lang="en-US" dirty="0" err="1"/>
              <a:t>beberapa</a:t>
            </a:r>
            <a:r>
              <a:rPr lang="en-US" dirty="0"/>
              <a:t> </a:t>
            </a:r>
            <a:r>
              <a:rPr lang="en-US" dirty="0" err="1"/>
              <a:t>aturan</a:t>
            </a:r>
            <a:r>
              <a:rPr lang="en-US" dirty="0"/>
              <a:t> </a:t>
            </a:r>
            <a:r>
              <a:rPr lang="en-US" dirty="0" err="1"/>
              <a:t>memberi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variable di Python, </a:t>
            </a:r>
            <a:r>
              <a:rPr lang="en-US" dirty="0" err="1"/>
              <a:t>antara</a:t>
            </a:r>
            <a:r>
              <a:rPr lang="en-US" dirty="0"/>
              <a:t> lain:</a:t>
            </a:r>
          </a:p>
          <a:p>
            <a:pPr>
              <a:lnSpc>
                <a:spcPct val="110000"/>
              </a:lnSpc>
            </a:pPr>
            <a:r>
              <a:rPr lang="en-US" dirty="0"/>
              <a:t>Nama variable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dimulai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huruf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underscore, </a:t>
            </a:r>
            <a:r>
              <a:rPr lang="en-US" b="1" dirty="0" err="1"/>
              <a:t>tidak</a:t>
            </a:r>
            <a:r>
              <a:rPr lang="en-US" dirty="0"/>
              <a:t> </a:t>
            </a:r>
            <a:r>
              <a:rPr lang="en-US" dirty="0" err="1"/>
              <a:t>bisa</a:t>
            </a:r>
            <a:r>
              <a:rPr lang="en-US" dirty="0"/>
              <a:t> </a:t>
            </a:r>
            <a:r>
              <a:rPr lang="en-US" dirty="0" err="1"/>
              <a:t>dimulai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angka</a:t>
            </a:r>
            <a:endParaRPr lang="en-US" dirty="0"/>
          </a:p>
          <a:p>
            <a:pPr>
              <a:lnSpc>
                <a:spcPct val="110000"/>
              </a:lnSpc>
            </a:pPr>
            <a:r>
              <a:rPr lang="en-US" dirty="0"/>
              <a:t>Nama variable </a:t>
            </a:r>
            <a:r>
              <a:rPr lang="en-US" dirty="0" err="1"/>
              <a:t>hanya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mengandung</a:t>
            </a:r>
            <a:r>
              <a:rPr lang="en-US" dirty="0"/>
              <a:t> </a:t>
            </a:r>
            <a:r>
              <a:rPr lang="en-US" dirty="0" err="1"/>
              <a:t>huruf</a:t>
            </a:r>
            <a:r>
              <a:rPr lang="en-US" dirty="0"/>
              <a:t>, </a:t>
            </a:r>
            <a:r>
              <a:rPr lang="en-US" dirty="0" err="1"/>
              <a:t>angka</a:t>
            </a:r>
            <a:r>
              <a:rPr lang="en-US" dirty="0"/>
              <a:t>, dan underscore (A-z, 0-9, dan _)</a:t>
            </a:r>
          </a:p>
          <a:p>
            <a:pPr>
              <a:lnSpc>
                <a:spcPct val="110000"/>
              </a:lnSpc>
            </a:pPr>
            <a:r>
              <a:rPr lang="en-US" dirty="0"/>
              <a:t>Nama variable </a:t>
            </a:r>
            <a:r>
              <a:rPr lang="en-US" dirty="0" err="1"/>
              <a:t>bersifat</a:t>
            </a:r>
            <a:r>
              <a:rPr lang="en-US" dirty="0"/>
              <a:t> case-sensitive (</a:t>
            </a:r>
            <a:r>
              <a:rPr lang="en-US" dirty="0" err="1"/>
              <a:t>contoh</a:t>
            </a:r>
            <a:r>
              <a:rPr lang="en-US" dirty="0"/>
              <a:t>: </a:t>
            </a:r>
            <a:r>
              <a:rPr lang="en-US" dirty="0" err="1"/>
              <a:t>nama</a:t>
            </a:r>
            <a:r>
              <a:rPr lang="en-US" dirty="0"/>
              <a:t>, Nama, dan NAMA masing- masing </a:t>
            </a:r>
            <a:r>
              <a:rPr lang="en-US" dirty="0" err="1"/>
              <a:t>merupakan</a:t>
            </a:r>
            <a:r>
              <a:rPr lang="en-US" dirty="0"/>
              <a:t> variable yang </a:t>
            </a:r>
            <a:r>
              <a:rPr lang="en-US" dirty="0" err="1"/>
              <a:t>berbeda</a:t>
            </a:r>
            <a:r>
              <a:rPr lang="en-US" dirty="0"/>
              <a:t>)</a:t>
            </a:r>
          </a:p>
          <a:p>
            <a:pPr>
              <a:lnSpc>
                <a:spcPct val="110000"/>
              </a:lnSpc>
            </a:pP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boleh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 </a:t>
            </a:r>
            <a:r>
              <a:rPr lang="en-US" dirty="0" err="1"/>
              <a:t>spasi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variable 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A6E14669-BDF5-44DE-2D7B-E785FBC7E1CF}"/>
              </a:ext>
            </a:extLst>
          </p:cNvPr>
          <p:cNvPicPr>
            <a:picLocks noGrp="1" noChangeAspect="1" noChangeArrowheads="1"/>
          </p:cNvPicPr>
          <p:nvPr>
            <p:ph type="pic" sz="quarter" idx="10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" r="34514"/>
          <a:stretch/>
        </p:blipFill>
        <p:spPr bwMode="auto">
          <a:xfrm>
            <a:off x="150725" y="3245618"/>
            <a:ext cx="6061124" cy="2060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91897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85D4E-095B-9E6F-EFEA-7C4333F2A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Variabel</a:t>
            </a:r>
            <a:r>
              <a:rPr lang="en-US" dirty="0"/>
              <a:t>: Casting </a:t>
            </a:r>
            <a:r>
              <a:rPr lang="en-US" dirty="0" err="1"/>
              <a:t>Variabel</a:t>
            </a:r>
            <a:r>
              <a:rPr lang="en-US" dirty="0"/>
              <a:t>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67FC8A-51B8-8A4F-6DEF-F2DF3D471E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Jika </a:t>
            </a:r>
            <a:r>
              <a:rPr lang="en-US" dirty="0" err="1"/>
              <a:t>anda</a:t>
            </a:r>
            <a:r>
              <a:rPr lang="en-US" dirty="0"/>
              <a:t> </a:t>
            </a:r>
            <a:r>
              <a:rPr lang="en-US" dirty="0" err="1"/>
              <a:t>ingin</a:t>
            </a:r>
            <a:r>
              <a:rPr lang="en-US" dirty="0"/>
              <a:t> </a:t>
            </a:r>
            <a:r>
              <a:rPr lang="en-US" dirty="0" err="1"/>
              <a:t>membuat</a:t>
            </a:r>
            <a:r>
              <a:rPr lang="en-US" dirty="0"/>
              <a:t> variable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menentukan</a:t>
            </a:r>
            <a:r>
              <a:rPr lang="en-US" dirty="0"/>
              <a:t> </a:t>
            </a:r>
            <a:r>
              <a:rPr lang="en-US" dirty="0" err="1"/>
              <a:t>tipe</a:t>
            </a:r>
            <a:r>
              <a:rPr lang="en-US" dirty="0"/>
              <a:t> </a:t>
            </a:r>
            <a:r>
              <a:rPr lang="en-US" dirty="0" err="1"/>
              <a:t>datanya</a:t>
            </a:r>
            <a:r>
              <a:rPr lang="en-US" dirty="0"/>
              <a:t>,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dilakukan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casting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nama_variable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tipe_data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nilai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E9C64B83-C064-2CC2-0BA1-942A1604C6F7}"/>
              </a:ext>
            </a:extLst>
          </p:cNvPr>
          <p:cNvPicPr>
            <a:picLocks noGrp="1" noChangeAspect="1" noChangeArrowheads="1"/>
          </p:cNvPicPr>
          <p:nvPr>
            <p:ph type="pic" sz="quarter" idx="10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09" r="28275"/>
          <a:stretch/>
        </p:blipFill>
        <p:spPr bwMode="auto">
          <a:xfrm>
            <a:off x="0" y="2828018"/>
            <a:ext cx="6330461" cy="27364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49845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A83A8-297D-8B47-FBE1-7E4E37A77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Variabel</a:t>
            </a:r>
            <a:r>
              <a:rPr lang="en-US" dirty="0"/>
              <a:t>: Multi Words </a:t>
            </a:r>
            <a:r>
              <a:rPr lang="en-US" dirty="0" err="1"/>
              <a:t>Variabel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49E5E5-F4FA-5859-FE3A-F88EEB82C9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4076701"/>
            <a:ext cx="10878519" cy="2100262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dirty="0" err="1"/>
              <a:t>Bila</a:t>
            </a:r>
            <a:r>
              <a:rPr lang="en-US" sz="1800" dirty="0"/>
              <a:t> </a:t>
            </a:r>
            <a:r>
              <a:rPr lang="en-US" sz="1800" dirty="0" err="1"/>
              <a:t>memberi</a:t>
            </a:r>
            <a:r>
              <a:rPr lang="en-US" sz="1800" dirty="0"/>
              <a:t> </a:t>
            </a:r>
            <a:r>
              <a:rPr lang="en-US" sz="1800" dirty="0" err="1"/>
              <a:t>nama</a:t>
            </a:r>
            <a:r>
              <a:rPr lang="en-US" sz="1800" dirty="0"/>
              <a:t> variable </a:t>
            </a:r>
            <a:r>
              <a:rPr lang="en-US" sz="1800" dirty="0" err="1"/>
              <a:t>lebih</a:t>
            </a:r>
            <a:r>
              <a:rPr lang="en-US" sz="1800" dirty="0"/>
              <a:t> </a:t>
            </a:r>
            <a:r>
              <a:rPr lang="en-US" sz="1800" dirty="0" err="1"/>
              <a:t>dari</a:t>
            </a:r>
            <a:r>
              <a:rPr lang="en-US" sz="1800" dirty="0"/>
              <a:t> </a:t>
            </a:r>
            <a:r>
              <a:rPr lang="en-US" sz="1800" dirty="0" err="1"/>
              <a:t>satu</a:t>
            </a:r>
            <a:r>
              <a:rPr lang="en-US" sz="1800" dirty="0"/>
              <a:t> kata (multi-words) </a:t>
            </a:r>
            <a:r>
              <a:rPr lang="en-US" sz="1800" dirty="0" err="1"/>
              <a:t>akan</a:t>
            </a:r>
            <a:r>
              <a:rPr lang="en-US" sz="1800" dirty="0"/>
              <a:t> </a:t>
            </a:r>
            <a:r>
              <a:rPr lang="en-US" sz="1800" dirty="0" err="1"/>
              <a:t>menyulitkan</a:t>
            </a:r>
            <a:r>
              <a:rPr lang="en-US" sz="1800" dirty="0"/>
              <a:t> </a:t>
            </a:r>
            <a:r>
              <a:rPr lang="en-US" sz="1800" dirty="0" err="1"/>
              <a:t>dalam</a:t>
            </a:r>
            <a:r>
              <a:rPr lang="en-US" sz="1800" dirty="0"/>
              <a:t> </a:t>
            </a:r>
            <a:r>
              <a:rPr lang="en-US" sz="1800" dirty="0" err="1"/>
              <a:t>membacanya</a:t>
            </a:r>
            <a:r>
              <a:rPr lang="en-US" sz="1800" dirty="0"/>
              <a:t>, </a:t>
            </a:r>
            <a:r>
              <a:rPr lang="en-US" sz="1800" dirty="0" err="1"/>
              <a:t>maka</a:t>
            </a:r>
            <a:r>
              <a:rPr lang="en-US" sz="1800" dirty="0"/>
              <a:t> </a:t>
            </a:r>
            <a:r>
              <a:rPr lang="en-US" sz="1800" dirty="0" err="1"/>
              <a:t>dapat</a:t>
            </a:r>
            <a:r>
              <a:rPr lang="en-US" sz="1800" dirty="0"/>
              <a:t> </a:t>
            </a:r>
            <a:r>
              <a:rPr lang="en-US" sz="1800" dirty="0" err="1"/>
              <a:t>dilakukan</a:t>
            </a:r>
            <a:r>
              <a:rPr lang="en-US" sz="1800" dirty="0"/>
              <a:t> </a:t>
            </a:r>
            <a:r>
              <a:rPr lang="en-US" sz="1800" dirty="0" err="1"/>
              <a:t>dengan</a:t>
            </a:r>
            <a:r>
              <a:rPr lang="en-US" sz="1800" dirty="0"/>
              <a:t> </a:t>
            </a:r>
            <a:r>
              <a:rPr lang="en-US" sz="1800" dirty="0" err="1"/>
              <a:t>beberapa</a:t>
            </a:r>
            <a:r>
              <a:rPr lang="en-US" sz="1800" dirty="0"/>
              <a:t> </a:t>
            </a:r>
            <a:r>
              <a:rPr lang="en-US" sz="1800" dirty="0" err="1"/>
              <a:t>teknik</a:t>
            </a:r>
            <a:r>
              <a:rPr lang="en-US" sz="1800" dirty="0"/>
              <a:t>, </a:t>
            </a:r>
            <a:r>
              <a:rPr lang="en-US" sz="1800" dirty="0" err="1"/>
              <a:t>yaitu</a:t>
            </a:r>
            <a:r>
              <a:rPr lang="en-US" sz="1800" dirty="0"/>
              <a:t>:</a:t>
            </a:r>
          </a:p>
          <a:p>
            <a:pPr>
              <a:lnSpc>
                <a:spcPct val="120000"/>
              </a:lnSpc>
            </a:pPr>
            <a:r>
              <a:rPr lang="en-US" sz="1800" dirty="0"/>
              <a:t>Snake case: </a:t>
            </a:r>
            <a:r>
              <a:rPr lang="en-US" sz="1800" dirty="0" err="1"/>
              <a:t>setiap</a:t>
            </a:r>
            <a:r>
              <a:rPr lang="en-US" sz="1800" dirty="0"/>
              <a:t> kata </a:t>
            </a:r>
            <a:r>
              <a:rPr lang="en-US" sz="1800" dirty="0" err="1"/>
              <a:t>dipisah</a:t>
            </a:r>
            <a:r>
              <a:rPr lang="en-US" sz="1800" dirty="0"/>
              <a:t> </a:t>
            </a:r>
            <a:r>
              <a:rPr lang="en-US" sz="1800" dirty="0" err="1"/>
              <a:t>dengan</a:t>
            </a:r>
            <a:r>
              <a:rPr lang="en-US" sz="1800" dirty="0"/>
              <a:t> </a:t>
            </a:r>
            <a:r>
              <a:rPr lang="en-US" sz="1800" dirty="0" err="1"/>
              <a:t>menggunakan</a:t>
            </a:r>
            <a:r>
              <a:rPr lang="en-US" sz="1800" dirty="0"/>
              <a:t> underscore</a:t>
            </a:r>
          </a:p>
          <a:p>
            <a:pPr>
              <a:lnSpc>
                <a:spcPct val="120000"/>
              </a:lnSpc>
            </a:pPr>
            <a:r>
              <a:rPr lang="en-US" sz="1800" dirty="0"/>
              <a:t>Camel case: </a:t>
            </a:r>
            <a:r>
              <a:rPr lang="en-US" sz="1800" dirty="0" err="1"/>
              <a:t>menuliskan</a:t>
            </a:r>
            <a:r>
              <a:rPr lang="en-US" sz="1800" dirty="0"/>
              <a:t> </a:t>
            </a:r>
            <a:r>
              <a:rPr lang="en-US" sz="1800" dirty="0" err="1"/>
              <a:t>huruf</a:t>
            </a:r>
            <a:r>
              <a:rPr lang="en-US" sz="1800" dirty="0"/>
              <a:t> </a:t>
            </a:r>
            <a:r>
              <a:rPr lang="en-US" sz="1800" dirty="0" err="1"/>
              <a:t>kapital</a:t>
            </a:r>
            <a:r>
              <a:rPr lang="en-US" sz="1800" dirty="0"/>
              <a:t> di kata yang </a:t>
            </a:r>
            <a:r>
              <a:rPr lang="en-US" sz="1800" dirty="0" err="1"/>
              <a:t>baru</a:t>
            </a:r>
            <a:r>
              <a:rPr lang="en-US" sz="1800" dirty="0"/>
              <a:t> </a:t>
            </a:r>
            <a:r>
              <a:rPr lang="en-US" sz="1800" dirty="0" err="1"/>
              <a:t>kecuali</a:t>
            </a:r>
            <a:r>
              <a:rPr lang="en-US" sz="1800" dirty="0"/>
              <a:t> kata </a:t>
            </a:r>
            <a:r>
              <a:rPr lang="en-US" sz="1800" dirty="0" err="1"/>
              <a:t>pertama</a:t>
            </a:r>
            <a:endParaRPr lang="en-US" sz="1800" dirty="0"/>
          </a:p>
          <a:p>
            <a:pPr>
              <a:lnSpc>
                <a:spcPct val="120000"/>
              </a:lnSpc>
            </a:pPr>
            <a:r>
              <a:rPr lang="en-US" sz="1800" dirty="0"/>
              <a:t>Pascal case: </a:t>
            </a:r>
            <a:r>
              <a:rPr lang="en-US" sz="1800" dirty="0" err="1"/>
              <a:t>setiap</a:t>
            </a:r>
            <a:r>
              <a:rPr lang="en-US" sz="1800" dirty="0"/>
              <a:t> kata </a:t>
            </a:r>
            <a:r>
              <a:rPr lang="en-US" sz="1800" dirty="0" err="1"/>
              <a:t>pertama</a:t>
            </a:r>
            <a:r>
              <a:rPr lang="en-US" sz="1800" dirty="0"/>
              <a:t> </a:t>
            </a:r>
            <a:r>
              <a:rPr lang="en-US" sz="1800" dirty="0" err="1"/>
              <a:t>dimulai</a:t>
            </a:r>
            <a:r>
              <a:rPr lang="en-US" sz="1800" dirty="0"/>
              <a:t> </a:t>
            </a:r>
            <a:r>
              <a:rPr lang="en-US" sz="1800" dirty="0" err="1"/>
              <a:t>dengan</a:t>
            </a:r>
            <a:r>
              <a:rPr lang="en-US" sz="1800" dirty="0"/>
              <a:t> </a:t>
            </a:r>
            <a:r>
              <a:rPr lang="en-US" sz="1800" dirty="0" err="1"/>
              <a:t>huruf</a:t>
            </a:r>
            <a:r>
              <a:rPr lang="en-US" sz="1800" dirty="0"/>
              <a:t> </a:t>
            </a:r>
            <a:r>
              <a:rPr lang="en-US" sz="1800" dirty="0" err="1"/>
              <a:t>kapital</a:t>
            </a:r>
            <a:endParaRPr lang="en-US" sz="1800" dirty="0"/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62A35C5C-602A-C8FB-8274-E9533F80FB31}"/>
              </a:ext>
            </a:extLst>
          </p:cNvPr>
          <p:cNvPicPr>
            <a:picLocks noGrp="1" noChangeAspect="1" noChangeArrowheads="1"/>
          </p:cNvPicPr>
          <p:nvPr>
            <p:ph type="pic" sz="quarter" idx="1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5" t="2339" r="26397" b="-2339"/>
          <a:stretch/>
        </p:blipFill>
        <p:spPr bwMode="auto">
          <a:xfrm>
            <a:off x="751887" y="2197014"/>
            <a:ext cx="11018856" cy="1782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59418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979DE-7376-1537-94C4-2E5D0D5EC3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Variabel</a:t>
            </a:r>
            <a:r>
              <a:rPr lang="en-US" dirty="0"/>
              <a:t>: Assign Multi </a:t>
            </a:r>
            <a:r>
              <a:rPr lang="en-US" dirty="0" err="1"/>
              <a:t>Variabel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FDAF18C-F715-0F49-101C-208054D103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Menyimpan</a:t>
            </a:r>
            <a:r>
              <a:rPr lang="en-US" dirty="0"/>
              <a:t> </a:t>
            </a:r>
            <a:r>
              <a:rPr lang="en-US" dirty="0" err="1"/>
              <a:t>banyak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beberapa</a:t>
            </a:r>
            <a:r>
              <a:rPr lang="en-US" dirty="0"/>
              <a:t> variable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 err="1"/>
              <a:t>Menyimpan</a:t>
            </a:r>
            <a:r>
              <a:rPr lang="en-US" dirty="0"/>
              <a:t> </a:t>
            </a:r>
            <a:r>
              <a:rPr lang="en-US" dirty="0" err="1"/>
              <a:t>satu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beberapa</a:t>
            </a:r>
            <a:r>
              <a:rPr lang="en-US" dirty="0"/>
              <a:t> </a:t>
            </a:r>
            <a:r>
              <a:rPr lang="en-US" dirty="0" err="1"/>
              <a:t>variabel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BE84784B-C7BF-2E0F-2C97-7BD5DCC87A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8606" y="2459549"/>
            <a:ext cx="6491793" cy="1489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4" name="Picture 4">
            <a:extLst>
              <a:ext uri="{FF2B5EF4-FFF2-40B4-BE49-F238E27FC236}">
                <a16:creationId xmlns:a16="http://schemas.microsoft.com/office/drawing/2014/main" id="{A8BCB7EF-033B-9581-A621-206DE0D156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8606" y="5070165"/>
            <a:ext cx="6234235" cy="1422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67407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CBF86-4118-BA86-B3D5-1F1747DA8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Variabel</a:t>
            </a:r>
            <a:r>
              <a:rPr lang="en-US" dirty="0"/>
              <a:t>: Output </a:t>
            </a:r>
            <a:r>
              <a:rPr lang="en-US" dirty="0" err="1"/>
              <a:t>Variabel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6389FA-3A8C-C5D9-9BD3-CA2D8D3E3A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err="1"/>
              <a:t>Perintah</a:t>
            </a:r>
            <a:r>
              <a:rPr lang="en-US" sz="2000" dirty="0"/>
              <a:t> 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print() </a:t>
            </a:r>
            <a:r>
              <a:rPr lang="en-US" sz="2000" dirty="0" err="1"/>
              <a:t>untuk</a:t>
            </a:r>
            <a:r>
              <a:rPr lang="en-US" sz="2000" dirty="0"/>
              <a:t> </a:t>
            </a:r>
            <a:r>
              <a:rPr lang="en-US" sz="2000" dirty="0" err="1"/>
              <a:t>beberapa</a:t>
            </a:r>
            <a:r>
              <a:rPr lang="en-US" sz="2000" dirty="0"/>
              <a:t> variable </a:t>
            </a:r>
            <a:r>
              <a:rPr lang="en-US" sz="2000" dirty="0" err="1"/>
              <a:t>sekaligus</a:t>
            </a:r>
            <a:r>
              <a:rPr lang="en-US" sz="2000" dirty="0"/>
              <a:t> .</a:t>
            </a:r>
          </a:p>
          <a:p>
            <a:endParaRPr lang="en-US" sz="2000" dirty="0"/>
          </a:p>
          <a:p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 err="1"/>
              <a:t>Menggunakan</a:t>
            </a:r>
            <a:r>
              <a:rPr lang="en-US" sz="2000" dirty="0"/>
              <a:t> operator + </a:t>
            </a:r>
            <a:r>
              <a:rPr lang="en-US" sz="2000" dirty="0" err="1"/>
              <a:t>untuk</a:t>
            </a:r>
            <a:r>
              <a:rPr lang="en-US" sz="2000" dirty="0"/>
              <a:t> </a:t>
            </a:r>
            <a:r>
              <a:rPr lang="en-US" sz="2000" dirty="0" err="1"/>
              <a:t>menambahkan</a:t>
            </a:r>
            <a:r>
              <a:rPr lang="en-US" sz="2000" dirty="0"/>
              <a:t> </a:t>
            </a:r>
            <a:r>
              <a:rPr lang="en-US" sz="2000" dirty="0" err="1"/>
              <a:t>beberapa</a:t>
            </a:r>
            <a:r>
              <a:rPr lang="en-US" sz="2000" dirty="0"/>
              <a:t> variable</a:t>
            </a:r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CBD26AEF-4332-AF43-BF78-31CBE53A8F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6289" y="2313680"/>
            <a:ext cx="5896177" cy="1033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8" name="Picture 4">
            <a:extLst>
              <a:ext uri="{FF2B5EF4-FFF2-40B4-BE49-F238E27FC236}">
                <a16:creationId xmlns:a16="http://schemas.microsoft.com/office/drawing/2014/main" id="{60103C49-93D0-74D4-6AA8-98DA48E20B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2812" y="4580125"/>
            <a:ext cx="6179654" cy="1912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625798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F4887-E667-E705-4FDD-96E9F8985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E18D1D-7B60-7331-9CC4-D2504F523B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 err="1"/>
              <a:t>Apa</a:t>
            </a:r>
            <a:r>
              <a:rPr lang="en-US" dirty="0"/>
              <a:t> output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diatas</a:t>
            </a:r>
            <a:r>
              <a:rPr lang="en-US" dirty="0"/>
              <a:t>?</a:t>
            </a:r>
          </a:p>
          <a:p>
            <a:pPr marL="514350" indent="-514350">
              <a:buFont typeface="+mj-lt"/>
              <a:buAutoNum type="alphaLcPeriod"/>
            </a:pPr>
            <a:r>
              <a:rPr lang="en-US" dirty="0"/>
              <a:t>2620</a:t>
            </a:r>
          </a:p>
          <a:p>
            <a:pPr marL="514350" indent="-514350">
              <a:buFont typeface="+mj-lt"/>
              <a:buAutoNum type="alphaLcPeriod"/>
            </a:pPr>
            <a:r>
              <a:rPr lang="en-US" dirty="0"/>
              <a:t>820</a:t>
            </a:r>
          </a:p>
          <a:p>
            <a:pPr marL="514350" indent="-514350">
              <a:buFont typeface="+mj-lt"/>
              <a:buAutoNum type="alphaLcPeriod"/>
            </a:pPr>
            <a:r>
              <a:rPr lang="en-US" dirty="0"/>
              <a:t>265555</a:t>
            </a:r>
          </a:p>
          <a:p>
            <a:pPr marL="514350" indent="-514350">
              <a:buFont typeface="+mj-lt"/>
              <a:buAutoNum type="alphaLcPeriod"/>
            </a:pPr>
            <a:r>
              <a:rPr lang="en-US" dirty="0"/>
              <a:t>85555</a:t>
            </a:r>
          </a:p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D91EC7E-AA0B-4009-430B-1CDEA61E007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6B2851B-A489-EAF4-0F46-F5CDDA89B93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DB87D7B7-FB6C-2E14-154A-FFE9B140C7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19F7073F-D2D0-B95F-257C-ED1ABB53D4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742" y="2326006"/>
            <a:ext cx="11351431" cy="1313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776977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799758B-20FF-9340-D051-35728A3028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5356CCB-2859-9767-4487-E7CB1B31D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Input dan Output</a:t>
            </a:r>
          </a:p>
        </p:txBody>
      </p:sp>
    </p:spTree>
    <p:extLst>
      <p:ext uri="{BB962C8B-B14F-4D97-AF65-F5344CB8AC3E}">
        <p14:creationId xmlns:p14="http://schemas.microsoft.com/office/powerpoint/2010/main" val="36539699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FD346-91C4-B6AA-3627-F910A5D29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50DB9B-8DB1-FA15-6ABE-653C883E3F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D" sz="2000" b="0" i="0" u="none" strike="noStrike" dirty="0" err="1">
                <a:solidFill>
                  <a:srgbClr val="000000"/>
                </a:solidFill>
                <a:effectLst/>
              </a:rPr>
              <a:t>Fungsi</a:t>
            </a:r>
            <a:r>
              <a:rPr lang="en-ID" sz="20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ID" sz="20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print()</a:t>
            </a:r>
            <a:r>
              <a:rPr lang="en-ID" sz="20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ID" sz="2000" b="0" i="0" u="none" strike="noStrike" dirty="0" err="1">
                <a:solidFill>
                  <a:srgbClr val="000000"/>
                </a:solidFill>
                <a:effectLst/>
              </a:rPr>
              <a:t>merupakan</a:t>
            </a:r>
            <a:r>
              <a:rPr lang="en-ID" sz="20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ID" sz="2000" b="0" i="0" u="none" strike="noStrike" dirty="0" err="1">
                <a:solidFill>
                  <a:srgbClr val="000000"/>
                </a:solidFill>
                <a:effectLst/>
              </a:rPr>
              <a:t>cara</a:t>
            </a:r>
            <a:r>
              <a:rPr lang="en-ID" sz="2000" b="0" i="0" u="none" strike="noStrike" dirty="0">
                <a:solidFill>
                  <a:srgbClr val="000000"/>
                </a:solidFill>
                <a:effectLst/>
              </a:rPr>
              <a:t> output </a:t>
            </a:r>
            <a:r>
              <a:rPr lang="en-ID" sz="2000" b="0" i="0" u="none" strike="noStrike" dirty="0" err="1">
                <a:solidFill>
                  <a:srgbClr val="000000"/>
                </a:solidFill>
                <a:effectLst/>
              </a:rPr>
              <a:t>ke</a:t>
            </a:r>
            <a:r>
              <a:rPr lang="en-ID" sz="2000" b="0" i="0" u="none" strike="noStrike" dirty="0">
                <a:solidFill>
                  <a:srgbClr val="000000"/>
                </a:solidFill>
                <a:effectLst/>
              </a:rPr>
              <a:t> console </a:t>
            </a:r>
            <a:r>
              <a:rPr lang="en-ID" sz="2000" b="0" i="0" u="none" strike="noStrike" dirty="0" err="1">
                <a:solidFill>
                  <a:srgbClr val="000000"/>
                </a:solidFill>
                <a:effectLst/>
              </a:rPr>
              <a:t>atau</a:t>
            </a:r>
            <a:r>
              <a:rPr lang="en-ID" sz="20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ID" sz="2000" b="0" i="0" u="none" strike="noStrike" dirty="0" err="1">
                <a:solidFill>
                  <a:srgbClr val="000000"/>
                </a:solidFill>
                <a:effectLst/>
              </a:rPr>
              <a:t>layar</a:t>
            </a:r>
            <a:r>
              <a:rPr lang="en-ID" sz="2000" b="0" i="0" u="none" strike="noStrike" dirty="0">
                <a:solidFill>
                  <a:srgbClr val="000000"/>
                </a:solidFill>
                <a:effectLst/>
              </a:rPr>
              <a:t>.</a:t>
            </a:r>
          </a:p>
          <a:p>
            <a:r>
              <a:rPr lang="en-ID" sz="2000" b="0" i="0" u="none" strike="noStrike" dirty="0" err="1">
                <a:solidFill>
                  <a:srgbClr val="000000"/>
                </a:solidFill>
                <a:effectLst/>
              </a:rPr>
              <a:t>Untuk</a:t>
            </a:r>
            <a:r>
              <a:rPr lang="en-ID" sz="20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ID" sz="2000" b="0" i="0" u="none" strike="noStrike" dirty="0" err="1">
                <a:solidFill>
                  <a:srgbClr val="000000"/>
                </a:solidFill>
                <a:effectLst/>
              </a:rPr>
              <a:t>memasukkan</a:t>
            </a:r>
            <a:r>
              <a:rPr lang="en-ID" sz="20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ID" sz="2000" b="0" i="0" u="none" strike="noStrike" dirty="0" err="1">
                <a:solidFill>
                  <a:srgbClr val="000000"/>
                </a:solidFill>
                <a:effectLst/>
              </a:rPr>
              <a:t>nilai</a:t>
            </a:r>
            <a:r>
              <a:rPr lang="en-ID" sz="2000" b="0" i="0" u="none" strike="noStrike" dirty="0">
                <a:solidFill>
                  <a:srgbClr val="000000"/>
                </a:solidFill>
                <a:effectLst/>
              </a:rPr>
              <a:t> variable pada print string </a:t>
            </a:r>
            <a:r>
              <a:rPr lang="en-ID" sz="2000" b="0" i="0" u="none" strike="noStrike" dirty="0" err="1">
                <a:solidFill>
                  <a:srgbClr val="000000"/>
                </a:solidFill>
                <a:effectLst/>
              </a:rPr>
              <a:t>dapat</a:t>
            </a:r>
            <a:r>
              <a:rPr lang="en-ID" sz="20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ID" sz="2000" b="0" i="0" u="none" strike="noStrike" dirty="0" err="1">
                <a:solidFill>
                  <a:srgbClr val="000000"/>
                </a:solidFill>
                <a:effectLst/>
              </a:rPr>
              <a:t>dilakukan</a:t>
            </a:r>
            <a:r>
              <a:rPr lang="en-ID" sz="20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ID" sz="2000" b="0" i="0" u="none" strike="noStrike" dirty="0" err="1">
                <a:solidFill>
                  <a:srgbClr val="000000"/>
                </a:solidFill>
                <a:effectLst/>
              </a:rPr>
              <a:t>dengan</a:t>
            </a:r>
            <a:r>
              <a:rPr lang="en-ID" sz="20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ID" sz="2000" b="0" i="0" u="none" strike="noStrike" dirty="0" err="1">
                <a:solidFill>
                  <a:srgbClr val="000000"/>
                </a:solidFill>
                <a:effectLst/>
              </a:rPr>
              <a:t>beberapa</a:t>
            </a:r>
            <a:r>
              <a:rPr lang="en-ID" sz="20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ID" sz="2000" b="0" i="0" u="none" strike="noStrike" dirty="0" err="1">
                <a:solidFill>
                  <a:srgbClr val="000000"/>
                </a:solidFill>
                <a:effectLst/>
              </a:rPr>
              <a:t>cara</a:t>
            </a:r>
            <a:r>
              <a:rPr lang="en-ID" sz="2000" b="0" i="0" u="none" strike="noStrike" dirty="0">
                <a:solidFill>
                  <a:srgbClr val="000000"/>
                </a:solidFill>
                <a:effectLst/>
              </a:rPr>
              <a:t>, </a:t>
            </a:r>
            <a:r>
              <a:rPr lang="en-ID" sz="2000" b="0" i="0" u="none" strike="noStrike" dirty="0" err="1">
                <a:solidFill>
                  <a:srgbClr val="000000"/>
                </a:solidFill>
                <a:effectLst/>
              </a:rPr>
              <a:t>berikut</a:t>
            </a:r>
            <a:r>
              <a:rPr lang="en-ID" sz="20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ID" sz="2000" b="0" i="0" u="none" strike="noStrike" dirty="0" err="1">
                <a:solidFill>
                  <a:srgbClr val="000000"/>
                </a:solidFill>
                <a:effectLst/>
              </a:rPr>
              <a:t>adalah</a:t>
            </a:r>
            <a:r>
              <a:rPr lang="en-ID" sz="20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ID" sz="2000" b="0" i="0" u="none" strike="noStrike" dirty="0" err="1">
                <a:solidFill>
                  <a:srgbClr val="000000"/>
                </a:solidFill>
                <a:effectLst/>
              </a:rPr>
              <a:t>contohnya</a:t>
            </a:r>
            <a:endParaRPr lang="en-ID" sz="2000" b="0" i="0" u="none" strike="noStrike" dirty="0">
              <a:solidFill>
                <a:srgbClr val="000000"/>
              </a:solidFill>
              <a:effectLst/>
            </a:endParaRPr>
          </a:p>
          <a:p>
            <a:pPr marL="0" indent="0">
              <a:buNone/>
            </a:pPr>
            <a:br>
              <a:rPr lang="en-ID" sz="2000" b="0" i="0" u="none" strike="noStrike" dirty="0">
                <a:solidFill>
                  <a:srgbClr val="000000"/>
                </a:solidFill>
                <a:effectLst/>
              </a:rPr>
            </a:br>
            <a:br>
              <a:rPr lang="en-ID" sz="2000" b="0" i="0" u="none" strike="noStrike" dirty="0">
                <a:solidFill>
                  <a:srgbClr val="000000"/>
                </a:solidFill>
                <a:effectLst/>
              </a:rPr>
            </a:br>
            <a:endParaRPr lang="en-US" sz="2000" dirty="0"/>
          </a:p>
        </p:txBody>
      </p:sp>
      <p:pic>
        <p:nvPicPr>
          <p:cNvPr id="13314" name="Picture 2">
            <a:extLst>
              <a:ext uri="{FF2B5EF4-FFF2-40B4-BE49-F238E27FC236}">
                <a16:creationId xmlns:a16="http://schemas.microsoft.com/office/drawing/2014/main" id="{F3B964CB-F854-0BC7-D3AA-E5E2D3B701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7880" y="3466819"/>
            <a:ext cx="6063413" cy="762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6" name="Picture 4">
            <a:extLst>
              <a:ext uri="{FF2B5EF4-FFF2-40B4-BE49-F238E27FC236}">
                <a16:creationId xmlns:a16="http://schemas.microsoft.com/office/drawing/2014/main" id="{A142AEF8-4D68-DB35-7E8D-7E7525555A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7880" y="4555437"/>
            <a:ext cx="6063413" cy="89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8" name="Picture 6">
            <a:extLst>
              <a:ext uri="{FF2B5EF4-FFF2-40B4-BE49-F238E27FC236}">
                <a16:creationId xmlns:a16="http://schemas.microsoft.com/office/drawing/2014/main" id="{3D6B23A9-DA84-6FD2-CC5E-70F654831C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7880" y="5629962"/>
            <a:ext cx="6063413" cy="885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89211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39DDA-70CA-3F9D-390E-4DC966749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B3FD66-18A8-EAD7-E990-11FD7518E6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44700"/>
            <a:ext cx="7995834" cy="413226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dirty="0" err="1"/>
              <a:t>Untuk</a:t>
            </a:r>
            <a:r>
              <a:rPr lang="en-US" sz="2000" dirty="0"/>
              <a:t> </a:t>
            </a:r>
            <a:r>
              <a:rPr lang="en-US" sz="2000" dirty="0" err="1"/>
              <a:t>membuat</a:t>
            </a:r>
            <a:r>
              <a:rPr lang="en-US" sz="2000" dirty="0"/>
              <a:t> user </a:t>
            </a:r>
            <a:r>
              <a:rPr lang="en-US" sz="2000" dirty="0" err="1"/>
              <a:t>memberikan</a:t>
            </a:r>
            <a:r>
              <a:rPr lang="en-US" sz="2000" dirty="0"/>
              <a:t> input pada program, </a:t>
            </a:r>
            <a:r>
              <a:rPr lang="en-US" sz="2000" dirty="0" err="1"/>
              <a:t>bisa</a:t>
            </a:r>
            <a:r>
              <a:rPr lang="en-US" sz="2000" dirty="0"/>
              <a:t> </a:t>
            </a:r>
            <a:r>
              <a:rPr lang="en-US" sz="2000" dirty="0" err="1"/>
              <a:t>menggunakan</a:t>
            </a:r>
            <a:r>
              <a:rPr lang="en-US" sz="2000" dirty="0"/>
              <a:t> </a:t>
            </a:r>
            <a:r>
              <a:rPr lang="en-US" sz="2000" dirty="0" err="1"/>
              <a:t>fungsi</a:t>
            </a:r>
            <a:r>
              <a:rPr lang="en-US" sz="2000" dirty="0"/>
              <a:t> 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input() </a:t>
            </a:r>
          </a:p>
        </p:txBody>
      </p:sp>
      <p:pic>
        <p:nvPicPr>
          <p:cNvPr id="14338" name="Picture 2">
            <a:extLst>
              <a:ext uri="{FF2B5EF4-FFF2-40B4-BE49-F238E27FC236}">
                <a16:creationId xmlns:a16="http://schemas.microsoft.com/office/drawing/2014/main" id="{16F2D2BD-01AE-B38C-C8B1-D431251886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3637" y="3129447"/>
            <a:ext cx="6042689" cy="968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39" name="Picture 3">
            <a:extLst>
              <a:ext uri="{FF2B5EF4-FFF2-40B4-BE49-F238E27FC236}">
                <a16:creationId xmlns:a16="http://schemas.microsoft.com/office/drawing/2014/main" id="{27781B71-D092-76FF-C4F7-BB04AD08A6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3637" y="4759576"/>
            <a:ext cx="6042689" cy="10646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897987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B7509-DBCD-C60E-2892-9E492D042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41906-5556-F648-745A-198561C5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Ketika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fungsi</a:t>
            </a:r>
            <a:r>
              <a:rPr lang="en-US" dirty="0"/>
              <a:t>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input()</a:t>
            </a:r>
            <a:r>
              <a:rPr lang="en-US" dirty="0"/>
              <a:t>, program </a:t>
            </a:r>
            <a:r>
              <a:rPr lang="en-US" dirty="0" err="1"/>
              <a:t>baru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berhenti</a:t>
            </a:r>
            <a:r>
              <a:rPr lang="en-US" dirty="0"/>
              <a:t> </a:t>
            </a:r>
            <a:r>
              <a:rPr lang="en-US" dirty="0" err="1"/>
              <a:t>sampai</a:t>
            </a:r>
            <a:r>
              <a:rPr lang="en-US" dirty="0"/>
              <a:t> user </a:t>
            </a:r>
            <a:r>
              <a:rPr lang="en-US" dirty="0" err="1"/>
              <a:t>memberikan</a:t>
            </a:r>
            <a:r>
              <a:rPr lang="en-US" dirty="0"/>
              <a:t> input</a:t>
            </a:r>
          </a:p>
          <a:p>
            <a:r>
              <a:rPr lang="en-US" dirty="0" err="1"/>
              <a:t>Apapun</a:t>
            </a:r>
            <a:r>
              <a:rPr lang="en-US" dirty="0"/>
              <a:t> yang </a:t>
            </a:r>
            <a:r>
              <a:rPr lang="en-US" dirty="0" err="1"/>
              <a:t>dimasukan</a:t>
            </a:r>
            <a:r>
              <a:rPr lang="en-US" dirty="0"/>
              <a:t> </a:t>
            </a:r>
            <a:r>
              <a:rPr lang="en-US" dirty="0" err="1"/>
              <a:t>sebagai</a:t>
            </a:r>
            <a:r>
              <a:rPr lang="en-US" dirty="0"/>
              <a:t> input, </a:t>
            </a:r>
            <a:r>
              <a:rPr lang="en-US" dirty="0" err="1"/>
              <a:t>fungsi</a:t>
            </a:r>
            <a:r>
              <a:rPr lang="en-US" dirty="0"/>
              <a:t>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input()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mengubah</a:t>
            </a:r>
            <a:r>
              <a:rPr lang="en-US" dirty="0"/>
              <a:t> </a:t>
            </a:r>
            <a:r>
              <a:rPr lang="en-US" dirty="0" err="1"/>
              <a:t>tipe</a:t>
            </a:r>
            <a:r>
              <a:rPr lang="en-US" dirty="0"/>
              <a:t> </a:t>
            </a:r>
            <a:r>
              <a:rPr lang="en-US" dirty="0" err="1"/>
              <a:t>datanya</a:t>
            </a:r>
            <a:r>
              <a:rPr lang="en-US" dirty="0"/>
              <a:t> </a:t>
            </a:r>
            <a:r>
              <a:rPr lang="en-US" dirty="0" err="1"/>
              <a:t>menjadi</a:t>
            </a:r>
            <a:r>
              <a:rPr lang="en-US" dirty="0"/>
              <a:t> strings, oleh </a:t>
            </a:r>
            <a:r>
              <a:rPr lang="en-US" dirty="0" err="1"/>
              <a:t>sebab</a:t>
            </a:r>
            <a:r>
              <a:rPr lang="en-US" dirty="0"/>
              <a:t> </a:t>
            </a:r>
            <a:r>
              <a:rPr lang="en-US" dirty="0" err="1"/>
              <a:t>itu</a:t>
            </a:r>
            <a:r>
              <a:rPr lang="en-US" dirty="0"/>
              <a:t> </a:t>
            </a:r>
            <a:r>
              <a:rPr lang="en-US" dirty="0" err="1"/>
              <a:t>perlu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typecasting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merubahnya</a:t>
            </a:r>
            <a:r>
              <a:rPr lang="en-US" dirty="0"/>
              <a:t> </a:t>
            </a:r>
            <a:r>
              <a:rPr lang="en-US" dirty="0" err="1"/>
              <a:t>menjadi</a:t>
            </a:r>
            <a:r>
              <a:rPr lang="en-US" dirty="0"/>
              <a:t> </a:t>
            </a:r>
            <a:r>
              <a:rPr lang="en-US" dirty="0" err="1"/>
              <a:t>tipe</a:t>
            </a:r>
            <a:r>
              <a:rPr lang="en-US" dirty="0"/>
              <a:t> data yang </a:t>
            </a:r>
            <a:r>
              <a:rPr lang="en-US" dirty="0" err="1"/>
              <a:t>diinginkan</a:t>
            </a:r>
            <a:r>
              <a:rPr lang="en-US" dirty="0"/>
              <a:t>. (Note: </a:t>
            </a:r>
            <a:r>
              <a:rPr lang="en-US" dirty="0" err="1"/>
              <a:t>materi</a:t>
            </a:r>
            <a:r>
              <a:rPr lang="en-US" dirty="0"/>
              <a:t> </a:t>
            </a:r>
            <a:r>
              <a:rPr lang="en-US" dirty="0" err="1"/>
              <a:t>tipe</a:t>
            </a:r>
            <a:r>
              <a:rPr lang="en-US" dirty="0"/>
              <a:t> data </a:t>
            </a:r>
            <a:r>
              <a:rPr lang="en-US" dirty="0" err="1"/>
              <a:t>ada</a:t>
            </a:r>
            <a:r>
              <a:rPr lang="en-US" dirty="0"/>
              <a:t> pada slide </a:t>
            </a:r>
            <a:r>
              <a:rPr lang="en-US" dirty="0" err="1"/>
              <a:t>selanjutnya</a:t>
            </a:r>
            <a:r>
              <a:rPr lang="en-US" dirty="0"/>
              <a:t>).</a:t>
            </a:r>
          </a:p>
        </p:txBody>
      </p:sp>
      <p:pic>
        <p:nvPicPr>
          <p:cNvPr id="15362" name="Picture 2">
            <a:extLst>
              <a:ext uri="{FF2B5EF4-FFF2-40B4-BE49-F238E27FC236}">
                <a16:creationId xmlns:a16="http://schemas.microsoft.com/office/drawing/2014/main" id="{46C8D730-DFA6-1DD0-D309-425AC88DD98B}"/>
              </a:ext>
            </a:extLst>
          </p:cNvPr>
          <p:cNvPicPr>
            <a:picLocks noGrp="1" noChangeAspect="1" noChangeArrowheads="1"/>
          </p:cNvPicPr>
          <p:nvPr>
            <p:ph type="pic" sz="quarter" idx="1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2926"/>
          <a:stretch/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64" name="Picture 4">
            <a:extLst>
              <a:ext uri="{FF2B5EF4-FFF2-40B4-BE49-F238E27FC236}">
                <a16:creationId xmlns:a16="http://schemas.microsoft.com/office/drawing/2014/main" id="{67392F09-AC2D-34EF-E1A8-D641323CFFCA}"/>
              </a:ext>
            </a:extLst>
          </p:cNvPr>
          <p:cNvPicPr>
            <a:picLocks noGrp="1" noChangeAspect="1" noChangeArrowheads="1"/>
          </p:cNvPicPr>
          <p:nvPr>
            <p:ph type="pic" sz="quarter" idx="12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" r="40241"/>
          <a:stretch/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763397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7EA31B0-160C-4FA0-B0A9-D2A54FAA0D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9153C17-0848-5B3E-E753-D4B8C93BF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Tipe</a:t>
            </a:r>
            <a:r>
              <a:rPr lang="en-US" dirty="0"/>
              <a:t> Data</a:t>
            </a:r>
          </a:p>
        </p:txBody>
      </p:sp>
    </p:spTree>
    <p:extLst>
      <p:ext uri="{BB962C8B-B14F-4D97-AF65-F5344CB8AC3E}">
        <p14:creationId xmlns:p14="http://schemas.microsoft.com/office/powerpoint/2010/main" val="228205029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10E6F-FD30-6C4F-FDDB-B6656CEAD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Tipe</a:t>
            </a:r>
            <a:r>
              <a:rPr lang="en-US" dirty="0"/>
              <a:t>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000C03-E1C8-B5AC-EF06-C85D3016F2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 err="1"/>
              <a:t>Tipe</a:t>
            </a:r>
            <a:r>
              <a:rPr lang="en-US" sz="2400" dirty="0"/>
              <a:t> data </a:t>
            </a:r>
            <a:r>
              <a:rPr lang="en-US" sz="2400" dirty="0" err="1"/>
              <a:t>merupakan</a:t>
            </a:r>
            <a:r>
              <a:rPr lang="en-US" sz="2400" dirty="0"/>
              <a:t> </a:t>
            </a:r>
            <a:r>
              <a:rPr lang="en-US" sz="2400" dirty="0" err="1"/>
              <a:t>cara</a:t>
            </a:r>
            <a:r>
              <a:rPr lang="en-US" sz="2400" dirty="0"/>
              <a:t>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mengklasifikasi</a:t>
            </a:r>
            <a:r>
              <a:rPr lang="en-US" sz="2400" dirty="0"/>
              <a:t> data </a:t>
            </a:r>
            <a:r>
              <a:rPr lang="en-US" sz="2400" dirty="0" err="1"/>
              <a:t>berdasarkan</a:t>
            </a:r>
            <a:r>
              <a:rPr lang="en-US" sz="2400" dirty="0"/>
              <a:t> </a:t>
            </a:r>
            <a:r>
              <a:rPr lang="en-US" sz="2400" dirty="0" err="1"/>
              <a:t>jenis</a:t>
            </a:r>
            <a:r>
              <a:rPr lang="en-US" sz="2400" dirty="0"/>
              <a:t> data </a:t>
            </a:r>
            <a:r>
              <a:rPr lang="en-US" sz="2400" dirty="0" err="1"/>
              <a:t>tersebut</a:t>
            </a:r>
            <a:r>
              <a:rPr lang="en-US" sz="2400" dirty="0"/>
              <a:t>. Hal </a:t>
            </a:r>
            <a:r>
              <a:rPr lang="en-US" sz="2400" dirty="0" err="1"/>
              <a:t>ini</a:t>
            </a:r>
            <a:r>
              <a:rPr lang="en-US" sz="2400" dirty="0"/>
              <a:t> </a:t>
            </a:r>
            <a:r>
              <a:rPr lang="en-US" sz="2400" dirty="0" err="1"/>
              <a:t>dilakukan</a:t>
            </a:r>
            <a:r>
              <a:rPr lang="en-US" sz="2400" dirty="0"/>
              <a:t> agar </a:t>
            </a:r>
            <a:r>
              <a:rPr lang="en-US" sz="2400" dirty="0" err="1"/>
              <a:t>kompiler</a:t>
            </a:r>
            <a:r>
              <a:rPr lang="en-US" sz="2400" dirty="0"/>
              <a:t> </a:t>
            </a:r>
            <a:r>
              <a:rPr lang="en-US" sz="2400" dirty="0" err="1"/>
              <a:t>dapat</a:t>
            </a:r>
            <a:r>
              <a:rPr lang="en-US" sz="2400" dirty="0"/>
              <a:t> </a:t>
            </a:r>
            <a:r>
              <a:rPr lang="en-US" sz="2400" dirty="0" err="1"/>
              <a:t>mengetahui</a:t>
            </a:r>
            <a:r>
              <a:rPr lang="en-US" sz="2400" dirty="0"/>
              <a:t> </a:t>
            </a:r>
            <a:r>
              <a:rPr lang="en-US" sz="2400" dirty="0" err="1"/>
              <a:t>bagaimana</a:t>
            </a:r>
            <a:r>
              <a:rPr lang="en-US" sz="2400" dirty="0"/>
              <a:t> </a:t>
            </a:r>
            <a:r>
              <a:rPr lang="en-US" sz="2400" dirty="0" err="1"/>
              <a:t>sebuah</a:t>
            </a:r>
            <a:r>
              <a:rPr lang="en-US" sz="2400" dirty="0"/>
              <a:t> data </a:t>
            </a:r>
            <a:r>
              <a:rPr lang="en-US" sz="2400" dirty="0" err="1"/>
              <a:t>akan</a:t>
            </a:r>
            <a:r>
              <a:rPr lang="en-US" sz="2400" dirty="0"/>
              <a:t> </a:t>
            </a:r>
            <a:r>
              <a:rPr lang="en-US" sz="2400" dirty="0" err="1"/>
              <a:t>dilakukan</a:t>
            </a:r>
            <a:r>
              <a:rPr lang="en-US" sz="2400" dirty="0"/>
              <a:t>.</a:t>
            </a:r>
          </a:p>
          <a:p>
            <a:pPr algn="just"/>
            <a:r>
              <a:rPr lang="en-US" sz="2400" dirty="0" err="1"/>
              <a:t>Dalam</a:t>
            </a:r>
            <a:r>
              <a:rPr lang="en-US" sz="2400" dirty="0"/>
              <a:t> </a:t>
            </a:r>
            <a:r>
              <a:rPr lang="en-US" sz="2400" dirty="0" err="1"/>
              <a:t>pemrograman</a:t>
            </a:r>
            <a:r>
              <a:rPr lang="en-US" sz="2400" dirty="0"/>
              <a:t>, </a:t>
            </a:r>
            <a:r>
              <a:rPr lang="en-US" sz="2400" dirty="0" err="1"/>
              <a:t>tipe</a:t>
            </a:r>
            <a:r>
              <a:rPr lang="en-US" sz="2400" dirty="0"/>
              <a:t> data </a:t>
            </a:r>
            <a:r>
              <a:rPr lang="en-US" sz="2400" dirty="0" err="1"/>
              <a:t>merupakan</a:t>
            </a:r>
            <a:r>
              <a:rPr lang="en-US" sz="2400" dirty="0"/>
              <a:t> salah </a:t>
            </a:r>
            <a:r>
              <a:rPr lang="en-US" sz="2400" dirty="0" err="1"/>
              <a:t>satu</a:t>
            </a:r>
            <a:r>
              <a:rPr lang="en-US" sz="2400" dirty="0"/>
              <a:t> </a:t>
            </a:r>
            <a:r>
              <a:rPr lang="en-US" sz="2400" dirty="0" err="1"/>
              <a:t>konsep</a:t>
            </a:r>
            <a:r>
              <a:rPr lang="en-US" sz="2400" dirty="0"/>
              <a:t> yang </a:t>
            </a:r>
            <a:r>
              <a:rPr lang="en-US" sz="2400" dirty="0" err="1"/>
              <a:t>penting</a:t>
            </a:r>
            <a:endParaRPr lang="en-US" sz="2400" dirty="0"/>
          </a:p>
          <a:p>
            <a:pPr algn="just"/>
            <a:r>
              <a:rPr lang="en-US" sz="2400" dirty="0" err="1"/>
              <a:t>Sebuah</a:t>
            </a:r>
            <a:r>
              <a:rPr lang="en-US" sz="2400" dirty="0"/>
              <a:t> </a:t>
            </a:r>
            <a:r>
              <a:rPr lang="en-US" sz="2400" dirty="0" err="1"/>
              <a:t>variabel</a:t>
            </a:r>
            <a:r>
              <a:rPr lang="en-US" sz="2400" dirty="0"/>
              <a:t> </a:t>
            </a:r>
            <a:r>
              <a:rPr lang="en-US" sz="2400" dirty="0" err="1"/>
              <a:t>dapat</a:t>
            </a:r>
            <a:r>
              <a:rPr lang="en-US" sz="2400" dirty="0"/>
              <a:t> </a:t>
            </a:r>
            <a:r>
              <a:rPr lang="en-US" sz="2400" dirty="0" err="1"/>
              <a:t>menyimpan</a:t>
            </a:r>
            <a:r>
              <a:rPr lang="en-US" sz="2400" dirty="0"/>
              <a:t> data </a:t>
            </a:r>
            <a:r>
              <a:rPr lang="en-US" sz="2400" dirty="0" err="1"/>
              <a:t>dengan</a:t>
            </a:r>
            <a:r>
              <a:rPr lang="en-US" sz="2400" dirty="0"/>
              <a:t> </a:t>
            </a:r>
            <a:r>
              <a:rPr lang="en-US" sz="2400" dirty="0" err="1"/>
              <a:t>tipe</a:t>
            </a:r>
            <a:r>
              <a:rPr lang="en-US" sz="2400" dirty="0"/>
              <a:t> data yang </a:t>
            </a:r>
            <a:r>
              <a:rPr lang="en-US" sz="2400" dirty="0" err="1"/>
              <a:t>berbeda</a:t>
            </a:r>
            <a:r>
              <a:rPr lang="en-US" sz="2400" dirty="0"/>
              <a:t> dan </a:t>
            </a:r>
            <a:r>
              <a:rPr lang="en-US" sz="2400" dirty="0" err="1"/>
              <a:t>setiap</a:t>
            </a:r>
            <a:r>
              <a:rPr lang="en-US" sz="2400" dirty="0"/>
              <a:t> </a:t>
            </a:r>
            <a:r>
              <a:rPr lang="en-US" sz="2400" dirty="0" err="1"/>
              <a:t>tipe</a:t>
            </a:r>
            <a:r>
              <a:rPr lang="en-US" sz="2400" dirty="0"/>
              <a:t> data </a:t>
            </a:r>
            <a:r>
              <a:rPr lang="en-US" sz="2400" dirty="0" err="1"/>
              <a:t>tersebut</a:t>
            </a:r>
            <a:r>
              <a:rPr lang="en-US" sz="2400" dirty="0"/>
              <a:t> </a:t>
            </a:r>
            <a:r>
              <a:rPr lang="en-US" sz="2400" dirty="0" err="1"/>
              <a:t>dapat</a:t>
            </a:r>
            <a:r>
              <a:rPr lang="en-US" sz="2400" dirty="0"/>
              <a:t> </a:t>
            </a:r>
            <a:r>
              <a:rPr lang="en-US" sz="2400" dirty="0" err="1"/>
              <a:t>melakukan</a:t>
            </a:r>
            <a:r>
              <a:rPr lang="en-US" sz="2400" dirty="0"/>
              <a:t> </a:t>
            </a:r>
            <a:r>
              <a:rPr lang="en-US" sz="2400" dirty="0" err="1"/>
              <a:t>berbagai</a:t>
            </a:r>
            <a:r>
              <a:rPr lang="en-US" sz="2400" dirty="0"/>
              <a:t> </a:t>
            </a:r>
            <a:r>
              <a:rPr lang="en-US" sz="2400" dirty="0" err="1"/>
              <a:t>hal</a:t>
            </a:r>
            <a:r>
              <a:rPr lang="en-US" sz="2400" dirty="0"/>
              <a:t> yang </a:t>
            </a:r>
            <a:r>
              <a:rPr lang="en-US" sz="2400" dirty="0" err="1"/>
              <a:t>berbeda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2934661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07E9B-3679-CF06-CBE1-0398301A9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Tipe</a:t>
            </a:r>
            <a:r>
              <a:rPr lang="en-US" dirty="0"/>
              <a:t> Data di Python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BDA4F4F-B4E4-7CC7-18D5-697515193E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2467" y="1338064"/>
            <a:ext cx="7772400" cy="5154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77961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5A67A-74F7-CAB5-49D2-53A4AE23D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Tipe</a:t>
            </a:r>
            <a:r>
              <a:rPr lang="en-US" dirty="0"/>
              <a:t> Data di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8F8288-707C-1BFC-757D-65650379C3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err="1"/>
              <a:t>Fungsi</a:t>
            </a:r>
            <a:r>
              <a:rPr lang="en-US" sz="2000" dirty="0"/>
              <a:t> 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type()</a:t>
            </a:r>
            <a:r>
              <a:rPr lang="en-US" sz="2000" dirty="0"/>
              <a:t> </a:t>
            </a:r>
            <a:r>
              <a:rPr lang="en-US" sz="2000" dirty="0" err="1"/>
              <a:t>digunakan</a:t>
            </a:r>
            <a:r>
              <a:rPr lang="en-US" sz="2000" dirty="0"/>
              <a:t> </a:t>
            </a:r>
            <a:r>
              <a:rPr lang="en-US" sz="2000" dirty="0" err="1"/>
              <a:t>untuk</a:t>
            </a:r>
            <a:r>
              <a:rPr lang="en-US" sz="2000" dirty="0"/>
              <a:t> </a:t>
            </a:r>
            <a:r>
              <a:rPr lang="en-US" sz="2000" dirty="0" err="1"/>
              <a:t>mengecek</a:t>
            </a:r>
            <a:r>
              <a:rPr lang="en-US" sz="2000" dirty="0"/>
              <a:t> </a:t>
            </a:r>
            <a:r>
              <a:rPr lang="en-US" sz="2000" dirty="0" err="1"/>
              <a:t>dipe</a:t>
            </a:r>
            <a:r>
              <a:rPr lang="en-US" sz="2000" dirty="0"/>
              <a:t> data </a:t>
            </a:r>
            <a:r>
              <a:rPr lang="en-US" sz="2000" dirty="0" err="1"/>
              <a:t>dari</a:t>
            </a:r>
            <a:r>
              <a:rPr lang="en-US" sz="2000" dirty="0"/>
              <a:t> </a:t>
            </a:r>
            <a:r>
              <a:rPr lang="en-US" sz="2000" dirty="0" err="1"/>
              <a:t>suatu</a:t>
            </a:r>
            <a:r>
              <a:rPr lang="en-US" sz="2000" dirty="0"/>
              <a:t> variable </a:t>
            </a:r>
            <a:r>
              <a:rPr lang="en-US" sz="2000" dirty="0" err="1"/>
              <a:t>atau</a:t>
            </a:r>
            <a:r>
              <a:rPr lang="en-US" sz="2000" dirty="0"/>
              <a:t> </a:t>
            </a:r>
            <a:r>
              <a:rPr lang="en-US" sz="2000" dirty="0" err="1"/>
              <a:t>nilai</a:t>
            </a:r>
            <a:r>
              <a:rPr lang="en-US" sz="2000" dirty="0"/>
              <a:t>.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 err="1"/>
              <a:t>Untuk</a:t>
            </a:r>
            <a:r>
              <a:rPr lang="en-US" sz="2000" dirty="0"/>
              <a:t> </a:t>
            </a:r>
            <a:r>
              <a:rPr lang="en-US" sz="2000" dirty="0" err="1"/>
              <a:t>mengubah</a:t>
            </a:r>
            <a:r>
              <a:rPr lang="en-US" sz="2000" dirty="0"/>
              <a:t> </a:t>
            </a:r>
            <a:r>
              <a:rPr lang="en-US" sz="2000" dirty="0" err="1"/>
              <a:t>tipe</a:t>
            </a:r>
            <a:r>
              <a:rPr lang="en-US" sz="2000" dirty="0"/>
              <a:t> data </a:t>
            </a:r>
            <a:r>
              <a:rPr lang="en-US" sz="2000" dirty="0" err="1"/>
              <a:t>tertentu</a:t>
            </a:r>
            <a:r>
              <a:rPr lang="en-US" sz="2000" dirty="0"/>
              <a:t> </a:t>
            </a:r>
            <a:r>
              <a:rPr lang="en-US" sz="2000" dirty="0" err="1"/>
              <a:t>bisa</a:t>
            </a:r>
            <a:r>
              <a:rPr lang="en-US" sz="2000" dirty="0"/>
              <a:t> </a:t>
            </a:r>
            <a:r>
              <a:rPr lang="en-US" sz="2000" dirty="0" err="1"/>
              <a:t>menggunakan</a:t>
            </a:r>
            <a:r>
              <a:rPr lang="en-US" sz="2000" dirty="0"/>
              <a:t> casting</a:t>
            </a:r>
          </a:p>
          <a:p>
            <a:pPr marL="0" indent="0">
              <a:buNone/>
            </a:pPr>
            <a:endParaRPr lang="en-US" sz="2000" dirty="0"/>
          </a:p>
        </p:txBody>
      </p:sp>
      <p:pic>
        <p:nvPicPr>
          <p:cNvPr id="16386" name="Picture 2">
            <a:extLst>
              <a:ext uri="{FF2B5EF4-FFF2-40B4-BE49-F238E27FC236}">
                <a16:creationId xmlns:a16="http://schemas.microsoft.com/office/drawing/2014/main" id="{090DEEE0-ED48-E94C-2690-22060A6F3E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8900" y="2230120"/>
            <a:ext cx="4057650" cy="15869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88" name="Picture 4">
            <a:extLst>
              <a:ext uri="{FF2B5EF4-FFF2-40B4-BE49-F238E27FC236}">
                <a16:creationId xmlns:a16="http://schemas.microsoft.com/office/drawing/2014/main" id="{343FF233-60A8-178B-9962-BCE0229D79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4613153"/>
            <a:ext cx="5353050" cy="1178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768594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F635ED2-1F8D-7CE8-EF9F-140CA593D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Tipe</a:t>
            </a:r>
            <a:r>
              <a:rPr lang="en-US" dirty="0"/>
              <a:t> Data di Python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6719C8-A7B4-F536-C29C-7D34DEBAB23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Montserrat" pitchFamily="2" charset="77"/>
              </a:rPr>
              <a:t>Berikut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Montserrat" pitchFamily="2" charset="77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Montserrat" pitchFamily="2" charset="77"/>
              </a:rPr>
              <a:t>adalah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Montserrat" pitchFamily="2" charset="77"/>
              </a:rPr>
              <a:t> table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Montserrat" pitchFamily="2" charset="77"/>
              </a:rPr>
              <a:t>contoh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Montserrat" pitchFamily="2" charset="77"/>
              </a:rPr>
              <a:t> </a:t>
            </a:r>
            <a:r>
              <a:rPr lang="en-ID" sz="1800" b="0" i="1" u="none" strike="noStrike" dirty="0">
                <a:solidFill>
                  <a:srgbClr val="000000"/>
                </a:solidFill>
                <a:effectLst/>
                <a:latin typeface="Montserrat" pitchFamily="2" charset="77"/>
              </a:rPr>
              <a:t>value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Montserrat" pitchFamily="2" charset="77"/>
              </a:rPr>
              <a:t>dari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Montserrat" pitchFamily="2" charset="77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Montserrat" pitchFamily="2" charset="77"/>
              </a:rPr>
              <a:t>suatu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Montserrat" pitchFamily="2" charset="77"/>
              </a:rPr>
              <a:t> variable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Montserrat" pitchFamily="2" charset="77"/>
              </a:rPr>
              <a:t>berserta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Montserrat" pitchFamily="2" charset="77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Montserrat" pitchFamily="2" charset="77"/>
              </a:rPr>
              <a:t>tipe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Montserrat" pitchFamily="2" charset="77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Montserrat" pitchFamily="2" charset="77"/>
              </a:rPr>
              <a:t>datanya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7C306CD-72D7-9E28-08A0-9877275F93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7125" y="2617272"/>
            <a:ext cx="485775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A50C3FB-B1FD-141C-84B4-E0B6464152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3768902"/>
              </p:ext>
            </p:extLst>
          </p:nvPr>
        </p:nvGraphicFramePr>
        <p:xfrm>
          <a:off x="5454497" y="1885950"/>
          <a:ext cx="6498471" cy="3086100"/>
        </p:xfrm>
        <a:graphic>
          <a:graphicData uri="http://schemas.openxmlformats.org/drawingml/2006/table">
            <a:tbl>
              <a:tblPr>
                <a:tableStyleId>{306799F8-075E-4A3A-A7F6-7FBC6576F1A4}</a:tableStyleId>
              </a:tblPr>
              <a:tblGrid>
                <a:gridCol w="2968909">
                  <a:extLst>
                    <a:ext uri="{9D8B030D-6E8A-4147-A177-3AD203B41FA5}">
                      <a16:colId xmlns:a16="http://schemas.microsoft.com/office/drawing/2014/main" val="1818540647"/>
                    </a:ext>
                  </a:extLst>
                </a:gridCol>
                <a:gridCol w="1847605">
                  <a:extLst>
                    <a:ext uri="{9D8B030D-6E8A-4147-A177-3AD203B41FA5}">
                      <a16:colId xmlns:a16="http://schemas.microsoft.com/office/drawing/2014/main" val="2169926425"/>
                    </a:ext>
                  </a:extLst>
                </a:gridCol>
                <a:gridCol w="1681957">
                  <a:extLst>
                    <a:ext uri="{9D8B030D-6E8A-4147-A177-3AD203B41FA5}">
                      <a16:colId xmlns:a16="http://schemas.microsoft.com/office/drawing/2014/main" val="3004734010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400" b="1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Contoh</a:t>
                      </a:r>
                      <a:r>
                        <a:rPr lang="en-ID" sz="14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ID" sz="1400" b="1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Variabel</a:t>
                      </a:r>
                      <a:endParaRPr lang="en-ID" sz="36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400" b="1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Tipe</a:t>
                      </a:r>
                      <a:r>
                        <a:rPr lang="en-ID" sz="14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 Data</a:t>
                      </a:r>
                      <a:endParaRPr lang="en-ID" sz="36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400" b="1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Keterangan</a:t>
                      </a:r>
                      <a:endParaRPr lang="en-ID" sz="36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4057134737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a = ''halo''</a:t>
                      </a:r>
                      <a:endParaRPr lang="en-ID" sz="3600">
                        <a:effectLst/>
                      </a:endParaRPr>
                    </a:p>
                  </a:txBody>
                  <a:tcPr marL="95250" marR="95250" marT="47625" marB="47625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str</a:t>
                      </a:r>
                      <a:endParaRPr lang="en-ID" sz="3600" dirty="0">
                        <a:effectLst/>
                      </a:endParaRPr>
                    </a:p>
                  </a:txBody>
                  <a:tcPr marL="95250" marR="95250" marT="47625" marB="47625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Strings</a:t>
                      </a:r>
                      <a:endParaRPr lang="en-ID" sz="3600">
                        <a:effectLst/>
                      </a:endParaRPr>
                    </a:p>
                  </a:txBody>
                  <a:tcPr marL="95250" marR="95250" marT="47625" marB="47625"/>
                </a:tc>
                <a:extLst>
                  <a:ext uri="{0D108BD9-81ED-4DB2-BD59-A6C34878D82A}">
                    <a16:rowId xmlns:a16="http://schemas.microsoft.com/office/drawing/2014/main" val="4234468893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a = 2</a:t>
                      </a:r>
                      <a:endParaRPr lang="en-ID" sz="3600">
                        <a:effectLst/>
                      </a:endParaRPr>
                    </a:p>
                  </a:txBody>
                  <a:tcPr marL="95250" marR="95250" marT="47625" marB="47625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int</a:t>
                      </a:r>
                      <a:endParaRPr lang="en-ID" sz="3600">
                        <a:effectLst/>
                      </a:endParaRPr>
                    </a:p>
                  </a:txBody>
                  <a:tcPr marL="95250" marR="95250" marT="47625" marB="47625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Integer</a:t>
                      </a:r>
                      <a:endParaRPr lang="en-ID" sz="3600">
                        <a:effectLst/>
                      </a:endParaRPr>
                    </a:p>
                  </a:txBody>
                  <a:tcPr marL="95250" marR="95250" marT="47625" marB="47625"/>
                </a:tc>
                <a:extLst>
                  <a:ext uri="{0D108BD9-81ED-4DB2-BD59-A6C34878D82A}">
                    <a16:rowId xmlns:a16="http://schemas.microsoft.com/office/drawing/2014/main" val="2341208195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a = 2.5</a:t>
                      </a:r>
                      <a:endParaRPr lang="en-ID" sz="3600">
                        <a:effectLst/>
                      </a:endParaRPr>
                    </a:p>
                  </a:txBody>
                  <a:tcPr marL="95250" marR="95250" marT="47625" marB="47625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float</a:t>
                      </a:r>
                      <a:endParaRPr lang="en-ID" sz="3600">
                        <a:effectLst/>
                      </a:endParaRPr>
                    </a:p>
                  </a:txBody>
                  <a:tcPr marL="95250" marR="95250" marT="47625" marB="47625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Float</a:t>
                      </a:r>
                      <a:endParaRPr lang="en-ID" sz="3600">
                        <a:effectLst/>
                      </a:endParaRPr>
                    </a:p>
                  </a:txBody>
                  <a:tcPr marL="95250" marR="95250" marT="47625" marB="47625"/>
                </a:tc>
                <a:extLst>
                  <a:ext uri="{0D108BD9-81ED-4DB2-BD59-A6C34878D82A}">
                    <a16:rowId xmlns:a16="http://schemas.microsoft.com/office/drawing/2014/main" val="3888404724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a = 2j</a:t>
                      </a:r>
                      <a:endParaRPr lang="en-ID" sz="3600">
                        <a:effectLst/>
                      </a:endParaRPr>
                    </a:p>
                  </a:txBody>
                  <a:tcPr marL="95250" marR="95250" marT="47625" marB="47625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complex</a:t>
                      </a:r>
                      <a:endParaRPr lang="en-ID" sz="3600">
                        <a:effectLst/>
                      </a:endParaRPr>
                    </a:p>
                  </a:txBody>
                  <a:tcPr marL="95250" marR="95250" marT="47625" marB="47625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Complex</a:t>
                      </a:r>
                      <a:endParaRPr lang="en-ID" sz="3600">
                        <a:effectLst/>
                      </a:endParaRPr>
                    </a:p>
                  </a:txBody>
                  <a:tcPr marL="95250" marR="95250" marT="47625" marB="47625"/>
                </a:tc>
                <a:extLst>
                  <a:ext uri="{0D108BD9-81ED-4DB2-BD59-A6C34878D82A}">
                    <a16:rowId xmlns:a16="http://schemas.microsoft.com/office/drawing/2014/main" val="2390449723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a = [''apel'', ''belimbing'', ''cherry'']</a:t>
                      </a:r>
                      <a:endParaRPr lang="en-ID" sz="3600">
                        <a:effectLst/>
                      </a:endParaRPr>
                    </a:p>
                  </a:txBody>
                  <a:tcPr marL="95250" marR="95250" marT="47625" marB="47625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list</a:t>
                      </a:r>
                      <a:endParaRPr lang="en-ID" sz="3600">
                        <a:effectLst/>
                      </a:endParaRPr>
                    </a:p>
                  </a:txBody>
                  <a:tcPr marL="95250" marR="95250" marT="47625" marB="47625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List</a:t>
                      </a:r>
                      <a:endParaRPr lang="en-ID" sz="3600">
                        <a:effectLst/>
                      </a:endParaRPr>
                    </a:p>
                  </a:txBody>
                  <a:tcPr marL="95250" marR="95250" marT="47625" marB="47625"/>
                </a:tc>
                <a:extLst>
                  <a:ext uri="{0D108BD9-81ED-4DB2-BD59-A6C34878D82A}">
                    <a16:rowId xmlns:a16="http://schemas.microsoft.com/office/drawing/2014/main" val="3685512854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a = (''apel'', ''belimbing'', ''cherry'')</a:t>
                      </a:r>
                      <a:endParaRPr lang="en-ID" sz="3600">
                        <a:effectLst/>
                      </a:endParaRPr>
                    </a:p>
                  </a:txBody>
                  <a:tcPr marL="95250" marR="95250" marT="47625" marB="47625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tuple</a:t>
                      </a:r>
                      <a:endParaRPr lang="en-ID" sz="3600">
                        <a:effectLst/>
                      </a:endParaRPr>
                    </a:p>
                  </a:txBody>
                  <a:tcPr marL="95250" marR="95250" marT="47625" marB="47625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Tuple</a:t>
                      </a:r>
                      <a:endParaRPr lang="en-ID" sz="3600">
                        <a:effectLst/>
                      </a:endParaRPr>
                    </a:p>
                  </a:txBody>
                  <a:tcPr marL="95250" marR="95250" marT="47625" marB="47625"/>
                </a:tc>
                <a:extLst>
                  <a:ext uri="{0D108BD9-81ED-4DB2-BD59-A6C34878D82A}">
                    <a16:rowId xmlns:a16="http://schemas.microsoft.com/office/drawing/2014/main" val="206721112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a = {''buah'' : ''apel'', ''jumlah'' : 2}</a:t>
                      </a:r>
                      <a:endParaRPr lang="en-ID" sz="3600">
                        <a:effectLst/>
                      </a:endParaRPr>
                    </a:p>
                  </a:txBody>
                  <a:tcPr marL="95250" marR="95250" marT="47625" marB="47625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dict</a:t>
                      </a:r>
                      <a:endParaRPr lang="en-ID" sz="3600">
                        <a:effectLst/>
                      </a:endParaRPr>
                    </a:p>
                  </a:txBody>
                  <a:tcPr marL="95250" marR="95250" marT="47625" marB="47625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Dictionary</a:t>
                      </a:r>
                      <a:endParaRPr lang="en-ID" sz="3600">
                        <a:effectLst/>
                      </a:endParaRPr>
                    </a:p>
                  </a:txBody>
                  <a:tcPr marL="95250" marR="95250" marT="47625" marB="47625"/>
                </a:tc>
                <a:extLst>
                  <a:ext uri="{0D108BD9-81ED-4DB2-BD59-A6C34878D82A}">
                    <a16:rowId xmlns:a16="http://schemas.microsoft.com/office/drawing/2014/main" val="217668199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a = {''apel'', ''belimbing'', ''cherry''}</a:t>
                      </a:r>
                      <a:endParaRPr lang="en-ID" sz="3600">
                        <a:effectLst/>
                      </a:endParaRPr>
                    </a:p>
                  </a:txBody>
                  <a:tcPr marL="95250" marR="95250" marT="47625" marB="47625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set</a:t>
                      </a:r>
                      <a:endParaRPr lang="en-ID" sz="3600">
                        <a:effectLst/>
                      </a:endParaRPr>
                    </a:p>
                  </a:txBody>
                  <a:tcPr marL="95250" marR="95250" marT="47625" marB="47625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Sets</a:t>
                      </a:r>
                      <a:endParaRPr lang="en-ID" sz="3600">
                        <a:effectLst/>
                      </a:endParaRPr>
                    </a:p>
                  </a:txBody>
                  <a:tcPr marL="95250" marR="95250" marT="47625" marB="47625"/>
                </a:tc>
                <a:extLst>
                  <a:ext uri="{0D108BD9-81ED-4DB2-BD59-A6C34878D82A}">
                    <a16:rowId xmlns:a16="http://schemas.microsoft.com/office/drawing/2014/main" val="205384405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a = True</a:t>
                      </a:r>
                      <a:endParaRPr lang="en-ID" sz="3600">
                        <a:effectLst/>
                      </a:endParaRPr>
                    </a:p>
                  </a:txBody>
                  <a:tcPr marL="95250" marR="95250" marT="47625" marB="47625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boolean</a:t>
                      </a:r>
                      <a:endParaRPr lang="en-ID" sz="3600">
                        <a:effectLst/>
                      </a:endParaRPr>
                    </a:p>
                  </a:txBody>
                  <a:tcPr marL="95250" marR="95250" marT="47625" marB="47625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Boolean</a:t>
                      </a:r>
                      <a:endParaRPr lang="en-ID" sz="3600" dirty="0">
                        <a:effectLst/>
                      </a:endParaRPr>
                    </a:p>
                  </a:txBody>
                  <a:tcPr marL="95250" marR="95250" marT="47625" marB="47625"/>
                </a:tc>
                <a:extLst>
                  <a:ext uri="{0D108BD9-81ED-4DB2-BD59-A6C34878D82A}">
                    <a16:rowId xmlns:a16="http://schemas.microsoft.com/office/drawing/2014/main" val="23686996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229727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A71A6-5F02-8EBE-183C-DB9A352CE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D9298A-5ABE-F130-3B42-2F1F888C5C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1. </a:t>
            </a:r>
            <a:r>
              <a:rPr lang="en-US" dirty="0" err="1"/>
              <a:t>Manakah</a:t>
            </a:r>
            <a:r>
              <a:rPr lang="en-US" dirty="0"/>
              <a:t> </a:t>
            </a:r>
            <a:r>
              <a:rPr lang="en-US" dirty="0" err="1"/>
              <a:t>diantara</a:t>
            </a:r>
            <a:r>
              <a:rPr lang="en-US" dirty="0"/>
              <a:t> </a:t>
            </a:r>
            <a:r>
              <a:rPr lang="en-US" dirty="0" err="1"/>
              <a:t>pilihan</a:t>
            </a:r>
            <a:r>
              <a:rPr lang="en-US" dirty="0"/>
              <a:t> </a:t>
            </a:r>
            <a:r>
              <a:rPr lang="en-US" dirty="0" err="1"/>
              <a:t>berikut</a:t>
            </a:r>
            <a:r>
              <a:rPr lang="en-US" dirty="0"/>
              <a:t> yang </a:t>
            </a:r>
            <a:r>
              <a:rPr lang="en-US" dirty="0" err="1"/>
              <a:t>bukan</a:t>
            </a:r>
            <a:r>
              <a:rPr lang="en-US" dirty="0"/>
              <a:t> </a:t>
            </a:r>
            <a:r>
              <a:rPr lang="en-US" dirty="0" err="1"/>
              <a:t>merupakan</a:t>
            </a:r>
            <a:r>
              <a:rPr lang="en-US" dirty="0"/>
              <a:t> </a:t>
            </a:r>
            <a:r>
              <a:rPr lang="en-US" dirty="0" err="1"/>
              <a:t>tipe</a:t>
            </a:r>
            <a:r>
              <a:rPr lang="en-US" dirty="0"/>
              <a:t> data di Python?</a:t>
            </a:r>
          </a:p>
          <a:p>
            <a:pPr marL="514350" indent="-514350">
              <a:buFont typeface="+mj-lt"/>
              <a:buAutoNum type="alphaLcPeriod"/>
            </a:pPr>
            <a:r>
              <a:rPr lang="en-US" dirty="0"/>
              <a:t>Dictionary</a:t>
            </a:r>
          </a:p>
          <a:p>
            <a:pPr marL="514350" indent="-514350">
              <a:buFont typeface="+mj-lt"/>
              <a:buAutoNum type="alphaLcPeriod"/>
            </a:pPr>
            <a:r>
              <a:rPr lang="en-US" dirty="0"/>
              <a:t>Complex</a:t>
            </a:r>
          </a:p>
          <a:p>
            <a:pPr marL="514350" indent="-514350">
              <a:buFont typeface="+mj-lt"/>
              <a:buAutoNum type="alphaLcPeriod"/>
            </a:pPr>
            <a:r>
              <a:rPr lang="en-US" dirty="0"/>
              <a:t>Boolean</a:t>
            </a:r>
          </a:p>
          <a:p>
            <a:pPr marL="514350" indent="-514350">
              <a:buFont typeface="+mj-lt"/>
              <a:buAutoNum type="alphaLcPeriod"/>
            </a:pPr>
            <a:r>
              <a:rPr lang="en-US" dirty="0"/>
              <a:t>Object</a:t>
            </a:r>
          </a:p>
          <a:p>
            <a:pPr marL="514350" indent="-514350">
              <a:buFont typeface="+mj-lt"/>
              <a:buAutoNum type="alphaLcPeriod"/>
            </a:pPr>
            <a:r>
              <a:rPr lang="en-US" dirty="0"/>
              <a:t>Tuple</a:t>
            </a:r>
          </a:p>
          <a:p>
            <a:pPr marL="0" indent="0">
              <a:buNone/>
            </a:pPr>
            <a:r>
              <a:rPr lang="en-US" dirty="0"/>
              <a:t>2. </a:t>
            </a:r>
            <a:r>
              <a:rPr lang="en-US" dirty="0" err="1"/>
              <a:t>Manakah</a:t>
            </a:r>
            <a:r>
              <a:rPr lang="en-US" dirty="0"/>
              <a:t> variable yang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tipe</a:t>
            </a:r>
            <a:r>
              <a:rPr lang="en-US" dirty="0"/>
              <a:t> data float?</a:t>
            </a:r>
          </a:p>
          <a:p>
            <a:pPr marL="514350" indent="-514350">
              <a:buFont typeface="+mj-lt"/>
              <a:buAutoNum type="alphaLcPeriod"/>
            </a:pPr>
            <a:r>
              <a:rPr lang="en-US" dirty="0"/>
              <a:t>a = 4j</a:t>
            </a:r>
          </a:p>
          <a:p>
            <a:pPr marL="514350" indent="-514350">
              <a:buFont typeface="+mj-lt"/>
              <a:buAutoNum type="alphaLcPeriod"/>
            </a:pPr>
            <a:r>
              <a:rPr lang="en-US" dirty="0"/>
              <a:t>b = [''</a:t>
            </a:r>
            <a:r>
              <a:rPr lang="en-US" dirty="0" err="1"/>
              <a:t>apel</a:t>
            </a:r>
            <a:r>
              <a:rPr lang="en-US" dirty="0"/>
              <a:t>'', ''</a:t>
            </a:r>
            <a:r>
              <a:rPr lang="en-US" dirty="0" err="1"/>
              <a:t>belimbing</a:t>
            </a:r>
            <a:r>
              <a:rPr lang="en-US" dirty="0"/>
              <a:t>'', ''cherry‘’]</a:t>
            </a:r>
          </a:p>
          <a:p>
            <a:pPr marL="514350" indent="-514350">
              <a:buFont typeface="+mj-lt"/>
              <a:buAutoNum type="alphaLcPeriod"/>
            </a:pPr>
            <a:r>
              <a:rPr lang="en-US" dirty="0"/>
              <a:t>c = 2.0</a:t>
            </a:r>
          </a:p>
          <a:p>
            <a:pPr marL="514350" indent="-514350">
              <a:buFont typeface="+mj-lt"/>
              <a:buAutoNum type="alphaLcPeriod"/>
            </a:pPr>
            <a:r>
              <a:rPr lang="en-US" dirty="0"/>
              <a:t>d = 6</a:t>
            </a:r>
          </a:p>
          <a:p>
            <a:pPr marL="514350" indent="-514350">
              <a:buFont typeface="+mj-lt"/>
              <a:buAutoNum type="alphaLcPeriod"/>
            </a:pPr>
            <a:r>
              <a:rPr lang="en-US" dirty="0"/>
              <a:t>e = {''</a:t>
            </a:r>
            <a:r>
              <a:rPr lang="en-US" dirty="0" err="1"/>
              <a:t>buah</a:t>
            </a:r>
            <a:r>
              <a:rPr lang="en-US" dirty="0"/>
              <a:t>'' : ''</a:t>
            </a:r>
            <a:r>
              <a:rPr lang="en-US" dirty="0" err="1"/>
              <a:t>apel</a:t>
            </a:r>
            <a:r>
              <a:rPr lang="en-US" dirty="0"/>
              <a:t>'', ''</a:t>
            </a:r>
            <a:r>
              <a:rPr lang="en-US" dirty="0" err="1"/>
              <a:t>jumlah</a:t>
            </a:r>
            <a:r>
              <a:rPr lang="en-US" dirty="0"/>
              <a:t>'' : 2}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661727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577880-9EAC-E32A-74AC-629E2AE49D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D05626F-216D-713A-7F73-CA2EBB72D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Python Numeric</a:t>
            </a:r>
          </a:p>
        </p:txBody>
      </p:sp>
    </p:spTree>
    <p:extLst>
      <p:ext uri="{BB962C8B-B14F-4D97-AF65-F5344CB8AC3E}">
        <p14:creationId xmlns:p14="http://schemas.microsoft.com/office/powerpoint/2010/main" val="57523595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274EB-A26B-A6AC-8AB4-DAA7CD6AB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983A5C-7282-8850-A108-64CEA360E0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err="1"/>
              <a:t>Tipe</a:t>
            </a:r>
            <a:r>
              <a:rPr lang="en-US" sz="2000" dirty="0"/>
              <a:t> data numeric </a:t>
            </a:r>
            <a:r>
              <a:rPr lang="en-US" sz="2000" dirty="0" err="1"/>
              <a:t>adalah</a:t>
            </a:r>
            <a:r>
              <a:rPr lang="en-US" sz="2000" dirty="0"/>
              <a:t> </a:t>
            </a:r>
            <a:r>
              <a:rPr lang="en-US" sz="2000" dirty="0" err="1"/>
              <a:t>jenis</a:t>
            </a:r>
            <a:r>
              <a:rPr lang="en-US" sz="2000" dirty="0"/>
              <a:t> </a:t>
            </a:r>
            <a:r>
              <a:rPr lang="en-US" sz="2000" dirty="0" err="1"/>
              <a:t>tipe</a:t>
            </a:r>
            <a:r>
              <a:rPr lang="en-US" sz="2000" dirty="0"/>
              <a:t> data yang </a:t>
            </a:r>
            <a:r>
              <a:rPr lang="en-US" sz="2000" dirty="0" err="1"/>
              <a:t>bersifat</a:t>
            </a:r>
            <a:r>
              <a:rPr lang="en-US" sz="2000" dirty="0"/>
              <a:t> </a:t>
            </a:r>
            <a:r>
              <a:rPr lang="en-US" sz="2000" dirty="0" err="1"/>
              <a:t>angka</a:t>
            </a:r>
            <a:r>
              <a:rPr lang="en-US" sz="2000" dirty="0"/>
              <a:t> yang </a:t>
            </a:r>
            <a:r>
              <a:rPr lang="en-US" sz="2000" dirty="0" err="1"/>
              <a:t>dapat</a:t>
            </a:r>
            <a:r>
              <a:rPr lang="en-US" sz="2000" dirty="0"/>
              <a:t> </a:t>
            </a:r>
            <a:r>
              <a:rPr lang="en-US" sz="2000" dirty="0" err="1"/>
              <a:t>ditambah</a:t>
            </a:r>
            <a:r>
              <a:rPr lang="en-US" sz="2000" dirty="0"/>
              <a:t>, </a:t>
            </a:r>
            <a:r>
              <a:rPr lang="en-US" sz="2000" dirty="0" err="1"/>
              <a:t>dikurang</a:t>
            </a:r>
            <a:r>
              <a:rPr lang="en-US" sz="2000" dirty="0"/>
              <a:t>, </a:t>
            </a:r>
            <a:r>
              <a:rPr lang="en-US" sz="2000" dirty="0" err="1"/>
              <a:t>dibagi</a:t>
            </a:r>
            <a:r>
              <a:rPr lang="en-US" sz="2000" dirty="0"/>
              <a:t>, </a:t>
            </a:r>
            <a:r>
              <a:rPr lang="en-US" sz="2000" dirty="0" err="1"/>
              <a:t>dikali</a:t>
            </a:r>
            <a:r>
              <a:rPr lang="en-US" sz="2000" dirty="0"/>
              <a:t>, </a:t>
            </a:r>
            <a:r>
              <a:rPr lang="en-US" sz="2000" dirty="0" err="1"/>
              <a:t>dll</a:t>
            </a:r>
            <a:r>
              <a:rPr lang="en-US" sz="2000" dirty="0"/>
              <a:t>.</a:t>
            </a:r>
          </a:p>
          <a:p>
            <a:r>
              <a:rPr lang="en-US" sz="2000" dirty="0" err="1"/>
              <a:t>Tipe</a:t>
            </a:r>
            <a:r>
              <a:rPr lang="en-US" sz="2000" dirty="0"/>
              <a:t> data integer (int) </a:t>
            </a:r>
            <a:r>
              <a:rPr lang="en-US" sz="2000" dirty="0" err="1"/>
              <a:t>merupakan</a:t>
            </a:r>
            <a:r>
              <a:rPr lang="en-US" sz="2000" dirty="0"/>
              <a:t> </a:t>
            </a:r>
            <a:r>
              <a:rPr lang="en-US" sz="2000" dirty="0" err="1"/>
              <a:t>nilai</a:t>
            </a:r>
            <a:r>
              <a:rPr lang="en-US" sz="2000" dirty="0"/>
              <a:t> </a:t>
            </a:r>
            <a:r>
              <a:rPr lang="en-US" sz="2000" dirty="0" err="1"/>
              <a:t>bilangan</a:t>
            </a:r>
            <a:r>
              <a:rPr lang="en-US" sz="2000" dirty="0"/>
              <a:t> </a:t>
            </a:r>
            <a:r>
              <a:rPr lang="en-US" sz="2000" dirty="0" err="1"/>
              <a:t>bulat</a:t>
            </a:r>
            <a:r>
              <a:rPr lang="en-US" sz="2000" dirty="0"/>
              <a:t> </a:t>
            </a:r>
            <a:r>
              <a:rPr lang="en-US" sz="2000" dirty="0" err="1"/>
              <a:t>positif</a:t>
            </a:r>
            <a:r>
              <a:rPr lang="en-US" sz="2000" dirty="0"/>
              <a:t> </a:t>
            </a:r>
            <a:r>
              <a:rPr lang="en-US" sz="2000" dirty="0" err="1"/>
              <a:t>atau</a:t>
            </a:r>
            <a:r>
              <a:rPr lang="en-US" sz="2000" dirty="0"/>
              <a:t> </a:t>
            </a:r>
            <a:r>
              <a:rPr lang="en-US" sz="2000" dirty="0" err="1"/>
              <a:t>negatif</a:t>
            </a:r>
            <a:r>
              <a:rPr lang="en-US" sz="2000" dirty="0"/>
              <a:t>, </a:t>
            </a:r>
            <a:r>
              <a:rPr lang="en-US" sz="2000" dirty="0" err="1"/>
              <a:t>tanpa</a:t>
            </a:r>
            <a:r>
              <a:rPr lang="en-US" sz="2000" dirty="0"/>
              <a:t> decimal dan </a:t>
            </a:r>
            <a:r>
              <a:rPr lang="en-US" sz="2000" dirty="0" err="1"/>
              <a:t>memiliki</a:t>
            </a:r>
            <a:r>
              <a:rPr lang="en-US" sz="2000" dirty="0"/>
              <a:t> </a:t>
            </a:r>
            <a:r>
              <a:rPr lang="en-US" sz="2000" dirty="0" err="1"/>
              <a:t>panjang</a:t>
            </a:r>
            <a:r>
              <a:rPr lang="en-US" sz="2000" dirty="0"/>
              <a:t> yang </a:t>
            </a:r>
            <a:r>
              <a:rPr lang="en-US" sz="2000" dirty="0" err="1"/>
              <a:t>tak</a:t>
            </a:r>
            <a:r>
              <a:rPr lang="en-US" sz="2000" dirty="0"/>
              <a:t> </a:t>
            </a:r>
            <a:r>
              <a:rPr lang="en-US" sz="2000" dirty="0" err="1"/>
              <a:t>terbatas</a:t>
            </a:r>
            <a:r>
              <a:rPr lang="en-US" sz="2000" dirty="0"/>
              <a:t> (unlimited)</a:t>
            </a:r>
          </a:p>
          <a:p>
            <a:r>
              <a:rPr lang="en-US" sz="2000" dirty="0" err="1"/>
              <a:t>Setiap</a:t>
            </a:r>
            <a:r>
              <a:rPr lang="en-US" sz="2000" dirty="0"/>
              <a:t> </a:t>
            </a:r>
            <a:r>
              <a:rPr lang="en-US" sz="2000" dirty="0" err="1"/>
              <a:t>variabel</a:t>
            </a:r>
            <a:r>
              <a:rPr lang="en-US" sz="2000" dirty="0"/>
              <a:t> yang </a:t>
            </a:r>
            <a:r>
              <a:rPr lang="en-US" sz="2000" dirty="0" err="1"/>
              <a:t>memiliki</a:t>
            </a:r>
            <a:r>
              <a:rPr lang="en-US" sz="2000" dirty="0"/>
              <a:t> </a:t>
            </a:r>
            <a:r>
              <a:rPr lang="en-US" sz="2000" dirty="0" err="1"/>
              <a:t>nilai</a:t>
            </a:r>
            <a:r>
              <a:rPr lang="en-US" sz="2000" dirty="0"/>
              <a:t> </a:t>
            </a:r>
            <a:r>
              <a:rPr lang="en-US" sz="2000" dirty="0" err="1"/>
              <a:t>bulat</a:t>
            </a:r>
            <a:r>
              <a:rPr lang="en-US" sz="2000" dirty="0"/>
              <a:t>, </a:t>
            </a:r>
            <a:r>
              <a:rPr lang="en-US" sz="2000" dirty="0" err="1"/>
              <a:t>pasti</a:t>
            </a:r>
            <a:r>
              <a:rPr lang="en-US" sz="2000" dirty="0"/>
              <a:t> </a:t>
            </a:r>
            <a:r>
              <a:rPr lang="en-US" sz="2000" dirty="0" err="1"/>
              <a:t>dikategorikan</a:t>
            </a:r>
            <a:r>
              <a:rPr lang="en-US" sz="2000" dirty="0"/>
              <a:t> </a:t>
            </a:r>
            <a:r>
              <a:rPr lang="en-US" sz="2000" dirty="0" err="1"/>
              <a:t>sebagai</a:t>
            </a:r>
            <a:r>
              <a:rPr lang="en-US" sz="2000" dirty="0"/>
              <a:t> integer.</a:t>
            </a:r>
          </a:p>
          <a:p>
            <a:pPr marL="0" indent="0">
              <a:buNone/>
            </a:pPr>
            <a:endParaRPr lang="en-US" sz="2000" dirty="0"/>
          </a:p>
        </p:txBody>
      </p:sp>
      <p:pic>
        <p:nvPicPr>
          <p:cNvPr id="18434" name="Picture 2">
            <a:extLst>
              <a:ext uri="{FF2B5EF4-FFF2-40B4-BE49-F238E27FC236}">
                <a16:creationId xmlns:a16="http://schemas.microsoft.com/office/drawing/2014/main" id="{B39B4383-B153-DE24-CAF7-DFC9D03A8C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2157" y="4001294"/>
            <a:ext cx="6339785" cy="1945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607622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BF461-9F58-64CA-4235-F82362B9E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ED2754-3435-334D-3FDB-0806E0594E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err="1"/>
              <a:t>Variabel</a:t>
            </a:r>
            <a:r>
              <a:rPr lang="en-US" sz="2000" dirty="0"/>
              <a:t> </a:t>
            </a:r>
            <a:r>
              <a:rPr lang="en-US" sz="2000" dirty="0" err="1"/>
              <a:t>dengan</a:t>
            </a:r>
            <a:r>
              <a:rPr lang="en-US" sz="2000" dirty="0"/>
              <a:t> </a:t>
            </a:r>
            <a:r>
              <a:rPr lang="en-US" sz="2000" dirty="0" err="1"/>
              <a:t>tipe</a:t>
            </a:r>
            <a:r>
              <a:rPr lang="en-US" sz="2000" dirty="0"/>
              <a:t> data float </a:t>
            </a:r>
            <a:r>
              <a:rPr lang="en-US" sz="2000" dirty="0" err="1"/>
              <a:t>digunakan</a:t>
            </a:r>
            <a:r>
              <a:rPr lang="en-US" sz="2000" dirty="0"/>
              <a:t> </a:t>
            </a:r>
            <a:r>
              <a:rPr lang="en-US" sz="2000" dirty="0" err="1"/>
              <a:t>untuk</a:t>
            </a:r>
            <a:r>
              <a:rPr lang="en-US" sz="2000" dirty="0"/>
              <a:t> </a:t>
            </a:r>
            <a:r>
              <a:rPr lang="en-US" sz="2000" dirty="0" err="1"/>
              <a:t>menyimpan</a:t>
            </a:r>
            <a:r>
              <a:rPr lang="en-US" sz="2000" dirty="0"/>
              <a:t> </a:t>
            </a:r>
            <a:r>
              <a:rPr lang="en-US" sz="2000" dirty="0" err="1"/>
              <a:t>nilai</a:t>
            </a:r>
            <a:r>
              <a:rPr lang="en-US" sz="2000" dirty="0"/>
              <a:t> </a:t>
            </a:r>
            <a:r>
              <a:rPr lang="en-US" sz="2000" dirty="0" err="1"/>
              <a:t>pecahan</a:t>
            </a:r>
            <a:r>
              <a:rPr lang="en-US" sz="2000" dirty="0"/>
              <a:t> </a:t>
            </a:r>
            <a:r>
              <a:rPr lang="en-US" sz="2000" dirty="0" err="1"/>
              <a:t>atau</a:t>
            </a:r>
            <a:r>
              <a:rPr lang="en-US" sz="2000" dirty="0"/>
              <a:t> decimal.</a:t>
            </a:r>
          </a:p>
          <a:p>
            <a:r>
              <a:rPr lang="en-US" sz="2000" dirty="0"/>
              <a:t>Batas </a:t>
            </a:r>
            <a:r>
              <a:rPr lang="en-US" sz="2000" dirty="0" err="1"/>
              <a:t>panjang</a:t>
            </a:r>
            <a:r>
              <a:rPr lang="en-US" sz="2000" dirty="0"/>
              <a:t> </a:t>
            </a:r>
            <a:r>
              <a:rPr lang="en-US" sz="2000" dirty="0" err="1"/>
              <a:t>tipe</a:t>
            </a:r>
            <a:r>
              <a:rPr lang="en-US" sz="2000" dirty="0"/>
              <a:t> data float </a:t>
            </a:r>
            <a:r>
              <a:rPr lang="en-US" sz="2000" dirty="0" err="1"/>
              <a:t>adalah</a:t>
            </a:r>
            <a:r>
              <a:rPr lang="en-US" sz="2000" dirty="0"/>
              <a:t> 17 </a:t>
            </a:r>
            <a:r>
              <a:rPr lang="en-US" sz="2000" dirty="0" err="1"/>
              <a:t>angka</a:t>
            </a:r>
            <a:r>
              <a:rPr lang="en-US" sz="2000" dirty="0"/>
              <a:t> </a:t>
            </a:r>
            <a:r>
              <a:rPr lang="en-US" sz="2000" dirty="0" err="1"/>
              <a:t>dibelakang</a:t>
            </a:r>
            <a:r>
              <a:rPr lang="en-US" sz="2000" dirty="0"/>
              <a:t> </a:t>
            </a:r>
            <a:r>
              <a:rPr lang="en-US" sz="2000" dirty="0" err="1"/>
              <a:t>koma</a:t>
            </a:r>
            <a:r>
              <a:rPr lang="en-US" sz="2000" dirty="0"/>
              <a:t>.</a:t>
            </a:r>
          </a:p>
          <a:p>
            <a:r>
              <a:rPr lang="en-US" sz="2000" dirty="0"/>
              <a:t>Float juga </a:t>
            </a:r>
            <a:r>
              <a:rPr lang="en-US" sz="2000" dirty="0" err="1"/>
              <a:t>dapat</a:t>
            </a:r>
            <a:r>
              <a:rPr lang="en-US" sz="2000" dirty="0"/>
              <a:t> </a:t>
            </a:r>
            <a:r>
              <a:rPr lang="en-US" sz="2000" dirty="0" err="1"/>
              <a:t>berupa</a:t>
            </a:r>
            <a:r>
              <a:rPr lang="en-US" sz="2000" dirty="0"/>
              <a:t> </a:t>
            </a:r>
            <a:r>
              <a:rPr lang="en-US" sz="2000" dirty="0" err="1"/>
              <a:t>bilangan</a:t>
            </a:r>
            <a:r>
              <a:rPr lang="en-US" sz="2000" dirty="0"/>
              <a:t> </a:t>
            </a:r>
            <a:r>
              <a:rPr lang="en-US" sz="2000" dirty="0" err="1"/>
              <a:t>ilmiah</a:t>
            </a:r>
            <a:r>
              <a:rPr lang="en-US" sz="2000" dirty="0"/>
              <a:t> </a:t>
            </a:r>
            <a:r>
              <a:rPr lang="en-US" sz="2000" dirty="0" err="1"/>
              <a:t>dengan</a:t>
            </a:r>
            <a:r>
              <a:rPr lang="en-US" sz="2000" dirty="0"/>
              <a:t> </a:t>
            </a:r>
            <a:r>
              <a:rPr lang="en-US" sz="2000" dirty="0" err="1"/>
              <a:t>huruf</a:t>
            </a:r>
            <a:r>
              <a:rPr lang="en-US" sz="2000" dirty="0"/>
              <a:t> “e” yang </a:t>
            </a:r>
            <a:r>
              <a:rPr lang="en-US" sz="2000" dirty="0" err="1"/>
              <a:t>merepresentasikan</a:t>
            </a:r>
            <a:r>
              <a:rPr lang="en-US" sz="2000" dirty="0"/>
              <a:t> </a:t>
            </a:r>
            <a:r>
              <a:rPr lang="en-US" sz="2000" dirty="0" err="1"/>
              <a:t>pangkat</a:t>
            </a:r>
            <a:r>
              <a:rPr lang="en-US" sz="2000" dirty="0"/>
              <a:t> 10</a:t>
            </a:r>
          </a:p>
        </p:txBody>
      </p:sp>
      <p:pic>
        <p:nvPicPr>
          <p:cNvPr id="19458" name="Picture 2">
            <a:extLst>
              <a:ext uri="{FF2B5EF4-FFF2-40B4-BE49-F238E27FC236}">
                <a16:creationId xmlns:a16="http://schemas.microsoft.com/office/drawing/2014/main" id="{FE9AF4AA-3348-3B2E-2073-BB9C0D12E3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0133" y="3340783"/>
            <a:ext cx="5588000" cy="17118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60" name="Picture 4">
            <a:extLst>
              <a:ext uri="{FF2B5EF4-FFF2-40B4-BE49-F238E27FC236}">
                <a16:creationId xmlns:a16="http://schemas.microsoft.com/office/drawing/2014/main" id="{F31D25BA-D8D7-DDE2-BE3E-3F0BE6EAAA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0133" y="5332603"/>
            <a:ext cx="6064250" cy="730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905586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570E8-87C8-E5E8-316E-07CB9850D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5E80B8-27D1-2DB2-7D13-2F84811D54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err="1"/>
              <a:t>Tipe</a:t>
            </a:r>
            <a:r>
              <a:rPr lang="en-US" sz="2400" dirty="0"/>
              <a:t> data complex </a:t>
            </a:r>
            <a:r>
              <a:rPr lang="en-US" sz="2400" dirty="0" err="1"/>
              <a:t>merupakan</a:t>
            </a:r>
            <a:r>
              <a:rPr lang="en-US" sz="2400" dirty="0"/>
              <a:t> data yang </a:t>
            </a:r>
            <a:r>
              <a:rPr lang="en-US" sz="2400" dirty="0" err="1"/>
              <a:t>merepresentasikan</a:t>
            </a:r>
            <a:r>
              <a:rPr lang="en-US" sz="2400" dirty="0"/>
              <a:t> </a:t>
            </a:r>
            <a:r>
              <a:rPr lang="en-US" sz="2400" dirty="0" err="1"/>
              <a:t>nilai</a:t>
            </a:r>
            <a:r>
              <a:rPr lang="en-US" sz="2400" dirty="0"/>
              <a:t> </a:t>
            </a:r>
            <a:r>
              <a:rPr lang="en-US" sz="2400" dirty="0" err="1"/>
              <a:t>imajiner</a:t>
            </a:r>
            <a:endParaRPr lang="en-US" sz="2400" dirty="0"/>
          </a:p>
          <a:p>
            <a:r>
              <a:rPr lang="en-US" sz="2400" dirty="0"/>
              <a:t>Nilai </a:t>
            </a:r>
            <a:r>
              <a:rPr lang="en-US" sz="2400" dirty="0" err="1"/>
              <a:t>imajiner</a:t>
            </a:r>
            <a:r>
              <a:rPr lang="en-US" sz="2400" dirty="0"/>
              <a:t> </a:t>
            </a:r>
            <a:r>
              <a:rPr lang="en-US" sz="2400" dirty="0" err="1"/>
              <a:t>dalam</a:t>
            </a:r>
            <a:r>
              <a:rPr lang="en-US" sz="2400" dirty="0"/>
              <a:t> Python </a:t>
            </a:r>
            <a:r>
              <a:rPr lang="en-US" sz="2400" dirty="0" err="1"/>
              <a:t>ditulis</a:t>
            </a:r>
            <a:r>
              <a:rPr lang="en-US" sz="2400" dirty="0"/>
              <a:t> </a:t>
            </a:r>
            <a:r>
              <a:rPr lang="en-US" sz="2400" dirty="0" err="1"/>
              <a:t>dengan</a:t>
            </a:r>
            <a:r>
              <a:rPr lang="en-US" sz="2400" dirty="0"/>
              <a:t> </a:t>
            </a:r>
            <a:r>
              <a:rPr lang="en-US" sz="2400" dirty="0" err="1"/>
              <a:t>karakter</a:t>
            </a:r>
            <a:r>
              <a:rPr lang="en-US" sz="2400" dirty="0"/>
              <a:t> </a:t>
            </a:r>
            <a:r>
              <a:rPr lang="en-US" sz="2400" dirty="0" err="1"/>
              <a:t>huruf</a:t>
            </a:r>
            <a:r>
              <a:rPr lang="en-US" sz="2400" dirty="0"/>
              <a:t> “j”</a:t>
            </a:r>
          </a:p>
          <a:p>
            <a:pPr marL="0" indent="0">
              <a:buNone/>
            </a:pPr>
            <a:endParaRPr lang="en-US" sz="2400" dirty="0"/>
          </a:p>
        </p:txBody>
      </p:sp>
      <p:pic>
        <p:nvPicPr>
          <p:cNvPr id="20482" name="Picture 2">
            <a:extLst>
              <a:ext uri="{FF2B5EF4-FFF2-40B4-BE49-F238E27FC236}">
                <a16:creationId xmlns:a16="http://schemas.microsoft.com/office/drawing/2014/main" id="{93475E28-1BD7-863A-443C-A17753C946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2289" y="3268043"/>
            <a:ext cx="6115050" cy="18994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46787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22D2C-F8BB-1EF1-57E4-4AD15AC51A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4719" y="365125"/>
            <a:ext cx="6037881" cy="1325563"/>
          </a:xfrm>
        </p:spPr>
        <p:txBody>
          <a:bodyPr>
            <a:normAutofit/>
          </a:bodyPr>
          <a:lstStyle/>
          <a:p>
            <a:pPr algn="ctr"/>
            <a:r>
              <a:rPr lang="en-US" dirty="0" err="1"/>
              <a:t>Fungsi</a:t>
            </a:r>
            <a:r>
              <a:rPr lang="en-US" dirty="0"/>
              <a:t> Numeric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E432F5-6529-73B7-928B-9FDBEE14CE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22859" y="2262227"/>
            <a:ext cx="10261600" cy="2413349"/>
          </a:xfrm>
        </p:spPr>
        <p:txBody>
          <a:bodyPr/>
          <a:lstStyle/>
          <a:p>
            <a:r>
              <a:rPr lang="en-US" dirty="0" err="1"/>
              <a:t>Berikut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beberapa</a:t>
            </a:r>
            <a:r>
              <a:rPr lang="en-US" dirty="0"/>
              <a:t> </a:t>
            </a:r>
            <a:r>
              <a:rPr lang="en-US" dirty="0" err="1"/>
              <a:t>fungsi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tipe</a:t>
            </a:r>
            <a:r>
              <a:rPr lang="en-US" dirty="0"/>
              <a:t> data numeric di Python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734541DC-AC63-B909-FA43-37FB84B4B14B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073822724"/>
              </p:ext>
            </p:extLst>
          </p:nvPr>
        </p:nvGraphicFramePr>
        <p:xfrm>
          <a:off x="608189" y="3468901"/>
          <a:ext cx="11226799" cy="2186664"/>
        </p:xfrm>
        <a:graphic>
          <a:graphicData uri="http://schemas.openxmlformats.org/drawingml/2006/table">
            <a:tbl>
              <a:tblPr>
                <a:tableStyleId>{125E5076-3810-47DD-B79F-674D7AD40C01}</a:tableStyleId>
              </a:tblPr>
              <a:tblGrid>
                <a:gridCol w="1787064">
                  <a:extLst>
                    <a:ext uri="{9D8B030D-6E8A-4147-A177-3AD203B41FA5}">
                      <a16:colId xmlns:a16="http://schemas.microsoft.com/office/drawing/2014/main" val="4024552011"/>
                    </a:ext>
                  </a:extLst>
                </a:gridCol>
                <a:gridCol w="1152944">
                  <a:extLst>
                    <a:ext uri="{9D8B030D-6E8A-4147-A177-3AD203B41FA5}">
                      <a16:colId xmlns:a16="http://schemas.microsoft.com/office/drawing/2014/main" val="791227779"/>
                    </a:ext>
                  </a:extLst>
                </a:gridCol>
                <a:gridCol w="5649429">
                  <a:extLst>
                    <a:ext uri="{9D8B030D-6E8A-4147-A177-3AD203B41FA5}">
                      <a16:colId xmlns:a16="http://schemas.microsoft.com/office/drawing/2014/main" val="1997404948"/>
                    </a:ext>
                  </a:extLst>
                </a:gridCol>
                <a:gridCol w="2637362">
                  <a:extLst>
                    <a:ext uri="{9D8B030D-6E8A-4147-A177-3AD203B41FA5}">
                      <a16:colId xmlns:a16="http://schemas.microsoft.com/office/drawing/2014/main" val="3466488737"/>
                    </a:ext>
                  </a:extLst>
                </a:gridCol>
              </a:tblGrid>
              <a:tr h="308987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6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Fungsi</a:t>
                      </a:r>
                      <a:endParaRPr lang="en-ID" sz="32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7500" marR="77500" marT="38750" marB="38750" anchor="ctr"/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600" b="1" u="none" strike="noStrike">
                          <a:solidFill>
                            <a:schemeClr val="bg1"/>
                          </a:solidFill>
                          <a:effectLst/>
                        </a:rPr>
                        <a:t>Nama</a:t>
                      </a:r>
                      <a:endParaRPr lang="en-ID" sz="320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7500" marR="77500" marT="38750" marB="38750" anchor="ctr"/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6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Keterangan</a:t>
                      </a:r>
                      <a:endParaRPr lang="en-ID" sz="32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7500" marR="77500" marT="38750" marB="38750" anchor="ctr"/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6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Contoh</a:t>
                      </a:r>
                      <a:endParaRPr lang="en-ID" sz="32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7500" marR="77500" marT="38750" marB="38750" anchor="ctr"/>
                </a:tc>
                <a:extLst>
                  <a:ext uri="{0D108BD9-81ED-4DB2-BD59-A6C34878D82A}">
                    <a16:rowId xmlns:a16="http://schemas.microsoft.com/office/drawing/2014/main" val="3294015882"/>
                  </a:ext>
                </a:extLst>
              </a:tr>
              <a:tr h="282218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400" b="0" u="none" strike="noStrike">
                          <a:solidFill>
                            <a:schemeClr val="bg1"/>
                          </a:solidFill>
                          <a:effectLst/>
                        </a:rPr>
                        <a:t>abs(x)</a:t>
                      </a:r>
                      <a:endParaRPr lang="en-ID" sz="320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7500" marR="77500" marT="38750" marB="3875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400" b="0" u="none" strike="noStrike">
                          <a:solidFill>
                            <a:schemeClr val="bg1"/>
                          </a:solidFill>
                          <a:effectLst/>
                        </a:rPr>
                        <a:t>Absolute</a:t>
                      </a:r>
                      <a:endParaRPr lang="en-ID" sz="320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7500" marR="77500" marT="38750" marB="3875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400" b="0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Mengembalikan</a:t>
                      </a:r>
                      <a:r>
                        <a:rPr lang="en-ID" sz="14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 </a:t>
                      </a:r>
                      <a:r>
                        <a:rPr lang="en-ID" sz="1400" b="0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nilai</a:t>
                      </a:r>
                      <a:r>
                        <a:rPr lang="en-ID" sz="14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 absolute </a:t>
                      </a:r>
                      <a:r>
                        <a:rPr lang="en-ID" sz="1400" b="0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dari</a:t>
                      </a:r>
                      <a:r>
                        <a:rPr lang="en-ID" sz="14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 </a:t>
                      </a:r>
                      <a:r>
                        <a:rPr lang="en-ID" sz="1400" b="0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suatu</a:t>
                      </a:r>
                      <a:r>
                        <a:rPr lang="en-ID" sz="14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 </a:t>
                      </a:r>
                      <a:r>
                        <a:rPr lang="en-ID" sz="1400" b="0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nilai</a:t>
                      </a:r>
                      <a:r>
                        <a:rPr lang="en-ID" sz="14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 x</a:t>
                      </a:r>
                      <a:endParaRPr lang="en-ID" sz="32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7500" marR="77500" marT="38750" marB="3875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400" b="0" u="none" strike="noStrike">
                          <a:solidFill>
                            <a:schemeClr val="bg1"/>
                          </a:solidFill>
                          <a:effectLst/>
                        </a:rPr>
                        <a:t>abs(-10) = 10</a:t>
                      </a:r>
                      <a:endParaRPr lang="en-ID" sz="320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7500" marR="77500" marT="38750" marB="38750" anchor="ctr"/>
                </a:tc>
                <a:extLst>
                  <a:ext uri="{0D108BD9-81ED-4DB2-BD59-A6C34878D82A}">
                    <a16:rowId xmlns:a16="http://schemas.microsoft.com/office/drawing/2014/main" val="1033002518"/>
                  </a:ext>
                </a:extLst>
              </a:tr>
              <a:tr h="496372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400" b="0" u="none" strike="noStrike">
                          <a:solidFill>
                            <a:schemeClr val="bg1"/>
                          </a:solidFill>
                          <a:effectLst/>
                        </a:rPr>
                        <a:t>max(x1, x2, ... xn) </a:t>
                      </a:r>
                      <a:endParaRPr lang="en-ID" sz="320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7500" marR="77500" marT="38750" marB="3875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400" b="0" u="none" strike="noStrike">
                          <a:solidFill>
                            <a:schemeClr val="bg1"/>
                          </a:solidFill>
                          <a:effectLst/>
                        </a:rPr>
                        <a:t>Max</a:t>
                      </a:r>
                      <a:endParaRPr lang="en-ID" sz="320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7500" marR="77500" marT="38750" marB="3875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400" b="0" u="none" strike="noStrike">
                          <a:solidFill>
                            <a:schemeClr val="bg1"/>
                          </a:solidFill>
                          <a:effectLst/>
                        </a:rPr>
                        <a:t>Mengembalikan nilai paling besar dari seluruh nilai</a:t>
                      </a:r>
                      <a:endParaRPr lang="en-ID" sz="320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7500" marR="77500" marT="38750" marB="3875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400" b="0" u="none" strike="noStrike">
                          <a:solidFill>
                            <a:schemeClr val="bg1"/>
                          </a:solidFill>
                          <a:effectLst/>
                        </a:rPr>
                        <a:t>max(1, 3, 5) = 5</a:t>
                      </a:r>
                      <a:endParaRPr lang="en-ID" sz="320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7500" marR="77500" marT="38750" marB="38750" anchor="ctr"/>
                </a:tc>
                <a:extLst>
                  <a:ext uri="{0D108BD9-81ED-4DB2-BD59-A6C34878D82A}">
                    <a16:rowId xmlns:a16="http://schemas.microsoft.com/office/drawing/2014/main" val="1573667556"/>
                  </a:ext>
                </a:extLst>
              </a:tr>
              <a:tr h="285873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400" b="0" u="none" strike="noStrike">
                          <a:solidFill>
                            <a:schemeClr val="bg1"/>
                          </a:solidFill>
                          <a:effectLst/>
                        </a:rPr>
                        <a:t>min(x1, x2, ... xn) </a:t>
                      </a:r>
                      <a:endParaRPr lang="en-ID" sz="320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7500" marR="77500" marT="38750" marB="3875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400" b="0" u="none" strike="noStrike">
                          <a:solidFill>
                            <a:schemeClr val="bg1"/>
                          </a:solidFill>
                          <a:effectLst/>
                        </a:rPr>
                        <a:t>Min</a:t>
                      </a:r>
                      <a:endParaRPr lang="en-ID" sz="320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7500" marR="77500" marT="38750" marB="3875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400" b="0" u="none" strike="noStrike">
                          <a:solidFill>
                            <a:schemeClr val="bg1"/>
                          </a:solidFill>
                          <a:effectLst/>
                        </a:rPr>
                        <a:t>Mengembalikan nilai paling kecil dari seluruh nilai</a:t>
                      </a:r>
                      <a:endParaRPr lang="en-ID" sz="320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7500" marR="77500" marT="38750" marB="3875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400" b="0" u="none" strike="noStrike">
                          <a:solidFill>
                            <a:schemeClr val="bg1"/>
                          </a:solidFill>
                          <a:effectLst/>
                        </a:rPr>
                        <a:t>min(1, 3, 5) = 1</a:t>
                      </a:r>
                      <a:endParaRPr lang="en-ID" sz="320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7500" marR="77500" marT="38750" marB="38750" anchor="ctr"/>
                </a:tc>
                <a:extLst>
                  <a:ext uri="{0D108BD9-81ED-4DB2-BD59-A6C34878D82A}">
                    <a16:rowId xmlns:a16="http://schemas.microsoft.com/office/drawing/2014/main" val="4012132373"/>
                  </a:ext>
                </a:extLst>
              </a:tr>
              <a:tr h="282218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400" b="0" u="none" strike="noStrike">
                          <a:solidFill>
                            <a:schemeClr val="bg1"/>
                          </a:solidFill>
                          <a:effectLst/>
                        </a:rPr>
                        <a:t>pow(x, y)</a:t>
                      </a:r>
                      <a:endParaRPr lang="en-ID" sz="320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7500" marR="77500" marT="38750" marB="3875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400" b="0" u="none" strike="noStrike">
                          <a:solidFill>
                            <a:schemeClr val="bg1"/>
                          </a:solidFill>
                          <a:effectLst/>
                        </a:rPr>
                        <a:t>Pow</a:t>
                      </a:r>
                      <a:endParaRPr lang="en-ID" sz="320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7500" marR="77500" marT="38750" marB="3875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400" b="0" u="none" strike="noStrike">
                          <a:solidFill>
                            <a:schemeClr val="bg1"/>
                          </a:solidFill>
                          <a:effectLst/>
                        </a:rPr>
                        <a:t>Mengembalikan nilai x ** y</a:t>
                      </a:r>
                      <a:endParaRPr lang="en-ID" sz="320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7500" marR="77500" marT="38750" marB="3875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400" b="0" u="none" strike="noStrike">
                          <a:solidFill>
                            <a:schemeClr val="bg1"/>
                          </a:solidFill>
                          <a:effectLst/>
                        </a:rPr>
                        <a:t>pow(2, 3) = 8</a:t>
                      </a:r>
                      <a:endParaRPr lang="en-ID" sz="320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7500" marR="77500" marT="38750" marB="38750" anchor="ctr"/>
                </a:tc>
                <a:extLst>
                  <a:ext uri="{0D108BD9-81ED-4DB2-BD59-A6C34878D82A}">
                    <a16:rowId xmlns:a16="http://schemas.microsoft.com/office/drawing/2014/main" val="1446093159"/>
                  </a:ext>
                </a:extLst>
              </a:tr>
              <a:tr h="496372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400" b="0" u="none" strike="noStrike">
                          <a:solidFill>
                            <a:schemeClr val="bg1"/>
                          </a:solidFill>
                          <a:effectLst/>
                        </a:rPr>
                        <a:t>round(x, a)</a:t>
                      </a:r>
                      <a:endParaRPr lang="en-ID" sz="320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7500" marR="77500" marT="38750" marB="3875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4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Round</a:t>
                      </a:r>
                      <a:endParaRPr lang="en-ID" sz="32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7500" marR="77500" marT="38750" marB="3875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400" b="0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Membulatkan</a:t>
                      </a:r>
                      <a:r>
                        <a:rPr lang="en-ID" sz="14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 </a:t>
                      </a:r>
                      <a:r>
                        <a:rPr lang="en-ID" sz="1400" b="0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nilai</a:t>
                      </a:r>
                      <a:r>
                        <a:rPr lang="en-ID" sz="14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 x </a:t>
                      </a:r>
                      <a:r>
                        <a:rPr lang="en-ID" sz="1400" b="0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sejumlah</a:t>
                      </a:r>
                      <a:r>
                        <a:rPr lang="en-ID" sz="14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 </a:t>
                      </a:r>
                      <a:r>
                        <a:rPr lang="en-ID" sz="1400" b="0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nilai</a:t>
                      </a:r>
                      <a:r>
                        <a:rPr lang="en-ID" sz="14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 a </a:t>
                      </a:r>
                      <a:r>
                        <a:rPr lang="en-ID" sz="1400" b="0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dibelakang</a:t>
                      </a:r>
                      <a:r>
                        <a:rPr lang="en-ID" sz="14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 </a:t>
                      </a:r>
                      <a:r>
                        <a:rPr lang="en-ID" sz="1400" b="0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koma</a:t>
                      </a:r>
                      <a:endParaRPr lang="en-ID" sz="32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7500" marR="77500" marT="38750" marB="38750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4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round(10.7374, 2) = 10.74</a:t>
                      </a:r>
                      <a:endParaRPr lang="en-ID" sz="32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7500" marR="77500" marT="38750" marB="38750" anchor="ctr"/>
                </a:tc>
                <a:extLst>
                  <a:ext uri="{0D108BD9-81ED-4DB2-BD59-A6C34878D82A}">
                    <a16:rowId xmlns:a16="http://schemas.microsoft.com/office/drawing/2014/main" val="1289127006"/>
                  </a:ext>
                </a:extLst>
              </a:tr>
            </a:tbl>
          </a:graphicData>
        </a:graphic>
      </p:graphicFrame>
      <p:sp>
        <p:nvSpPr>
          <p:cNvPr id="8" name="Rectangle 1">
            <a:extLst>
              <a:ext uri="{FF2B5EF4-FFF2-40B4-BE49-F238E27FC236}">
                <a16:creationId xmlns:a16="http://schemas.microsoft.com/office/drawing/2014/main" id="{2F6159ED-9542-AE4E-774B-04363932A4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6538" y="4766747"/>
            <a:ext cx="603726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237280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EEED2-D8B8-4176-EE34-731BED2BA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A34839-B1BB-A48B-ECB0-A63812010D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1. </a:t>
            </a:r>
            <a:r>
              <a:rPr lang="en-US" dirty="0" err="1"/>
              <a:t>Berapakah</a:t>
            </a:r>
            <a:r>
              <a:rPr lang="en-US" dirty="0"/>
              <a:t> </a:t>
            </a:r>
            <a:r>
              <a:rPr lang="en-US" dirty="0" err="1"/>
              <a:t>panjang</a:t>
            </a:r>
            <a:r>
              <a:rPr lang="en-US" dirty="0"/>
              <a:t> digit decimal </a:t>
            </a:r>
            <a:r>
              <a:rPr lang="en-US" dirty="0" err="1"/>
              <a:t>maksimal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tipe</a:t>
            </a:r>
            <a:r>
              <a:rPr lang="en-US" dirty="0"/>
              <a:t> data float?</a:t>
            </a:r>
          </a:p>
          <a:p>
            <a:pPr marL="514350" indent="-514350">
              <a:buFont typeface="+mj-lt"/>
              <a:buAutoNum type="alphaLcPeriod"/>
            </a:pPr>
            <a:r>
              <a:rPr lang="en-US" dirty="0"/>
              <a:t>15</a:t>
            </a:r>
          </a:p>
          <a:p>
            <a:pPr marL="514350" indent="-514350">
              <a:buFont typeface="+mj-lt"/>
              <a:buAutoNum type="alphaLcPeriod"/>
            </a:pPr>
            <a:r>
              <a:rPr lang="en-US" dirty="0"/>
              <a:t>19</a:t>
            </a:r>
          </a:p>
          <a:p>
            <a:pPr marL="514350" indent="-514350">
              <a:buFont typeface="+mj-lt"/>
              <a:buAutoNum type="alphaLcPeriod"/>
            </a:pPr>
            <a:r>
              <a:rPr lang="en-US" dirty="0"/>
              <a:t>10</a:t>
            </a:r>
          </a:p>
          <a:p>
            <a:pPr marL="514350" indent="-514350">
              <a:buFont typeface="+mj-lt"/>
              <a:buAutoNum type="alphaLcPeriod"/>
            </a:pPr>
            <a:r>
              <a:rPr lang="en-US" dirty="0"/>
              <a:t>17</a:t>
            </a:r>
          </a:p>
          <a:p>
            <a:pPr marL="0" indent="0">
              <a:buNone/>
            </a:pPr>
            <a:r>
              <a:rPr lang="en-US" dirty="0"/>
              <a:t>2. </a:t>
            </a:r>
            <a:r>
              <a:rPr lang="en-US" dirty="0" err="1"/>
              <a:t>Apa</a:t>
            </a:r>
            <a:r>
              <a:rPr lang="en-US" dirty="0"/>
              <a:t> output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kode</a:t>
            </a:r>
            <a:r>
              <a:rPr lang="en-US" dirty="0"/>
              <a:t> print(pow(3, 3)) </a:t>
            </a:r>
          </a:p>
          <a:p>
            <a:pPr marL="514350" indent="-514350">
              <a:buFont typeface="+mj-lt"/>
              <a:buAutoNum type="alphaLcPeriod"/>
            </a:pPr>
            <a:r>
              <a:rPr lang="en-US" dirty="0"/>
              <a:t>9</a:t>
            </a:r>
          </a:p>
          <a:p>
            <a:pPr marL="514350" indent="-514350">
              <a:buFont typeface="+mj-lt"/>
              <a:buAutoNum type="alphaLcPeriod"/>
            </a:pPr>
            <a:r>
              <a:rPr lang="en-US" dirty="0"/>
              <a:t>27</a:t>
            </a:r>
          </a:p>
          <a:p>
            <a:pPr marL="514350" indent="-514350">
              <a:buFont typeface="+mj-lt"/>
              <a:buAutoNum type="alphaLcPeriod"/>
            </a:pPr>
            <a:r>
              <a:rPr lang="en-US" dirty="0"/>
              <a:t>6</a:t>
            </a:r>
          </a:p>
          <a:p>
            <a:pPr marL="514350" indent="-514350">
              <a:buFont typeface="+mj-lt"/>
              <a:buAutoNum type="alphaLcPeriod"/>
            </a:pPr>
            <a:r>
              <a:rPr lang="en-US" dirty="0"/>
              <a:t>3.000</a:t>
            </a:r>
          </a:p>
          <a:p>
            <a:pPr marL="514350" indent="-514350">
              <a:buFont typeface="+mj-lt"/>
              <a:buAutoNum type="alphaLcPeriod"/>
            </a:pPr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17393565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9D511CB-C5F8-780E-6DFD-2002AF1045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B6A8F60-715A-CF20-0B6F-330D37E56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Python Strings</a:t>
            </a:r>
          </a:p>
        </p:txBody>
      </p:sp>
    </p:spTree>
    <p:extLst>
      <p:ext uri="{BB962C8B-B14F-4D97-AF65-F5344CB8AC3E}">
        <p14:creationId xmlns:p14="http://schemas.microsoft.com/office/powerpoint/2010/main" val="336644664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5684B-4A3A-BBB0-A9AA-F3E4DBD9E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Strings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D3D510-7DA4-5EA6-BA4F-2EA227D5E6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err="1"/>
              <a:t>Tipe</a:t>
            </a:r>
            <a:r>
              <a:rPr lang="en-US" sz="2000" dirty="0"/>
              <a:t> data strings </a:t>
            </a:r>
            <a:r>
              <a:rPr lang="en-US" sz="2000" dirty="0" err="1"/>
              <a:t>biasa</a:t>
            </a:r>
            <a:r>
              <a:rPr lang="en-US" sz="2000" dirty="0"/>
              <a:t> </a:t>
            </a:r>
            <a:r>
              <a:rPr lang="en-US" sz="2000" dirty="0" err="1"/>
              <a:t>disebut</a:t>
            </a:r>
            <a:r>
              <a:rPr lang="en-US" sz="2000" dirty="0"/>
              <a:t> juga </a:t>
            </a:r>
            <a:r>
              <a:rPr lang="en-US" sz="2000" dirty="0" err="1"/>
              <a:t>sebagai</a:t>
            </a:r>
            <a:r>
              <a:rPr lang="en-US" sz="2000" dirty="0"/>
              <a:t> </a:t>
            </a:r>
            <a:r>
              <a:rPr lang="en-US" sz="2000" dirty="0" err="1"/>
              <a:t>tipe</a:t>
            </a:r>
            <a:r>
              <a:rPr lang="en-US" sz="2000" dirty="0"/>
              <a:t> data </a:t>
            </a:r>
            <a:r>
              <a:rPr lang="en-US" sz="2000" dirty="0" err="1"/>
              <a:t>teks</a:t>
            </a:r>
            <a:r>
              <a:rPr lang="en-US" sz="2000" dirty="0"/>
              <a:t> </a:t>
            </a:r>
            <a:r>
              <a:rPr lang="en-US" sz="2000" dirty="0" err="1"/>
              <a:t>karena</a:t>
            </a:r>
            <a:r>
              <a:rPr lang="en-US" sz="2000" dirty="0"/>
              <a:t> </a:t>
            </a:r>
            <a:r>
              <a:rPr lang="en-US" sz="2000" dirty="0" err="1"/>
              <a:t>digunakan</a:t>
            </a:r>
            <a:r>
              <a:rPr lang="en-US" sz="2000" dirty="0"/>
              <a:t> </a:t>
            </a:r>
            <a:r>
              <a:rPr lang="en-US" sz="2000" dirty="0" err="1"/>
              <a:t>untuk</a:t>
            </a:r>
            <a:r>
              <a:rPr lang="en-US" sz="2000" dirty="0"/>
              <a:t> </a:t>
            </a:r>
            <a:r>
              <a:rPr lang="en-US" sz="2000" dirty="0" err="1"/>
              <a:t>menyimpan</a:t>
            </a:r>
            <a:r>
              <a:rPr lang="en-US" sz="2000" dirty="0"/>
              <a:t> </a:t>
            </a:r>
            <a:r>
              <a:rPr lang="en-US" sz="2000" dirty="0" err="1"/>
              <a:t>sebuah</a:t>
            </a:r>
            <a:r>
              <a:rPr lang="en-US" sz="2000" dirty="0"/>
              <a:t> </a:t>
            </a:r>
            <a:r>
              <a:rPr lang="en-US" sz="2000" dirty="0" err="1"/>
              <a:t>teks</a:t>
            </a:r>
            <a:r>
              <a:rPr lang="en-US" sz="2000" dirty="0"/>
              <a:t>.</a:t>
            </a:r>
          </a:p>
          <a:p>
            <a:r>
              <a:rPr lang="en-US" sz="2000" dirty="0"/>
              <a:t>Strings </a:t>
            </a:r>
            <a:r>
              <a:rPr lang="en-US" sz="2000" dirty="0" err="1"/>
              <a:t>harus</a:t>
            </a:r>
            <a:r>
              <a:rPr lang="en-US" sz="2000" dirty="0"/>
              <a:t> </a:t>
            </a:r>
            <a:r>
              <a:rPr lang="en-US" sz="2000" dirty="0" err="1"/>
              <a:t>diapit</a:t>
            </a:r>
            <a:r>
              <a:rPr lang="en-US" sz="2000" dirty="0"/>
              <a:t> oleh </a:t>
            </a:r>
            <a:r>
              <a:rPr lang="en-US" sz="2000" dirty="0" err="1"/>
              <a:t>tanda</a:t>
            </a:r>
            <a:r>
              <a:rPr lang="en-US" sz="2000" dirty="0"/>
              <a:t> </a:t>
            </a:r>
            <a:r>
              <a:rPr lang="en-US" sz="2000" dirty="0" err="1"/>
              <a:t>kutip</a:t>
            </a:r>
            <a:r>
              <a:rPr lang="en-US" sz="2000" dirty="0"/>
              <a:t> </a:t>
            </a:r>
            <a:r>
              <a:rPr lang="en-US" sz="2000" dirty="0" err="1"/>
              <a:t>satu</a:t>
            </a:r>
            <a:r>
              <a:rPr lang="en-US" sz="2000" dirty="0"/>
              <a:t> ('') </a:t>
            </a:r>
            <a:r>
              <a:rPr lang="en-US" sz="2000" dirty="0" err="1"/>
              <a:t>atau</a:t>
            </a:r>
            <a:r>
              <a:rPr lang="en-US" sz="2000" dirty="0"/>
              <a:t> </a:t>
            </a:r>
            <a:r>
              <a:rPr lang="en-US" sz="2000" dirty="0" err="1"/>
              <a:t>kutip</a:t>
            </a:r>
            <a:r>
              <a:rPr lang="en-US" sz="2000" dirty="0"/>
              <a:t> </a:t>
            </a:r>
            <a:r>
              <a:rPr lang="en-US" sz="2000" dirty="0" err="1"/>
              <a:t>dua</a:t>
            </a:r>
            <a:r>
              <a:rPr lang="en-US" sz="2000" dirty="0"/>
              <a:t> (" ")</a:t>
            </a:r>
          </a:p>
          <a:p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 err="1"/>
              <a:t>Untuk</a:t>
            </a:r>
            <a:r>
              <a:rPr lang="en-US" sz="2000" dirty="0"/>
              <a:t> </a:t>
            </a:r>
            <a:r>
              <a:rPr lang="en-US" sz="2000" dirty="0" err="1"/>
              <a:t>mengecek</a:t>
            </a:r>
            <a:r>
              <a:rPr lang="en-US" sz="2000" dirty="0"/>
              <a:t> </a:t>
            </a:r>
            <a:r>
              <a:rPr lang="en-US" sz="2000" dirty="0" err="1"/>
              <a:t>panjang</a:t>
            </a:r>
            <a:r>
              <a:rPr lang="en-US" sz="2000" dirty="0"/>
              <a:t> </a:t>
            </a:r>
            <a:r>
              <a:rPr lang="en-US" sz="2000" dirty="0" err="1"/>
              <a:t>dari</a:t>
            </a:r>
            <a:r>
              <a:rPr lang="en-US" sz="2000" dirty="0"/>
              <a:t> </a:t>
            </a:r>
            <a:r>
              <a:rPr lang="en-US" sz="2000" dirty="0" err="1"/>
              <a:t>sebuah</a:t>
            </a:r>
            <a:r>
              <a:rPr lang="en-US" sz="2000" dirty="0"/>
              <a:t> strings </a:t>
            </a:r>
            <a:r>
              <a:rPr lang="en-US" sz="2000" dirty="0" err="1"/>
              <a:t>dapat</a:t>
            </a:r>
            <a:r>
              <a:rPr lang="en-US" sz="2000" dirty="0"/>
              <a:t> </a:t>
            </a:r>
            <a:r>
              <a:rPr lang="en-US" sz="2000" dirty="0" err="1"/>
              <a:t>menggunakan</a:t>
            </a:r>
            <a:r>
              <a:rPr lang="en-US" sz="2000" dirty="0"/>
              <a:t> </a:t>
            </a:r>
            <a:r>
              <a:rPr lang="en-US" sz="2000" dirty="0" err="1"/>
              <a:t>fungsi</a:t>
            </a:r>
            <a:r>
              <a:rPr lang="en-US" sz="2000" dirty="0"/>
              <a:t>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len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</p:txBody>
      </p:sp>
      <p:pic>
        <p:nvPicPr>
          <p:cNvPr id="22530" name="Picture 2">
            <a:extLst>
              <a:ext uri="{FF2B5EF4-FFF2-40B4-BE49-F238E27FC236}">
                <a16:creationId xmlns:a16="http://schemas.microsoft.com/office/drawing/2014/main" id="{11D571B8-B024-3F24-31F4-C69950EBC1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2967567"/>
            <a:ext cx="6572250" cy="14989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532" name="Picture 4">
            <a:extLst>
              <a:ext uri="{FF2B5EF4-FFF2-40B4-BE49-F238E27FC236}">
                <a16:creationId xmlns:a16="http://schemas.microsoft.com/office/drawing/2014/main" id="{18706A4F-6F12-6742-2FB0-61F41F2AB3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5154757"/>
            <a:ext cx="5016500" cy="734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76797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48173-EE3C-D74F-B22B-849512C46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Multiline Strings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59E54F-00F8-2B67-4912-81EA524C2C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membuat</a:t>
            </a:r>
            <a:r>
              <a:rPr lang="en-US" dirty="0"/>
              <a:t> multiline string </a:t>
            </a:r>
            <a:r>
              <a:rPr lang="en-US" dirty="0" err="1"/>
              <a:t>bisa</a:t>
            </a:r>
            <a:r>
              <a:rPr lang="en-US" dirty="0"/>
              <a:t> </a:t>
            </a:r>
            <a:r>
              <a:rPr lang="en-US" dirty="0" err="1"/>
              <a:t>diapit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tiga</a:t>
            </a:r>
            <a:r>
              <a:rPr lang="en-US" dirty="0"/>
              <a:t> </a:t>
            </a:r>
            <a:r>
              <a:rPr lang="en-US" dirty="0" err="1"/>
              <a:t>tanda-kutip-dua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tiga</a:t>
            </a:r>
            <a:r>
              <a:rPr lang="en-US" dirty="0"/>
              <a:t> </a:t>
            </a:r>
            <a:r>
              <a:rPr lang="en-US" dirty="0" err="1"/>
              <a:t>tanda-kutip-satu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23554" name="Picture 2">
            <a:extLst>
              <a:ext uri="{FF2B5EF4-FFF2-40B4-BE49-F238E27FC236}">
                <a16:creationId xmlns:a16="http://schemas.microsoft.com/office/drawing/2014/main" id="{68BB162F-0F15-8943-913D-06543DE92C3E}"/>
              </a:ext>
            </a:extLst>
          </p:cNvPr>
          <p:cNvPicPr>
            <a:picLocks noGrp="1" noChangeAspect="1" noChangeArrowheads="1"/>
          </p:cNvPicPr>
          <p:nvPr>
            <p:ph type="pic" sz="quarter" idx="1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" r="17356"/>
          <a:stretch/>
        </p:blipFill>
        <p:spPr bwMode="auto">
          <a:xfrm>
            <a:off x="234950" y="2269816"/>
            <a:ext cx="5314952" cy="1648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556" name="Picture 4">
            <a:extLst>
              <a:ext uri="{FF2B5EF4-FFF2-40B4-BE49-F238E27FC236}">
                <a16:creationId xmlns:a16="http://schemas.microsoft.com/office/drawing/2014/main" id="{C366D71A-7E78-D67A-F24C-F1D16637EFCB}"/>
              </a:ext>
            </a:extLst>
          </p:cNvPr>
          <p:cNvPicPr>
            <a:picLocks noGrp="1" noChangeAspect="1" noChangeArrowheads="1"/>
          </p:cNvPicPr>
          <p:nvPr>
            <p:ph type="pic" sz="quarter" idx="12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0" r="17627"/>
          <a:stretch/>
        </p:blipFill>
        <p:spPr bwMode="auto">
          <a:xfrm>
            <a:off x="234949" y="4552157"/>
            <a:ext cx="5314952" cy="1648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056971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8EEE1-8F80-AF2F-937C-53C38B71B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Slicing Strings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7FB230-424E-4373-8823-E91C997C8C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Slicing strings </a:t>
            </a:r>
            <a:r>
              <a:rPr lang="en-US" sz="2400" dirty="0" err="1"/>
              <a:t>merupakan</a:t>
            </a:r>
            <a:r>
              <a:rPr lang="en-US" sz="2400" dirty="0"/>
              <a:t> </a:t>
            </a:r>
            <a:r>
              <a:rPr lang="en-US" sz="2400" dirty="0" err="1"/>
              <a:t>mengambil</a:t>
            </a:r>
            <a:r>
              <a:rPr lang="en-US" sz="2400" dirty="0"/>
              <a:t> </a:t>
            </a:r>
            <a:r>
              <a:rPr lang="en-US" sz="2400" dirty="0" err="1"/>
              <a:t>karakter</a:t>
            </a:r>
            <a:r>
              <a:rPr lang="en-US" sz="2400" dirty="0"/>
              <a:t> </a:t>
            </a:r>
            <a:r>
              <a:rPr lang="en-US" sz="2400" dirty="0" err="1"/>
              <a:t>dari</a:t>
            </a:r>
            <a:r>
              <a:rPr lang="en-US" sz="2400" dirty="0"/>
              <a:t> strings </a:t>
            </a:r>
            <a:r>
              <a:rPr lang="en-US" sz="2400" dirty="0" err="1"/>
              <a:t>dengan</a:t>
            </a:r>
            <a:r>
              <a:rPr lang="en-US" sz="2400" dirty="0"/>
              <a:t> </a:t>
            </a:r>
            <a:r>
              <a:rPr lang="en-US" sz="2400" dirty="0" err="1"/>
              <a:t>rentang</a:t>
            </a:r>
            <a:r>
              <a:rPr lang="en-US" sz="2400" dirty="0"/>
              <a:t> </a:t>
            </a:r>
            <a:r>
              <a:rPr lang="en-US" sz="2400" dirty="0" err="1"/>
              <a:t>tertentu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			a = ''Halo, </a:t>
            </a:r>
            <a:r>
              <a:rPr lang="en-US" sz="2400" dirty="0" err="1"/>
              <a:t>selamat</a:t>
            </a:r>
            <a:r>
              <a:rPr lang="en-US" sz="2400" dirty="0"/>
              <a:t> </a:t>
            </a:r>
            <a:r>
              <a:rPr lang="en-US" sz="2400" dirty="0" err="1"/>
              <a:t>pagi</a:t>
            </a:r>
            <a:r>
              <a:rPr lang="en-US" sz="2400" dirty="0"/>
              <a:t>‘’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Slicing </a:t>
            </a:r>
            <a:r>
              <a:rPr lang="en-US" sz="2400" dirty="0" err="1"/>
              <a:t>dengan</a:t>
            </a:r>
            <a:r>
              <a:rPr lang="en-US" sz="2400" dirty="0"/>
              <a:t> range </a:t>
            </a:r>
            <a:r>
              <a:rPr lang="en-US" sz="2400" dirty="0" err="1"/>
              <a:t>tertentu</a:t>
            </a:r>
            <a:r>
              <a:rPr lang="en-US" sz="2400" dirty="0"/>
              <a:t>, a[</a:t>
            </a:r>
            <a:r>
              <a:rPr lang="en-US" sz="2400" dirty="0" err="1"/>
              <a:t>index_start:index_finish</a:t>
            </a:r>
            <a:r>
              <a:rPr lang="en-US" sz="2400" dirty="0"/>
              <a:t>]</a:t>
            </a:r>
          </a:p>
          <a:p>
            <a:endParaRPr lang="en-US" sz="24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6E76306-AAB3-0C1D-BDB4-ED1FCBC68E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349989"/>
              </p:ext>
            </p:extLst>
          </p:nvPr>
        </p:nvGraphicFramePr>
        <p:xfrm>
          <a:off x="1819275" y="3116263"/>
          <a:ext cx="6686550" cy="742950"/>
        </p:xfrm>
        <a:graphic>
          <a:graphicData uri="http://schemas.openxmlformats.org/drawingml/2006/table">
            <a:tbl>
              <a:tblPr/>
              <a:tblGrid>
                <a:gridCol w="371475">
                  <a:extLst>
                    <a:ext uri="{9D8B030D-6E8A-4147-A177-3AD203B41FA5}">
                      <a16:colId xmlns:a16="http://schemas.microsoft.com/office/drawing/2014/main" val="4144928600"/>
                    </a:ext>
                  </a:extLst>
                </a:gridCol>
                <a:gridCol w="371475">
                  <a:extLst>
                    <a:ext uri="{9D8B030D-6E8A-4147-A177-3AD203B41FA5}">
                      <a16:colId xmlns:a16="http://schemas.microsoft.com/office/drawing/2014/main" val="2850216677"/>
                    </a:ext>
                  </a:extLst>
                </a:gridCol>
                <a:gridCol w="371475">
                  <a:extLst>
                    <a:ext uri="{9D8B030D-6E8A-4147-A177-3AD203B41FA5}">
                      <a16:colId xmlns:a16="http://schemas.microsoft.com/office/drawing/2014/main" val="2071206335"/>
                    </a:ext>
                  </a:extLst>
                </a:gridCol>
                <a:gridCol w="371475">
                  <a:extLst>
                    <a:ext uri="{9D8B030D-6E8A-4147-A177-3AD203B41FA5}">
                      <a16:colId xmlns:a16="http://schemas.microsoft.com/office/drawing/2014/main" val="2758022970"/>
                    </a:ext>
                  </a:extLst>
                </a:gridCol>
                <a:gridCol w="371475">
                  <a:extLst>
                    <a:ext uri="{9D8B030D-6E8A-4147-A177-3AD203B41FA5}">
                      <a16:colId xmlns:a16="http://schemas.microsoft.com/office/drawing/2014/main" val="4188589258"/>
                    </a:ext>
                  </a:extLst>
                </a:gridCol>
                <a:gridCol w="371475">
                  <a:extLst>
                    <a:ext uri="{9D8B030D-6E8A-4147-A177-3AD203B41FA5}">
                      <a16:colId xmlns:a16="http://schemas.microsoft.com/office/drawing/2014/main" val="754427471"/>
                    </a:ext>
                  </a:extLst>
                </a:gridCol>
                <a:gridCol w="371475">
                  <a:extLst>
                    <a:ext uri="{9D8B030D-6E8A-4147-A177-3AD203B41FA5}">
                      <a16:colId xmlns:a16="http://schemas.microsoft.com/office/drawing/2014/main" val="1429052274"/>
                    </a:ext>
                  </a:extLst>
                </a:gridCol>
                <a:gridCol w="371475">
                  <a:extLst>
                    <a:ext uri="{9D8B030D-6E8A-4147-A177-3AD203B41FA5}">
                      <a16:colId xmlns:a16="http://schemas.microsoft.com/office/drawing/2014/main" val="1886509772"/>
                    </a:ext>
                  </a:extLst>
                </a:gridCol>
                <a:gridCol w="371475">
                  <a:extLst>
                    <a:ext uri="{9D8B030D-6E8A-4147-A177-3AD203B41FA5}">
                      <a16:colId xmlns:a16="http://schemas.microsoft.com/office/drawing/2014/main" val="4125871006"/>
                    </a:ext>
                  </a:extLst>
                </a:gridCol>
                <a:gridCol w="371475">
                  <a:extLst>
                    <a:ext uri="{9D8B030D-6E8A-4147-A177-3AD203B41FA5}">
                      <a16:colId xmlns:a16="http://schemas.microsoft.com/office/drawing/2014/main" val="3222947651"/>
                    </a:ext>
                  </a:extLst>
                </a:gridCol>
                <a:gridCol w="371475">
                  <a:extLst>
                    <a:ext uri="{9D8B030D-6E8A-4147-A177-3AD203B41FA5}">
                      <a16:colId xmlns:a16="http://schemas.microsoft.com/office/drawing/2014/main" val="2558036163"/>
                    </a:ext>
                  </a:extLst>
                </a:gridCol>
                <a:gridCol w="371475">
                  <a:extLst>
                    <a:ext uri="{9D8B030D-6E8A-4147-A177-3AD203B41FA5}">
                      <a16:colId xmlns:a16="http://schemas.microsoft.com/office/drawing/2014/main" val="3840762405"/>
                    </a:ext>
                  </a:extLst>
                </a:gridCol>
                <a:gridCol w="371475">
                  <a:extLst>
                    <a:ext uri="{9D8B030D-6E8A-4147-A177-3AD203B41FA5}">
                      <a16:colId xmlns:a16="http://schemas.microsoft.com/office/drawing/2014/main" val="911251283"/>
                    </a:ext>
                  </a:extLst>
                </a:gridCol>
                <a:gridCol w="371475">
                  <a:extLst>
                    <a:ext uri="{9D8B030D-6E8A-4147-A177-3AD203B41FA5}">
                      <a16:colId xmlns:a16="http://schemas.microsoft.com/office/drawing/2014/main" val="430154911"/>
                    </a:ext>
                  </a:extLst>
                </a:gridCol>
                <a:gridCol w="371475">
                  <a:extLst>
                    <a:ext uri="{9D8B030D-6E8A-4147-A177-3AD203B41FA5}">
                      <a16:colId xmlns:a16="http://schemas.microsoft.com/office/drawing/2014/main" val="154005265"/>
                    </a:ext>
                  </a:extLst>
                </a:gridCol>
                <a:gridCol w="371475">
                  <a:extLst>
                    <a:ext uri="{9D8B030D-6E8A-4147-A177-3AD203B41FA5}">
                      <a16:colId xmlns:a16="http://schemas.microsoft.com/office/drawing/2014/main" val="428358973"/>
                    </a:ext>
                  </a:extLst>
                </a:gridCol>
                <a:gridCol w="371475">
                  <a:extLst>
                    <a:ext uri="{9D8B030D-6E8A-4147-A177-3AD203B41FA5}">
                      <a16:colId xmlns:a16="http://schemas.microsoft.com/office/drawing/2014/main" val="3909592085"/>
                    </a:ext>
                  </a:extLst>
                </a:gridCol>
                <a:gridCol w="371475">
                  <a:extLst>
                    <a:ext uri="{9D8B030D-6E8A-4147-A177-3AD203B41FA5}">
                      <a16:colId xmlns:a16="http://schemas.microsoft.com/office/drawing/2014/main" val="1298547908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H</a:t>
                      </a:r>
                      <a:endParaRPr lang="en-ID">
                        <a:effectLst/>
                      </a:endParaRP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a</a:t>
                      </a:r>
                      <a:endParaRPr lang="en-ID">
                        <a:effectLst/>
                      </a:endParaRP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l</a:t>
                      </a:r>
                      <a:endParaRPr lang="en-ID">
                        <a:effectLst/>
                      </a:endParaRP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o</a:t>
                      </a:r>
                      <a:endParaRPr lang="en-ID">
                        <a:effectLst/>
                      </a:endParaRP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,</a:t>
                      </a:r>
                      <a:endParaRPr lang="en-ID">
                        <a:effectLst/>
                      </a:endParaRP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ID">
                          <a:effectLst/>
                        </a:rPr>
                        <a:t> 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S</a:t>
                      </a:r>
                      <a:endParaRPr lang="en-ID">
                        <a:effectLst/>
                      </a:endParaRP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e</a:t>
                      </a:r>
                      <a:endParaRPr lang="en-ID">
                        <a:effectLst/>
                      </a:endParaRP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l</a:t>
                      </a:r>
                      <a:endParaRPr lang="en-ID" dirty="0">
                        <a:effectLst/>
                      </a:endParaRP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a</a:t>
                      </a:r>
                      <a:endParaRPr lang="en-ID">
                        <a:effectLst/>
                      </a:endParaRP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m</a:t>
                      </a:r>
                      <a:endParaRPr lang="en-ID">
                        <a:effectLst/>
                      </a:endParaRP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a</a:t>
                      </a:r>
                      <a:endParaRPr lang="en-ID">
                        <a:effectLst/>
                      </a:endParaRP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t</a:t>
                      </a:r>
                      <a:endParaRPr lang="en-ID">
                        <a:effectLst/>
                      </a:endParaRP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ID">
                          <a:effectLst/>
                        </a:rPr>
                        <a:t> 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P</a:t>
                      </a:r>
                      <a:endParaRPr lang="en-ID">
                        <a:effectLst/>
                      </a:endParaRP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a</a:t>
                      </a:r>
                      <a:endParaRPr lang="en-ID">
                        <a:effectLst/>
                      </a:endParaRP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g</a:t>
                      </a:r>
                      <a:endParaRPr lang="en-ID">
                        <a:effectLst/>
                      </a:endParaRP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i</a:t>
                      </a:r>
                      <a:endParaRPr lang="en-ID">
                        <a:effectLst/>
                      </a:endParaRP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5208482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0</a:t>
                      </a:r>
                      <a:endParaRPr lang="en-ID">
                        <a:effectLst/>
                      </a:endParaRP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1</a:t>
                      </a:r>
                      <a:endParaRPr lang="en-ID">
                        <a:effectLst/>
                      </a:endParaRP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2</a:t>
                      </a:r>
                      <a:endParaRPr lang="en-ID">
                        <a:effectLst/>
                      </a:endParaRP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3</a:t>
                      </a:r>
                      <a:endParaRPr lang="en-ID">
                        <a:effectLst/>
                      </a:endParaRP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4</a:t>
                      </a:r>
                      <a:endParaRPr lang="en-ID">
                        <a:effectLst/>
                      </a:endParaRP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5</a:t>
                      </a:r>
                      <a:endParaRPr lang="en-ID">
                        <a:effectLst/>
                      </a:endParaRP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6</a:t>
                      </a:r>
                      <a:endParaRPr lang="en-ID">
                        <a:effectLst/>
                      </a:endParaRP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7</a:t>
                      </a:r>
                      <a:endParaRPr lang="en-ID">
                        <a:effectLst/>
                      </a:endParaRP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8</a:t>
                      </a:r>
                      <a:endParaRPr lang="en-ID">
                        <a:effectLst/>
                      </a:endParaRP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9</a:t>
                      </a:r>
                      <a:endParaRPr lang="en-ID">
                        <a:effectLst/>
                      </a:endParaRP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10</a:t>
                      </a:r>
                      <a:endParaRPr lang="en-ID">
                        <a:effectLst/>
                      </a:endParaRP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11</a:t>
                      </a:r>
                      <a:endParaRPr lang="en-ID">
                        <a:effectLst/>
                      </a:endParaRP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12</a:t>
                      </a:r>
                      <a:endParaRPr lang="en-ID">
                        <a:effectLst/>
                      </a:endParaRP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13</a:t>
                      </a:r>
                      <a:endParaRPr lang="en-ID">
                        <a:effectLst/>
                      </a:endParaRP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14</a:t>
                      </a:r>
                      <a:endParaRPr lang="en-ID">
                        <a:effectLst/>
                      </a:endParaRP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15</a:t>
                      </a:r>
                      <a:endParaRPr lang="en-ID" dirty="0">
                        <a:effectLst/>
                      </a:endParaRP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16</a:t>
                      </a:r>
                      <a:endParaRPr lang="en-ID">
                        <a:effectLst/>
                      </a:endParaRP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itchFamily="2" charset="77"/>
                        </a:rPr>
                        <a:t>17</a:t>
                      </a:r>
                      <a:endParaRPr lang="en-ID" dirty="0">
                        <a:effectLst/>
                      </a:endParaRP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2662276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E6E10040-7C91-8A04-8244-A4E3681DA3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52725" y="3630613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4579" name="Picture 3">
            <a:extLst>
              <a:ext uri="{FF2B5EF4-FFF2-40B4-BE49-F238E27FC236}">
                <a16:creationId xmlns:a16="http://schemas.microsoft.com/office/drawing/2014/main" id="{ADB19D08-A213-1F1F-287C-823BB705B1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8437" y="5070317"/>
            <a:ext cx="6496050" cy="957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843851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F5588-AAEB-0F2C-4F63-0EDF94297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Slicing Strings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8DCCC7-1E9D-73C9-BCA5-01BDAD145A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Slicing string </a:t>
            </a:r>
            <a:r>
              <a:rPr lang="en-US" sz="2000" dirty="0" err="1"/>
              <a:t>dari</a:t>
            </a:r>
            <a:r>
              <a:rPr lang="en-US" sz="2000" dirty="0"/>
              <a:t> </a:t>
            </a:r>
            <a:r>
              <a:rPr lang="en-US" sz="2000" dirty="0" err="1"/>
              <a:t>karakter</a:t>
            </a:r>
            <a:r>
              <a:rPr lang="en-US" sz="2000" dirty="0"/>
              <a:t> </a:t>
            </a:r>
            <a:r>
              <a:rPr lang="en-US" sz="2000" dirty="0" err="1"/>
              <a:t>pertama</a:t>
            </a:r>
            <a:r>
              <a:rPr lang="en-US" sz="2000" dirty="0"/>
              <a:t> </a:t>
            </a:r>
          </a:p>
          <a:p>
            <a:pPr marL="0" indent="0">
              <a:buNone/>
            </a:pPr>
            <a:r>
              <a:rPr lang="en-US" sz="2000" dirty="0"/>
              <a:t> 		a[:</a:t>
            </a:r>
            <a:r>
              <a:rPr lang="en-US" sz="2000" dirty="0" err="1"/>
              <a:t>index_finish</a:t>
            </a:r>
            <a:r>
              <a:rPr lang="en-US" sz="2000" dirty="0"/>
              <a:t>]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/>
              <a:t>Slicing </a:t>
            </a:r>
            <a:r>
              <a:rPr lang="en-US" sz="2000" dirty="0" err="1"/>
              <a:t>hingga</a:t>
            </a:r>
            <a:r>
              <a:rPr lang="en-US" sz="2000" dirty="0"/>
              <a:t> </a:t>
            </a:r>
            <a:r>
              <a:rPr lang="en-US" sz="2000" dirty="0" err="1"/>
              <a:t>karakter</a:t>
            </a:r>
            <a:r>
              <a:rPr lang="en-US" sz="2000" dirty="0"/>
              <a:t> </a:t>
            </a:r>
            <a:r>
              <a:rPr lang="en-US" sz="2000" dirty="0" err="1"/>
              <a:t>terakhir</a:t>
            </a:r>
            <a:r>
              <a:rPr lang="en-US" sz="2000" dirty="0"/>
              <a:t> </a:t>
            </a:r>
          </a:p>
          <a:p>
            <a:pPr marL="0" indent="0">
              <a:buNone/>
            </a:pPr>
            <a:r>
              <a:rPr lang="en-US" sz="2000" dirty="0"/>
              <a:t>		a[</a:t>
            </a:r>
            <a:r>
              <a:rPr lang="en-US" sz="2000" dirty="0" err="1"/>
              <a:t>index_start</a:t>
            </a:r>
            <a:r>
              <a:rPr lang="en-US" sz="2000" dirty="0"/>
              <a:t>:]</a:t>
            </a:r>
          </a:p>
          <a:p>
            <a:endParaRPr lang="en-US" sz="2000" dirty="0"/>
          </a:p>
        </p:txBody>
      </p:sp>
      <p:pic>
        <p:nvPicPr>
          <p:cNvPr id="25602" name="Picture 2">
            <a:extLst>
              <a:ext uri="{FF2B5EF4-FFF2-40B4-BE49-F238E27FC236}">
                <a16:creationId xmlns:a16="http://schemas.microsoft.com/office/drawing/2014/main" id="{B28AC61F-86BD-0779-5703-CAFC844207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4822" y="2626309"/>
            <a:ext cx="6646908" cy="961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604" name="Picture 4">
            <a:extLst>
              <a:ext uri="{FF2B5EF4-FFF2-40B4-BE49-F238E27FC236}">
                <a16:creationId xmlns:a16="http://schemas.microsoft.com/office/drawing/2014/main" id="{A5052F2C-6D36-424A-9A0C-707EC454DC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1000" y="5000308"/>
            <a:ext cx="6851650" cy="961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421062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E4527-1EBA-C6F4-F53E-3342A9F74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Modifikasi</a:t>
            </a:r>
            <a:r>
              <a:rPr lang="en-US" dirty="0"/>
              <a:t> Strings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5AF841-4C23-2C4F-D482-40A467B05B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err="1"/>
              <a:t>Fungsi</a:t>
            </a:r>
            <a:r>
              <a:rPr lang="en-US" sz="2400" dirty="0"/>
              <a:t> 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upper() </a:t>
            </a:r>
            <a:r>
              <a:rPr lang="en-US" sz="2400" dirty="0">
                <a:sym typeface="Wingdings" pitchFamily="2" charset="2"/>
              </a:rPr>
              <a:t></a:t>
            </a:r>
            <a:r>
              <a:rPr lang="en-US" sz="2400" dirty="0"/>
              <a:t> </a:t>
            </a:r>
            <a:r>
              <a:rPr lang="en-US" sz="2400" dirty="0" err="1"/>
              <a:t>mengubah</a:t>
            </a:r>
            <a:r>
              <a:rPr lang="en-US" sz="2400" dirty="0"/>
              <a:t> string </a:t>
            </a:r>
            <a:r>
              <a:rPr lang="en-US" sz="2400" dirty="0" err="1"/>
              <a:t>menjadi</a:t>
            </a:r>
            <a:r>
              <a:rPr lang="en-US" sz="2400" dirty="0"/>
              <a:t> </a:t>
            </a:r>
            <a:r>
              <a:rPr lang="en-US" sz="2400" dirty="0" err="1"/>
              <a:t>huruf</a:t>
            </a:r>
            <a:r>
              <a:rPr lang="en-US" sz="2400" dirty="0"/>
              <a:t> </a:t>
            </a:r>
            <a:r>
              <a:rPr lang="en-US" sz="2400" dirty="0" err="1"/>
              <a:t>kapital</a:t>
            </a:r>
            <a:br>
              <a:rPr lang="en-US" sz="2400" dirty="0"/>
            </a:br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 err="1"/>
              <a:t>Fungsi</a:t>
            </a:r>
            <a:r>
              <a:rPr lang="en-US" sz="2400" dirty="0"/>
              <a:t> 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lower() </a:t>
            </a:r>
            <a:r>
              <a:rPr lang="en-US" sz="2400" dirty="0">
                <a:sym typeface="Wingdings" pitchFamily="2" charset="2"/>
              </a:rPr>
              <a:t></a:t>
            </a:r>
            <a:r>
              <a:rPr lang="en-US" sz="2400" dirty="0"/>
              <a:t> </a:t>
            </a:r>
            <a:r>
              <a:rPr lang="en-US" sz="2400" dirty="0" err="1"/>
              <a:t>mengubah</a:t>
            </a:r>
            <a:r>
              <a:rPr lang="en-US" sz="2400" dirty="0"/>
              <a:t> string </a:t>
            </a:r>
            <a:r>
              <a:rPr lang="en-US" sz="2400" dirty="0" err="1"/>
              <a:t>menjadi</a:t>
            </a:r>
            <a:r>
              <a:rPr lang="en-US" sz="2400" dirty="0"/>
              <a:t> </a:t>
            </a:r>
            <a:r>
              <a:rPr lang="en-US" sz="2400" dirty="0" err="1"/>
              <a:t>huruf</a:t>
            </a:r>
            <a:r>
              <a:rPr lang="en-US" sz="2400" dirty="0"/>
              <a:t> </a:t>
            </a:r>
            <a:r>
              <a:rPr lang="en-US" sz="2400" dirty="0" err="1"/>
              <a:t>kecil</a:t>
            </a:r>
            <a:endParaRPr lang="en-US" sz="2400" dirty="0"/>
          </a:p>
        </p:txBody>
      </p:sp>
      <p:pic>
        <p:nvPicPr>
          <p:cNvPr id="26626" name="Picture 2">
            <a:extLst>
              <a:ext uri="{FF2B5EF4-FFF2-40B4-BE49-F238E27FC236}">
                <a16:creationId xmlns:a16="http://schemas.microsoft.com/office/drawing/2014/main" id="{7FAC070A-7263-C219-6188-6AE17C9C16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0278" y="2446002"/>
            <a:ext cx="6648450" cy="982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628" name="Picture 4">
            <a:extLst>
              <a:ext uri="{FF2B5EF4-FFF2-40B4-BE49-F238E27FC236}">
                <a16:creationId xmlns:a16="http://schemas.microsoft.com/office/drawing/2014/main" id="{D414A248-E560-B736-0EA2-1EEF8350C0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7389" y="4434013"/>
            <a:ext cx="6549884" cy="987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0556080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3BDAF-29E1-0D3C-1745-7C0216748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Modifikasi</a:t>
            </a:r>
            <a:r>
              <a:rPr lang="en-US" dirty="0"/>
              <a:t> Strings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B62993-5914-574E-2971-C442308D12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6300"/>
            <a:ext cx="7995834" cy="4030663"/>
          </a:xfrm>
        </p:spPr>
        <p:txBody>
          <a:bodyPr>
            <a:normAutofit/>
          </a:bodyPr>
          <a:lstStyle/>
          <a:p>
            <a:r>
              <a:rPr lang="en-US" sz="2000" dirty="0" err="1"/>
              <a:t>Fungsi</a:t>
            </a:r>
            <a:r>
              <a:rPr lang="en-US" sz="2000" dirty="0"/>
              <a:t> 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strip()</a:t>
            </a:r>
            <a:r>
              <a:rPr lang="en-US" sz="2000" dirty="0"/>
              <a:t> </a:t>
            </a:r>
            <a:r>
              <a:rPr lang="en-US" sz="2000" dirty="0">
                <a:sym typeface="Wingdings" pitchFamily="2" charset="2"/>
              </a:rPr>
              <a:t></a:t>
            </a:r>
            <a:r>
              <a:rPr lang="en-US" sz="2000" dirty="0"/>
              <a:t> </a:t>
            </a:r>
            <a:r>
              <a:rPr lang="en-US" sz="2000" dirty="0" err="1"/>
              <a:t>menghapus</a:t>
            </a:r>
            <a:r>
              <a:rPr lang="en-US" sz="2000" dirty="0"/>
              <a:t> </a:t>
            </a:r>
            <a:r>
              <a:rPr lang="en-US" sz="2000" dirty="0" err="1"/>
              <a:t>spasi</a:t>
            </a:r>
            <a:r>
              <a:rPr lang="en-US" sz="2000" dirty="0"/>
              <a:t> </a:t>
            </a:r>
            <a:r>
              <a:rPr lang="en-US" sz="2000" dirty="0" err="1"/>
              <a:t>sebelum</a:t>
            </a:r>
            <a:r>
              <a:rPr lang="en-US" sz="2000" dirty="0"/>
              <a:t>/</a:t>
            </a:r>
            <a:r>
              <a:rPr lang="en-US" sz="2000" dirty="0" err="1"/>
              <a:t>setelah</a:t>
            </a:r>
            <a:r>
              <a:rPr lang="en-US" sz="2000" dirty="0"/>
              <a:t> </a:t>
            </a:r>
            <a:r>
              <a:rPr lang="en-US" sz="2000" dirty="0" err="1"/>
              <a:t>teks</a:t>
            </a:r>
            <a:r>
              <a:rPr lang="en-US" sz="2000" dirty="0"/>
              <a:t> </a:t>
            </a:r>
            <a:r>
              <a:rPr lang="en-US" sz="2000" dirty="0" err="1"/>
              <a:t>sesungguhnya</a:t>
            </a:r>
            <a:r>
              <a:rPr lang="en-US" sz="2000" dirty="0"/>
              <a:t> (whitespace)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 err="1"/>
              <a:t>Fungsi</a:t>
            </a:r>
            <a:r>
              <a:rPr lang="en-US" sz="2000" dirty="0"/>
              <a:t> 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replace()</a:t>
            </a:r>
            <a:r>
              <a:rPr lang="en-US" sz="2000" dirty="0"/>
              <a:t> </a:t>
            </a:r>
            <a:r>
              <a:rPr lang="en-US" sz="2000" dirty="0">
                <a:sym typeface="Wingdings" pitchFamily="2" charset="2"/>
              </a:rPr>
              <a:t></a:t>
            </a:r>
            <a:r>
              <a:rPr lang="en-US" sz="2000" dirty="0"/>
              <a:t> </a:t>
            </a:r>
            <a:r>
              <a:rPr lang="en-US" sz="2000" dirty="0" err="1"/>
              <a:t>mengganti</a:t>
            </a:r>
            <a:r>
              <a:rPr lang="en-US" sz="2000" dirty="0"/>
              <a:t> </a:t>
            </a:r>
            <a:r>
              <a:rPr lang="en-US" sz="2000" dirty="0" err="1"/>
              <a:t>suatu</a:t>
            </a:r>
            <a:r>
              <a:rPr lang="en-US" sz="2000" dirty="0"/>
              <a:t> </a:t>
            </a:r>
            <a:r>
              <a:rPr lang="en-US" sz="2000" dirty="0" err="1"/>
              <a:t>karakter</a:t>
            </a:r>
            <a:r>
              <a:rPr lang="en-US" sz="2000" dirty="0"/>
              <a:t> </a:t>
            </a:r>
            <a:r>
              <a:rPr lang="en-US" sz="2000" dirty="0" err="1"/>
              <a:t>dengan</a:t>
            </a:r>
            <a:r>
              <a:rPr lang="en-US" sz="2000" dirty="0"/>
              <a:t> </a:t>
            </a:r>
            <a:r>
              <a:rPr lang="en-US" sz="2000" dirty="0" err="1"/>
              <a:t>karakter</a:t>
            </a:r>
            <a:r>
              <a:rPr lang="en-US" sz="2000" dirty="0"/>
              <a:t> lain </a:t>
            </a:r>
            <a:r>
              <a:rPr lang="en-US" sz="2000" dirty="0" err="1"/>
              <a:t>dalam</a:t>
            </a:r>
            <a:r>
              <a:rPr lang="en-US" sz="2000" dirty="0"/>
              <a:t> string</a:t>
            </a:r>
          </a:p>
          <a:p>
            <a:r>
              <a:rPr lang="en-US" sz="2000" dirty="0" err="1"/>
              <a:t>Fungsi</a:t>
            </a:r>
            <a:r>
              <a:rPr lang="en-US" sz="2000" dirty="0"/>
              <a:t> 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spit()</a:t>
            </a:r>
            <a:r>
              <a:rPr lang="en-US" sz="2000" dirty="0"/>
              <a:t> </a:t>
            </a:r>
            <a:r>
              <a:rPr lang="en-US" sz="2000" dirty="0">
                <a:sym typeface="Wingdings" pitchFamily="2" charset="2"/>
              </a:rPr>
              <a:t></a:t>
            </a:r>
            <a:r>
              <a:rPr lang="en-US" sz="2000" dirty="0"/>
              <a:t> </a:t>
            </a:r>
            <a:r>
              <a:rPr lang="en-US" sz="2000" dirty="0" err="1"/>
              <a:t>mengembalikan</a:t>
            </a:r>
            <a:r>
              <a:rPr lang="en-US" sz="2000" dirty="0"/>
              <a:t> string </a:t>
            </a:r>
            <a:r>
              <a:rPr lang="en-US" sz="2000" dirty="0" err="1"/>
              <a:t>menjadi</a:t>
            </a:r>
            <a:r>
              <a:rPr lang="en-US" sz="2000" dirty="0"/>
              <a:t> list di </a:t>
            </a:r>
            <a:r>
              <a:rPr lang="en-US" sz="2000" dirty="0" err="1"/>
              <a:t>antara</a:t>
            </a:r>
            <a:r>
              <a:rPr lang="en-US" sz="2000" dirty="0"/>
              <a:t> </a:t>
            </a:r>
            <a:r>
              <a:rPr lang="en-US" sz="2000" dirty="0" err="1"/>
              <a:t>karakter</a:t>
            </a:r>
            <a:r>
              <a:rPr lang="en-US" sz="2000" dirty="0"/>
              <a:t> </a:t>
            </a:r>
            <a:r>
              <a:rPr lang="en-US" sz="2000" dirty="0" err="1"/>
              <a:t>pemisah</a:t>
            </a:r>
            <a:r>
              <a:rPr lang="en-US" sz="2000" dirty="0"/>
              <a:t> </a:t>
            </a:r>
            <a:r>
              <a:rPr lang="en-US" sz="2000" dirty="0" err="1"/>
              <a:t>tertentu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pic>
        <p:nvPicPr>
          <p:cNvPr id="27650" name="Picture 2">
            <a:extLst>
              <a:ext uri="{FF2B5EF4-FFF2-40B4-BE49-F238E27FC236}">
                <a16:creationId xmlns:a16="http://schemas.microsoft.com/office/drawing/2014/main" id="{233ADAB5-324A-92E5-FC23-3C474E973D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1899" y="2803729"/>
            <a:ext cx="5471117" cy="12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52" name="Picture 4">
            <a:extLst>
              <a:ext uri="{FF2B5EF4-FFF2-40B4-BE49-F238E27FC236}">
                <a16:creationId xmlns:a16="http://schemas.microsoft.com/office/drawing/2014/main" id="{A43727A6-995B-322F-1ADB-3BEB51AD9E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7017" y="5467815"/>
            <a:ext cx="5029200" cy="1025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376663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49AC8-3DEF-C509-D2D4-D989DE6EB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Strings Concatenation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0CAD93-CC86-B387-E65F-1703D04B63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Strings concatenation </a:t>
            </a:r>
            <a:r>
              <a:rPr lang="en-US" sz="2400" dirty="0" err="1"/>
              <a:t>adalah</a:t>
            </a:r>
            <a:r>
              <a:rPr lang="en-US" sz="2400" dirty="0"/>
              <a:t> </a:t>
            </a:r>
            <a:r>
              <a:rPr lang="en-US" sz="2400" dirty="0" err="1"/>
              <a:t>menggabungkan</a:t>
            </a:r>
            <a:r>
              <a:rPr lang="en-US" sz="2400" dirty="0"/>
              <a:t> </a:t>
            </a:r>
            <a:r>
              <a:rPr lang="en-US" sz="2400" dirty="0" err="1"/>
              <a:t>dua</a:t>
            </a:r>
            <a:r>
              <a:rPr lang="en-US" sz="2400" dirty="0"/>
              <a:t> </a:t>
            </a:r>
            <a:r>
              <a:rPr lang="en-US" sz="2400" dirty="0" err="1"/>
              <a:t>buah</a:t>
            </a:r>
            <a:r>
              <a:rPr lang="en-US" sz="2400" dirty="0"/>
              <a:t> strings </a:t>
            </a:r>
            <a:r>
              <a:rPr lang="en-US" sz="2400" dirty="0" err="1"/>
              <a:t>atau</a:t>
            </a:r>
            <a:r>
              <a:rPr lang="en-US" sz="2400" dirty="0"/>
              <a:t> </a:t>
            </a:r>
            <a:r>
              <a:rPr lang="en-US" sz="2400" dirty="0" err="1"/>
              <a:t>lebih</a:t>
            </a:r>
            <a:r>
              <a:rPr lang="en-US" sz="2400" dirty="0"/>
              <a:t> </a:t>
            </a:r>
            <a:r>
              <a:rPr lang="en-US" sz="2400" dirty="0" err="1"/>
              <a:t>dengan</a:t>
            </a:r>
            <a:r>
              <a:rPr lang="en-US" sz="2400" dirty="0"/>
              <a:t> </a:t>
            </a:r>
            <a:r>
              <a:rPr lang="en-US" sz="2400" dirty="0" err="1"/>
              <a:t>menggunakan</a:t>
            </a:r>
            <a:r>
              <a:rPr lang="en-US" sz="2400" dirty="0"/>
              <a:t> operator </a:t>
            </a:r>
            <a:r>
              <a:rPr lang="en-US" sz="2400" dirty="0" err="1"/>
              <a:t>tambah</a:t>
            </a:r>
            <a:r>
              <a:rPr lang="en-US" sz="2400" dirty="0"/>
              <a:t> “+”</a:t>
            </a:r>
          </a:p>
          <a:p>
            <a:pPr marL="0" indent="0">
              <a:buNone/>
            </a:pPr>
            <a:endParaRPr lang="en-US" sz="2400" dirty="0"/>
          </a:p>
        </p:txBody>
      </p:sp>
      <p:pic>
        <p:nvPicPr>
          <p:cNvPr id="28674" name="Picture 2">
            <a:extLst>
              <a:ext uri="{FF2B5EF4-FFF2-40B4-BE49-F238E27FC236}">
                <a16:creationId xmlns:a16="http://schemas.microsoft.com/office/drawing/2014/main" id="{E3CEBF29-2EB4-59BC-FC75-4BC527DF83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1850" y="3273072"/>
            <a:ext cx="7988300" cy="2044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356424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DAE68-0A6C-1ACB-F3DA-20A32E421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Strings Formatting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0997C7-D0D3-53AA-AFA7-FF4E7C681F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err="1"/>
              <a:t>Fungsi</a:t>
            </a:r>
            <a:r>
              <a:rPr lang="en-US" sz="2000" dirty="0"/>
              <a:t> 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format()</a:t>
            </a:r>
            <a:r>
              <a:rPr lang="en-US" sz="2000" dirty="0"/>
              <a:t> </a:t>
            </a:r>
            <a:r>
              <a:rPr lang="en-US" sz="2000" dirty="0" err="1"/>
              <a:t>digunakan</a:t>
            </a:r>
            <a:r>
              <a:rPr lang="en-US" sz="2000" dirty="0"/>
              <a:t> </a:t>
            </a:r>
            <a:r>
              <a:rPr lang="en-US" sz="2000" dirty="0" err="1"/>
              <a:t>untuk</a:t>
            </a:r>
            <a:r>
              <a:rPr lang="en-US" sz="2000" dirty="0"/>
              <a:t> </a:t>
            </a:r>
            <a:r>
              <a:rPr lang="en-US" sz="2000" dirty="0" err="1"/>
              <a:t>menggabungkan</a:t>
            </a:r>
            <a:r>
              <a:rPr lang="en-US" sz="2000" dirty="0"/>
              <a:t> string dan number di Python.</a:t>
            </a:r>
          </a:p>
          <a:p>
            <a:r>
              <a:rPr lang="en-US" sz="2000" dirty="0" err="1"/>
              <a:t>Fungsi</a:t>
            </a:r>
            <a:r>
              <a:rPr lang="en-US" sz="2000" dirty="0"/>
              <a:t> </a:t>
            </a:r>
            <a:r>
              <a:rPr lang="en-US" sz="2000" dirty="0" err="1"/>
              <a:t>ini</a:t>
            </a:r>
            <a:r>
              <a:rPr lang="en-US" sz="2000" dirty="0"/>
              <a:t> </a:t>
            </a:r>
            <a:r>
              <a:rPr lang="en-US" sz="2000" dirty="0" err="1"/>
              <a:t>mengambil</a:t>
            </a:r>
            <a:r>
              <a:rPr lang="en-US" sz="2000" dirty="0"/>
              <a:t> argument yang </a:t>
            </a:r>
            <a:r>
              <a:rPr lang="en-US" sz="2000" dirty="0" err="1"/>
              <a:t>diteruskan</a:t>
            </a:r>
            <a:r>
              <a:rPr lang="en-US" sz="2000" dirty="0"/>
              <a:t>, </a:t>
            </a:r>
            <a:r>
              <a:rPr lang="en-US" sz="2000" dirty="0" err="1"/>
              <a:t>memformatnya</a:t>
            </a:r>
            <a:r>
              <a:rPr lang="en-US" sz="2000" dirty="0"/>
              <a:t>, dan </a:t>
            </a:r>
            <a:r>
              <a:rPr lang="en-US" sz="2000" dirty="0" err="1"/>
              <a:t>menempatkannya</a:t>
            </a:r>
            <a:r>
              <a:rPr lang="en-US" sz="2000" dirty="0"/>
              <a:t> </a:t>
            </a:r>
            <a:r>
              <a:rPr lang="en-US" sz="2000" dirty="0" err="1"/>
              <a:t>ke</a:t>
            </a:r>
            <a:r>
              <a:rPr lang="en-US" sz="2000" dirty="0"/>
              <a:t> </a:t>
            </a:r>
            <a:r>
              <a:rPr lang="en-US" sz="2000" dirty="0" err="1"/>
              <a:t>dalam</a:t>
            </a:r>
            <a:r>
              <a:rPr lang="en-US" sz="2000" dirty="0"/>
              <a:t> string yang </a:t>
            </a:r>
            <a:r>
              <a:rPr lang="en-US" sz="2000" dirty="0" err="1"/>
              <a:t>tempat</a:t>
            </a:r>
            <a:r>
              <a:rPr lang="en-US" sz="2000" dirty="0"/>
              <a:t> {} </a:t>
            </a:r>
            <a:r>
              <a:rPr lang="en-US" sz="2000" dirty="0" err="1"/>
              <a:t>berbeda</a:t>
            </a:r>
            <a:endParaRPr lang="en-US" sz="2000" dirty="0"/>
          </a:p>
        </p:txBody>
      </p:sp>
      <p:pic>
        <p:nvPicPr>
          <p:cNvPr id="29698" name="Picture 2">
            <a:extLst>
              <a:ext uri="{FF2B5EF4-FFF2-40B4-BE49-F238E27FC236}">
                <a16:creationId xmlns:a16="http://schemas.microsoft.com/office/drawing/2014/main" id="{6EA97F24-04BD-5DAA-D203-AEC823CBB8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8800" y="3237794"/>
            <a:ext cx="5702300" cy="986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700" name="Picture 4">
            <a:extLst>
              <a:ext uri="{FF2B5EF4-FFF2-40B4-BE49-F238E27FC236}">
                <a16:creationId xmlns:a16="http://schemas.microsoft.com/office/drawing/2014/main" id="{1EBC06E7-CEDC-85CA-0936-64FB285B46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8800" y="4678862"/>
            <a:ext cx="5715357" cy="13014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567650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1A173-A78E-86B6-9CCD-FC2848FC0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Strings Formatting</a:t>
            </a:r>
          </a:p>
        </p:txBody>
      </p:sp>
      <p:pic>
        <p:nvPicPr>
          <p:cNvPr id="30722" name="Picture 2">
            <a:extLst>
              <a:ext uri="{FF2B5EF4-FFF2-40B4-BE49-F238E27FC236}">
                <a16:creationId xmlns:a16="http://schemas.microsoft.com/office/drawing/2014/main" id="{D04D6C1C-7830-E3AC-2C54-7335A70E77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9210" y="2154521"/>
            <a:ext cx="6388100" cy="1480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23" name="Picture 3">
            <a:extLst>
              <a:ext uri="{FF2B5EF4-FFF2-40B4-BE49-F238E27FC236}">
                <a16:creationId xmlns:a16="http://schemas.microsoft.com/office/drawing/2014/main" id="{D16E295C-139A-EE0E-54EC-9350CAC632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4714" y="3963270"/>
            <a:ext cx="8937092" cy="14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255175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7762A-4D6C-A444-F63C-E4D31DBC1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Escape Characters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950377-9751-5175-011B-A778866700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Escape character </a:t>
            </a:r>
            <a:r>
              <a:rPr lang="en-US" sz="2400" dirty="0" err="1"/>
              <a:t>digunakan</a:t>
            </a:r>
            <a:r>
              <a:rPr lang="en-US" sz="2400" dirty="0"/>
              <a:t>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menyisipkan</a:t>
            </a:r>
            <a:r>
              <a:rPr lang="en-US" sz="2400" dirty="0"/>
              <a:t> </a:t>
            </a:r>
            <a:r>
              <a:rPr lang="en-US" sz="2400" dirty="0" err="1"/>
              <a:t>karakter</a:t>
            </a:r>
            <a:r>
              <a:rPr lang="en-US" sz="2400" dirty="0"/>
              <a:t> </a:t>
            </a:r>
            <a:r>
              <a:rPr lang="en-US" sz="2400" dirty="0" err="1"/>
              <a:t>dalam</a:t>
            </a:r>
            <a:r>
              <a:rPr lang="en-US" sz="2400" dirty="0"/>
              <a:t> </a:t>
            </a:r>
            <a:r>
              <a:rPr lang="en-US" sz="2400" dirty="0" err="1"/>
              <a:t>sebuah</a:t>
            </a:r>
            <a:r>
              <a:rPr lang="en-US" sz="2400" dirty="0"/>
              <a:t> strings</a:t>
            </a:r>
          </a:p>
        </p:txBody>
      </p:sp>
      <p:pic>
        <p:nvPicPr>
          <p:cNvPr id="31746" name="Picture 2">
            <a:extLst>
              <a:ext uri="{FF2B5EF4-FFF2-40B4-BE49-F238E27FC236}">
                <a16:creationId xmlns:a16="http://schemas.microsoft.com/office/drawing/2014/main" id="{E6F633BA-C50A-CFA8-4215-988B5477C1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0034" y="2840207"/>
            <a:ext cx="7106834" cy="909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748" name="Picture 4">
            <a:extLst>
              <a:ext uri="{FF2B5EF4-FFF2-40B4-BE49-F238E27FC236}">
                <a16:creationId xmlns:a16="http://schemas.microsoft.com/office/drawing/2014/main" id="{ABCC1190-66F1-7A89-82B4-13DC1AA1DB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0034" y="4419223"/>
            <a:ext cx="7106834" cy="1088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774124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7E20D-9787-5E75-9164-E0111D527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Escape Characters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57929BB-34AE-E511-531A-343D29F330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Beberapa</a:t>
            </a:r>
            <a:r>
              <a:rPr lang="en-US" dirty="0"/>
              <a:t> escape </a:t>
            </a:r>
            <a:r>
              <a:rPr lang="en-US" dirty="0" err="1"/>
              <a:t>karakter</a:t>
            </a:r>
            <a:r>
              <a:rPr lang="en-US" dirty="0"/>
              <a:t> yang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digunakan</a:t>
            </a:r>
            <a:r>
              <a:rPr lang="en-US" dirty="0"/>
              <a:t> di Python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082E568-5763-13B3-20E6-30D4BDAD4D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7526169"/>
              </p:ext>
            </p:extLst>
          </p:nvPr>
        </p:nvGraphicFramePr>
        <p:xfrm>
          <a:off x="1026278" y="2386806"/>
          <a:ext cx="4510922" cy="3904247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2255461">
                  <a:extLst>
                    <a:ext uri="{9D8B030D-6E8A-4147-A177-3AD203B41FA5}">
                      <a16:colId xmlns:a16="http://schemas.microsoft.com/office/drawing/2014/main" val="1109613225"/>
                    </a:ext>
                  </a:extLst>
                </a:gridCol>
                <a:gridCol w="2255461">
                  <a:extLst>
                    <a:ext uri="{9D8B030D-6E8A-4147-A177-3AD203B41FA5}">
                      <a16:colId xmlns:a16="http://schemas.microsoft.com/office/drawing/2014/main" val="770043862"/>
                    </a:ext>
                  </a:extLst>
                </a:gridCol>
              </a:tblGrid>
              <a:tr h="399481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2000" b="1" u="none" strike="noStrike" dirty="0" err="1">
                          <a:solidFill>
                            <a:sysClr val="windowText" lastClr="000000"/>
                          </a:solidFill>
                          <a:effectLst/>
                        </a:rPr>
                        <a:t>Karakter</a:t>
                      </a:r>
                      <a:endParaRPr lang="en-ID" sz="3600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marL="95250" marR="95250" marT="47625" marB="47625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2000" b="1" u="none" strike="noStrike" dirty="0" err="1">
                          <a:solidFill>
                            <a:sysClr val="windowText" lastClr="000000"/>
                          </a:solidFill>
                          <a:effectLst/>
                        </a:rPr>
                        <a:t>Keterangan</a:t>
                      </a:r>
                      <a:endParaRPr lang="en-ID" sz="3600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marL="95250" marR="95250" marT="47625" marB="47625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1909994"/>
                  </a:ext>
                </a:extLst>
              </a:tr>
              <a:tr h="399481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\’</a:t>
                      </a:r>
                      <a:endParaRPr lang="en-ID" sz="3600">
                        <a:effectLst/>
                      </a:endParaRPr>
                    </a:p>
                  </a:txBody>
                  <a:tcPr marL="95250" marR="95250" marT="47625" marB="47625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Single Quote</a:t>
                      </a:r>
                      <a:endParaRPr lang="en-ID" sz="3600">
                        <a:effectLst/>
                      </a:endParaRPr>
                    </a:p>
                  </a:txBody>
                  <a:tcPr marL="95250" marR="95250" marT="47625" marB="47625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1668202"/>
                  </a:ext>
                </a:extLst>
              </a:tr>
              <a:tr h="399481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\\</a:t>
                      </a:r>
                      <a:endParaRPr lang="en-ID" sz="3600">
                        <a:effectLst/>
                      </a:endParaRPr>
                    </a:p>
                  </a:txBody>
                  <a:tcPr marL="95250" marR="95250" marT="47625" marB="47625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Backslash</a:t>
                      </a:r>
                      <a:endParaRPr lang="en-ID" sz="3600">
                        <a:effectLst/>
                      </a:endParaRPr>
                    </a:p>
                  </a:txBody>
                  <a:tcPr marL="95250" marR="95250" marT="47625" marB="47625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6676939"/>
                  </a:ext>
                </a:extLst>
              </a:tr>
              <a:tr h="399481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\n</a:t>
                      </a:r>
                      <a:endParaRPr lang="en-ID" sz="3600">
                        <a:effectLst/>
                      </a:endParaRPr>
                    </a:p>
                  </a:txBody>
                  <a:tcPr marL="95250" marR="95250" marT="47625" marB="47625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Baris Baru</a:t>
                      </a:r>
                      <a:endParaRPr lang="en-ID" sz="3600">
                        <a:effectLst/>
                      </a:endParaRPr>
                    </a:p>
                  </a:txBody>
                  <a:tcPr marL="95250" marR="95250" marT="47625" marB="47625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818035"/>
                  </a:ext>
                </a:extLst>
              </a:tr>
              <a:tr h="703847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\r</a:t>
                      </a:r>
                      <a:endParaRPr lang="en-ID" sz="3600">
                        <a:effectLst/>
                      </a:endParaRPr>
                    </a:p>
                  </a:txBody>
                  <a:tcPr marL="95250" marR="95250" marT="47625" marB="47625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Carriage Return</a:t>
                      </a:r>
                      <a:endParaRPr lang="en-ID" sz="3600">
                        <a:effectLst/>
                      </a:endParaRPr>
                    </a:p>
                  </a:txBody>
                  <a:tcPr marL="95250" marR="95250" marT="47625" marB="47625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4481434"/>
                  </a:ext>
                </a:extLst>
              </a:tr>
              <a:tr h="399481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\t</a:t>
                      </a:r>
                      <a:endParaRPr lang="en-ID" sz="3600">
                        <a:effectLst/>
                      </a:endParaRPr>
                    </a:p>
                  </a:txBody>
                  <a:tcPr marL="95250" marR="95250" marT="47625" marB="47625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Tab</a:t>
                      </a:r>
                      <a:endParaRPr lang="en-ID" sz="3600">
                        <a:effectLst/>
                      </a:endParaRPr>
                    </a:p>
                  </a:txBody>
                  <a:tcPr marL="95250" marR="95250" marT="47625" marB="47625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0805021"/>
                  </a:ext>
                </a:extLst>
              </a:tr>
              <a:tr h="399481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\b</a:t>
                      </a:r>
                      <a:endParaRPr lang="en-ID" sz="3600">
                        <a:effectLst/>
                      </a:endParaRPr>
                    </a:p>
                  </a:txBody>
                  <a:tcPr marL="95250" marR="95250" marT="47625" marB="47625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Backspace</a:t>
                      </a:r>
                      <a:endParaRPr lang="en-ID" sz="3600">
                        <a:effectLst/>
                      </a:endParaRPr>
                    </a:p>
                  </a:txBody>
                  <a:tcPr marL="95250" marR="95250" marT="47625" marB="47625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55234"/>
                  </a:ext>
                </a:extLst>
              </a:tr>
              <a:tr h="399481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\\\ooo</a:t>
                      </a:r>
                      <a:endParaRPr lang="en-ID" sz="3600">
                        <a:effectLst/>
                      </a:endParaRPr>
                    </a:p>
                  </a:txBody>
                  <a:tcPr marL="95250" marR="95250" marT="47625" marB="47625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Octal Value</a:t>
                      </a:r>
                      <a:endParaRPr lang="en-ID" sz="3600">
                        <a:effectLst/>
                      </a:endParaRPr>
                    </a:p>
                  </a:txBody>
                  <a:tcPr marL="95250" marR="95250" marT="47625" marB="47625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9147704"/>
                  </a:ext>
                </a:extLst>
              </a:tr>
              <a:tr h="399481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\xhh</a:t>
                      </a:r>
                      <a:endParaRPr lang="en-ID" sz="3600">
                        <a:effectLst/>
                      </a:endParaRPr>
                    </a:p>
                  </a:txBody>
                  <a:tcPr marL="95250" marR="95250" marT="47625" marB="47625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Hex Value</a:t>
                      </a:r>
                      <a:endParaRPr lang="en-ID" sz="3600" dirty="0">
                        <a:effectLst/>
                      </a:endParaRPr>
                    </a:p>
                  </a:txBody>
                  <a:tcPr marL="95250" marR="95250" marT="47625" marB="47625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3935529"/>
                  </a:ext>
                </a:extLst>
              </a:tr>
            </a:tbl>
          </a:graphicData>
        </a:graphic>
      </p:graphicFrame>
      <p:sp>
        <p:nvSpPr>
          <p:cNvPr id="8" name="Rectangle 1">
            <a:extLst>
              <a:ext uri="{FF2B5EF4-FFF2-40B4-BE49-F238E27FC236}">
                <a16:creationId xmlns:a16="http://schemas.microsoft.com/office/drawing/2014/main" id="{13E3C8F0-8201-161F-6BE6-4B11815D2E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344148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92FB132-8014-86F2-383C-44A34256A9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304FD71-4E58-1F69-67A4-6936A016E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Latihan</a:t>
            </a:r>
          </a:p>
        </p:txBody>
      </p:sp>
    </p:spTree>
    <p:extLst>
      <p:ext uri="{BB962C8B-B14F-4D97-AF65-F5344CB8AC3E}">
        <p14:creationId xmlns:p14="http://schemas.microsoft.com/office/powerpoint/2010/main" val="130267706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CD15B-34A5-CDC9-0AFF-5D297E4C0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Latihan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E31A46-C8E6-A73D-030F-67F965C944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en-US" sz="2000" dirty="0" err="1"/>
              <a:t>Buatlah</a:t>
            </a:r>
            <a:r>
              <a:rPr lang="en-US" sz="2000" dirty="0"/>
              <a:t> </a:t>
            </a:r>
            <a:r>
              <a:rPr lang="en-US" sz="2000" dirty="0" err="1"/>
              <a:t>sebuah</a:t>
            </a:r>
            <a:r>
              <a:rPr lang="en-US" sz="2000" dirty="0"/>
              <a:t> program Python </a:t>
            </a:r>
            <a:r>
              <a:rPr lang="en-US" sz="2000" dirty="0" err="1"/>
              <a:t>dimana</a:t>
            </a:r>
            <a:r>
              <a:rPr lang="en-US" sz="2000" dirty="0"/>
              <a:t> user </a:t>
            </a:r>
            <a:r>
              <a:rPr lang="en-US" sz="2000" dirty="0" err="1"/>
              <a:t>harus</a:t>
            </a:r>
            <a:r>
              <a:rPr lang="en-US" sz="2000" dirty="0"/>
              <a:t> </a:t>
            </a:r>
            <a:r>
              <a:rPr lang="en-US" sz="2000" dirty="0" err="1"/>
              <a:t>memberikan</a:t>
            </a:r>
            <a:r>
              <a:rPr lang="en-US" sz="2000" dirty="0"/>
              <a:t> input </a:t>
            </a:r>
            <a:r>
              <a:rPr lang="en-US" sz="2000" dirty="0" err="1"/>
              <a:t>nama</a:t>
            </a:r>
            <a:r>
              <a:rPr lang="en-US" sz="2000" dirty="0"/>
              <a:t> dan </a:t>
            </a:r>
            <a:r>
              <a:rPr lang="en-US" sz="2000" dirty="0" err="1"/>
              <a:t>umur</a:t>
            </a:r>
            <a:r>
              <a:rPr lang="en-US" sz="2000" dirty="0"/>
              <a:t>, </a:t>
            </a:r>
            <a:r>
              <a:rPr lang="en-US" sz="2000" dirty="0" err="1"/>
              <a:t>lalu</a:t>
            </a:r>
            <a:r>
              <a:rPr lang="en-US" sz="2000" dirty="0"/>
              <a:t> output program </a:t>
            </a:r>
            <a:r>
              <a:rPr lang="en-US" sz="2000" dirty="0" err="1"/>
              <a:t>yaitu</a:t>
            </a:r>
            <a:r>
              <a:rPr lang="en-US" sz="2000" dirty="0"/>
              <a:t>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000" dirty="0"/>
              <a:t>	</a:t>
            </a:r>
            <a:r>
              <a:rPr lang="en-US" sz="2000" dirty="0" err="1"/>
              <a:t>Selamat</a:t>
            </a:r>
            <a:r>
              <a:rPr lang="en-US" sz="2000" dirty="0"/>
              <a:t> </a:t>
            </a:r>
            <a:r>
              <a:rPr lang="en-US" sz="2000" dirty="0" err="1"/>
              <a:t>datang</a:t>
            </a:r>
            <a:r>
              <a:rPr lang="en-US" sz="2000" dirty="0"/>
              <a:t>, &lt;</a:t>
            </a:r>
            <a:r>
              <a:rPr lang="en-US" sz="2000" dirty="0" err="1"/>
              <a:t>nama_user</a:t>
            </a:r>
            <a:r>
              <a:rPr lang="en-US" sz="2000" dirty="0"/>
              <a:t>&gt;! </a:t>
            </a:r>
            <a:r>
              <a:rPr lang="en-US" sz="2000" dirty="0" err="1"/>
              <a:t>Umur</a:t>
            </a:r>
            <a:r>
              <a:rPr lang="en-US" sz="2000" dirty="0"/>
              <a:t> Anda </a:t>
            </a:r>
            <a:r>
              <a:rPr lang="en-US" sz="2000" dirty="0" err="1"/>
              <a:t>sekarang</a:t>
            </a:r>
            <a:r>
              <a:rPr lang="en-US" sz="2000" dirty="0"/>
              <a:t> </a:t>
            </a:r>
            <a:r>
              <a:rPr lang="en-US" sz="2000" dirty="0" err="1"/>
              <a:t>adalah</a:t>
            </a:r>
            <a:r>
              <a:rPr lang="en-US" sz="2000" dirty="0"/>
              <a:t> &lt;</a:t>
            </a:r>
            <a:r>
              <a:rPr lang="en-US" sz="2000" dirty="0" err="1"/>
              <a:t>umur_user</a:t>
            </a:r>
            <a:r>
              <a:rPr lang="en-US" sz="2000" dirty="0"/>
              <a:t>&gt; </a:t>
            </a:r>
          </a:p>
          <a:p>
            <a:pPr marL="0" indent="0">
              <a:lnSpc>
                <a:spcPct val="120000"/>
              </a:lnSpc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16934399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989BA-74C8-E41B-704E-F2B8A8603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Latihan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29D1F6-1243-FD4F-FF46-952DEFADAE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lnSpc>
                <a:spcPct val="120000"/>
              </a:lnSpc>
              <a:buFont typeface="+mj-lt"/>
              <a:buAutoNum type="arabicPeriod" startAt="2"/>
            </a:pPr>
            <a:r>
              <a:rPr lang="en-US" sz="2000" dirty="0" err="1"/>
              <a:t>Buatlah</a:t>
            </a:r>
            <a:r>
              <a:rPr lang="en-US" sz="2000" dirty="0"/>
              <a:t> program </a:t>
            </a:r>
            <a:r>
              <a:rPr lang="en-US" sz="2000" dirty="0" err="1"/>
              <a:t>kalkulator</a:t>
            </a:r>
            <a:r>
              <a:rPr lang="en-US" sz="2000" dirty="0"/>
              <a:t> </a:t>
            </a:r>
            <a:r>
              <a:rPr lang="en-US" sz="2000" dirty="0" err="1"/>
              <a:t>sederhana</a:t>
            </a:r>
            <a:r>
              <a:rPr lang="en-US" sz="2000" dirty="0"/>
              <a:t> </a:t>
            </a:r>
            <a:r>
              <a:rPr lang="en-US" sz="2000" dirty="0" err="1"/>
              <a:t>untuk</a:t>
            </a:r>
            <a:r>
              <a:rPr lang="en-US" sz="2000" dirty="0"/>
              <a:t> </a:t>
            </a:r>
            <a:r>
              <a:rPr lang="en-US" sz="2000" dirty="0" err="1"/>
              <a:t>pertambahan</a:t>
            </a:r>
            <a:r>
              <a:rPr lang="en-US" sz="2000" dirty="0"/>
              <a:t> </a:t>
            </a:r>
            <a:r>
              <a:rPr lang="en-US" sz="2000" dirty="0" err="1"/>
              <a:t>tiga</a:t>
            </a:r>
            <a:r>
              <a:rPr lang="en-US" sz="2000" dirty="0"/>
              <a:t> </a:t>
            </a:r>
            <a:r>
              <a:rPr lang="en-US" sz="2000" dirty="0" err="1"/>
              <a:t>buah</a:t>
            </a:r>
            <a:r>
              <a:rPr lang="en-US" sz="2000" dirty="0"/>
              <a:t> </a:t>
            </a:r>
            <a:r>
              <a:rPr lang="en-US" sz="2000" dirty="0" err="1"/>
              <a:t>bilangan</a:t>
            </a:r>
            <a:r>
              <a:rPr lang="en-US" sz="2000" dirty="0"/>
              <a:t> yang di-input oleh user. </a:t>
            </a:r>
            <a:r>
              <a:rPr lang="en-US" sz="2000" dirty="0" err="1"/>
              <a:t>Contoh</a:t>
            </a:r>
            <a:r>
              <a:rPr lang="en-US" sz="2000" dirty="0"/>
              <a:t>: </a:t>
            </a:r>
          </a:p>
          <a:p>
            <a:pPr lvl="1">
              <a:lnSpc>
                <a:spcPct val="120000"/>
              </a:lnSpc>
            </a:pPr>
            <a:r>
              <a:rPr lang="en-US" sz="1600" dirty="0"/>
              <a:t>Input a = 1</a:t>
            </a:r>
          </a:p>
          <a:p>
            <a:pPr lvl="1">
              <a:lnSpc>
                <a:spcPct val="120000"/>
              </a:lnSpc>
            </a:pPr>
            <a:r>
              <a:rPr lang="en-US" sz="1600" dirty="0"/>
              <a:t>Input b = 2</a:t>
            </a:r>
          </a:p>
          <a:p>
            <a:pPr lvl="1">
              <a:lnSpc>
                <a:spcPct val="120000"/>
              </a:lnSpc>
            </a:pPr>
            <a:r>
              <a:rPr lang="en-US" sz="1600" dirty="0"/>
              <a:t>Input c = 3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-US" sz="1600" dirty="0" err="1"/>
              <a:t>Maka</a:t>
            </a:r>
            <a:r>
              <a:rPr lang="en-US" sz="1600" dirty="0"/>
              <a:t> output-</a:t>
            </a:r>
            <a:r>
              <a:rPr lang="en-US" sz="1600" dirty="0" err="1"/>
              <a:t>nya</a:t>
            </a:r>
            <a:r>
              <a:rPr lang="en-US" sz="1600" dirty="0"/>
              <a:t>: “Hasil </a:t>
            </a:r>
            <a:r>
              <a:rPr lang="en-US" sz="1600" dirty="0" err="1"/>
              <a:t>dari</a:t>
            </a:r>
            <a:r>
              <a:rPr lang="en-US" sz="1600" dirty="0"/>
              <a:t> </a:t>
            </a:r>
            <a:r>
              <a:rPr lang="en-US" sz="1600" dirty="0" err="1"/>
              <a:t>penjumlahan</a:t>
            </a:r>
            <a:r>
              <a:rPr lang="en-US" sz="1600" dirty="0"/>
              <a:t> 1 + 2 + 3 = 6”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929718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C8F67-4255-23D6-2A23-AB42C1953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Latihan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0AA859-525F-4D59-F915-FE5D7E1D65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en-US" dirty="0" err="1"/>
              <a:t>Buat</a:t>
            </a:r>
            <a:r>
              <a:rPr lang="en-US" dirty="0"/>
              <a:t> program yang </a:t>
            </a:r>
            <a:r>
              <a:rPr lang="en-US" dirty="0" err="1"/>
              <a:t>menerima</a:t>
            </a:r>
            <a:r>
              <a:rPr lang="en-US" dirty="0"/>
              <a:t> </a:t>
            </a:r>
            <a:r>
              <a:rPr lang="en-US" dirty="0" err="1"/>
              <a:t>inputan</a:t>
            </a:r>
            <a:r>
              <a:rPr lang="en-US" dirty="0"/>
              <a:t> </a:t>
            </a:r>
            <a:r>
              <a:rPr lang="en-US" dirty="0" err="1"/>
              <a:t>suhu</a:t>
            </a:r>
            <a:r>
              <a:rPr lang="en-US" dirty="0"/>
              <a:t> </a:t>
            </a:r>
            <a:r>
              <a:rPr lang="en-US" dirty="0" err="1"/>
              <a:t>celcius</a:t>
            </a:r>
            <a:r>
              <a:rPr lang="en-US" dirty="0"/>
              <a:t>, dan </a:t>
            </a:r>
            <a:r>
              <a:rPr lang="en-US" dirty="0" err="1"/>
              <a:t>memberikan</a:t>
            </a:r>
            <a:r>
              <a:rPr lang="en-US" dirty="0"/>
              <a:t> output </a:t>
            </a:r>
            <a:r>
              <a:rPr lang="en-US" dirty="0" err="1"/>
              <a:t>suhu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reamur</a:t>
            </a:r>
            <a:r>
              <a:rPr lang="en-US" dirty="0"/>
              <a:t>, Fahrenheit, dan kelvin</a:t>
            </a:r>
          </a:p>
          <a:p>
            <a:pPr lvl="1"/>
            <a:r>
              <a:rPr lang="en-US" dirty="0"/>
              <a:t>Input </a:t>
            </a:r>
            <a:r>
              <a:rPr lang="en-US" dirty="0" err="1"/>
              <a:t>suhu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Celcius</a:t>
            </a:r>
            <a:r>
              <a:rPr lang="en-US" dirty="0"/>
              <a:t> : 27</a:t>
            </a:r>
          </a:p>
          <a:p>
            <a:pPr lvl="1"/>
            <a:r>
              <a:rPr lang="en-US" dirty="0"/>
              <a:t>Output : </a:t>
            </a:r>
          </a:p>
          <a:p>
            <a:pPr marL="457200" lvl="1" indent="0">
              <a:buNone/>
            </a:pPr>
            <a:r>
              <a:rPr lang="en-US" dirty="0"/>
              <a:t>	“</a:t>
            </a:r>
            <a:r>
              <a:rPr lang="en-US" dirty="0" err="1"/>
              <a:t>Suhu</a:t>
            </a:r>
            <a:r>
              <a:rPr lang="en-US" dirty="0"/>
              <a:t> 27 </a:t>
            </a:r>
            <a:r>
              <a:rPr lang="en-US" dirty="0" err="1"/>
              <a:t>derajat</a:t>
            </a:r>
            <a:r>
              <a:rPr lang="en-US" dirty="0"/>
              <a:t> </a:t>
            </a:r>
            <a:r>
              <a:rPr lang="en-US" dirty="0" err="1"/>
              <a:t>celcius</a:t>
            </a:r>
            <a:r>
              <a:rPr lang="en-US" dirty="0"/>
              <a:t> </a:t>
            </a:r>
            <a:r>
              <a:rPr lang="en-US" dirty="0" err="1"/>
              <a:t>sama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21,6 </a:t>
            </a:r>
            <a:r>
              <a:rPr lang="en-US" dirty="0" err="1"/>
              <a:t>derajat</a:t>
            </a:r>
            <a:r>
              <a:rPr lang="en-US" dirty="0"/>
              <a:t> </a:t>
            </a:r>
            <a:r>
              <a:rPr lang="en-US" dirty="0" err="1"/>
              <a:t>Reamur</a:t>
            </a:r>
            <a:endParaRPr lang="en-US" dirty="0"/>
          </a:p>
          <a:p>
            <a:pPr marL="457200" lvl="1" indent="0">
              <a:buNone/>
            </a:pPr>
            <a:r>
              <a:rPr lang="en-US" dirty="0"/>
              <a:t>	</a:t>
            </a:r>
            <a:r>
              <a:rPr lang="en-ID" b="0" i="0" u="none" strike="noStrike" dirty="0">
                <a:solidFill>
                  <a:srgbClr val="001D35"/>
                </a:solidFill>
                <a:effectLst/>
                <a:latin typeface="Google Sans"/>
              </a:rPr>
              <a:t> 80,6 </a:t>
            </a:r>
            <a:r>
              <a:rPr lang="en-ID" b="0" i="0" u="none" strike="noStrike" dirty="0" err="1">
                <a:solidFill>
                  <a:srgbClr val="001D35"/>
                </a:solidFill>
                <a:effectLst/>
                <a:latin typeface="Google Sans"/>
              </a:rPr>
              <a:t>derajat</a:t>
            </a:r>
            <a:r>
              <a:rPr lang="en-ID" b="0" i="0" u="none" strike="noStrike" dirty="0">
                <a:solidFill>
                  <a:srgbClr val="001D35"/>
                </a:solidFill>
                <a:effectLst/>
                <a:latin typeface="Google Sans"/>
              </a:rPr>
              <a:t> Fahrenheit</a:t>
            </a:r>
          </a:p>
          <a:p>
            <a:pPr marL="457200" lvl="1" indent="0">
              <a:buNone/>
            </a:pPr>
            <a:r>
              <a:rPr lang="en-ID" b="0" i="0" u="none" strike="noStrike" dirty="0">
                <a:solidFill>
                  <a:srgbClr val="001D35"/>
                </a:solidFill>
                <a:effectLst/>
                <a:latin typeface="Google Sans"/>
              </a:rPr>
              <a:t> 	300 Kelvin”</a:t>
            </a:r>
            <a:endParaRPr lang="en-US" dirty="0"/>
          </a:p>
          <a:p>
            <a:pPr lvl="1"/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447A0CD-9D0D-4575-C129-D8D115DE7AB7}"/>
              </a:ext>
            </a:extLst>
          </p:cNvPr>
          <p:cNvPicPr>
            <a:picLocks noGrp="1" noChangeAspect="1"/>
          </p:cNvPicPr>
          <p:nvPr>
            <p:ph sz="half" idx="4294967295"/>
          </p:nvPr>
        </p:nvPicPr>
        <p:blipFill>
          <a:blip r:embed="rId2"/>
          <a:stretch>
            <a:fillRect/>
          </a:stretch>
        </p:blipFill>
        <p:spPr>
          <a:xfrm>
            <a:off x="5481403" y="3857833"/>
            <a:ext cx="6249654" cy="2640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468430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E02CDD1-1670-E40D-19E2-3FD4780D15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345C67B-AF4B-211A-555C-430CA58B1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Materi</a:t>
            </a:r>
            <a:r>
              <a:rPr lang="en-US" dirty="0"/>
              <a:t> </a:t>
            </a:r>
            <a:r>
              <a:rPr lang="en-US" dirty="0" err="1"/>
              <a:t>Tambahan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344508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F14A1DDE-D44D-0A6F-8CC9-4B0557444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Identasi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CE3D5AB-37B7-C179-29A5-0ED715A979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Aturan</a:t>
            </a:r>
            <a:r>
              <a:rPr lang="en-US" dirty="0"/>
              <a:t> </a:t>
            </a:r>
            <a:r>
              <a:rPr lang="en-US" dirty="0" err="1"/>
              <a:t>penulisan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mengacu</a:t>
            </a:r>
            <a:r>
              <a:rPr lang="en-US" dirty="0"/>
              <a:t> pada PEP-008</a:t>
            </a:r>
          </a:p>
          <a:p>
            <a:r>
              <a:rPr lang="en-US" dirty="0"/>
              <a:t>Python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perbedaan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kurung</a:t>
            </a:r>
            <a:r>
              <a:rPr lang="en-US" dirty="0"/>
              <a:t> </a:t>
            </a:r>
            <a:r>
              <a:rPr lang="en-US" dirty="0" err="1"/>
              <a:t>kurawal</a:t>
            </a:r>
            <a:r>
              <a:rPr lang="en-US" dirty="0"/>
              <a:t>, </a:t>
            </a:r>
            <a:r>
              <a:rPr lang="en-US" dirty="0" err="1"/>
              <a:t>tetapi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identasi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menulis</a:t>
            </a:r>
            <a:r>
              <a:rPr lang="en-US" dirty="0"/>
              <a:t> </a:t>
            </a:r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bertingkat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4 </a:t>
            </a:r>
            <a:r>
              <a:rPr lang="en-US" dirty="0" err="1"/>
              <a:t>spasi</a:t>
            </a:r>
            <a:r>
              <a:rPr lang="en-US" dirty="0"/>
              <a:t> pada </a:t>
            </a:r>
            <a:r>
              <a:rPr lang="en-US" dirty="0" err="1"/>
              <a:t>setiap</a:t>
            </a:r>
            <a:r>
              <a:rPr lang="en-US" dirty="0"/>
              <a:t> </a:t>
            </a:r>
            <a:r>
              <a:rPr lang="en-US" dirty="0" err="1"/>
              <a:t>tingkatan</a:t>
            </a:r>
            <a:r>
              <a:rPr lang="en-US" dirty="0"/>
              <a:t> </a:t>
            </a:r>
            <a:r>
              <a:rPr lang="en-US" dirty="0" err="1"/>
              <a:t>identasi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tab </a:t>
            </a:r>
            <a:r>
              <a:rPr lang="en-US" dirty="0" err="1"/>
              <a:t>dalam</a:t>
            </a:r>
            <a:r>
              <a:rPr lang="en-US" dirty="0"/>
              <a:t> notebook.</a:t>
            </a:r>
          </a:p>
        </p:txBody>
      </p:sp>
      <p:pic>
        <p:nvPicPr>
          <p:cNvPr id="33794" name="Picture 2">
            <a:extLst>
              <a:ext uri="{FF2B5EF4-FFF2-40B4-BE49-F238E27FC236}">
                <a16:creationId xmlns:a16="http://schemas.microsoft.com/office/drawing/2014/main" id="{824F67D0-47AA-6EA8-57D8-29D7C06F83BB}"/>
              </a:ext>
            </a:extLst>
          </p:cNvPr>
          <p:cNvPicPr>
            <a:picLocks noGrp="1" noChangeAspect="1" noChangeArrowheads="1"/>
          </p:cNvPicPr>
          <p:nvPr>
            <p:ph type="pic" sz="quarter" idx="1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56" r="-1016" b="-2356"/>
          <a:stretch/>
        </p:blipFill>
        <p:spPr bwMode="auto">
          <a:xfrm>
            <a:off x="838200" y="2181225"/>
            <a:ext cx="10782300" cy="1782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086964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FB804-04A5-8043-BE5B-8470E200E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Penggantian</a:t>
            </a:r>
            <a:r>
              <a:rPr lang="en-US" dirty="0"/>
              <a:t> Baris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7123A-DFB4-8A31-3BB7-7617D6ED56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9870" y="388140"/>
            <a:ext cx="5089899" cy="6198640"/>
          </a:xfrm>
        </p:spPr>
        <p:txBody>
          <a:bodyPr/>
          <a:lstStyle/>
          <a:p>
            <a:pPr marL="0" indent="0">
              <a:buNone/>
            </a:pP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menulis</a:t>
            </a:r>
            <a:r>
              <a:rPr lang="en-US" dirty="0"/>
              <a:t> </a:t>
            </a:r>
            <a:r>
              <a:rPr lang="en-US" dirty="0" err="1"/>
              <a:t>kode</a:t>
            </a:r>
            <a:r>
              <a:rPr lang="en-US" dirty="0"/>
              <a:t>, </a:t>
            </a:r>
            <a:r>
              <a:rPr lang="en-US" dirty="0" err="1"/>
              <a:t>terkadang</a:t>
            </a:r>
            <a:r>
              <a:rPr lang="en-US" dirty="0"/>
              <a:t> </a:t>
            </a:r>
            <a:r>
              <a:rPr lang="en-US" dirty="0" err="1"/>
              <a:t>kita</a:t>
            </a:r>
            <a:r>
              <a:rPr lang="en-US" dirty="0"/>
              <a:t> </a:t>
            </a:r>
            <a:r>
              <a:rPr lang="en-US" dirty="0" err="1"/>
              <a:t>memerlukan</a:t>
            </a:r>
            <a:r>
              <a:rPr lang="en-US" dirty="0"/>
              <a:t> </a:t>
            </a:r>
            <a:r>
              <a:rPr lang="en-US" dirty="0" err="1"/>
              <a:t>pergantian</a:t>
            </a:r>
            <a:r>
              <a:rPr lang="en-US" dirty="0"/>
              <a:t> baris </a:t>
            </a:r>
            <a:r>
              <a:rPr lang="en-US" dirty="0" err="1"/>
              <a:t>karena</a:t>
            </a:r>
            <a:r>
              <a:rPr lang="en-US" dirty="0"/>
              <a:t> </a:t>
            </a:r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cukup</a:t>
            </a:r>
            <a:r>
              <a:rPr lang="en-US" dirty="0"/>
              <a:t> (</a:t>
            </a:r>
            <a:r>
              <a:rPr lang="en-US" dirty="0" err="1"/>
              <a:t>terlalu</a:t>
            </a:r>
            <a:r>
              <a:rPr lang="en-US" dirty="0"/>
              <a:t> </a:t>
            </a:r>
            <a:r>
              <a:rPr lang="en-US" dirty="0" err="1"/>
              <a:t>panjang</a:t>
            </a:r>
            <a:r>
              <a:rPr lang="en-US" dirty="0"/>
              <a:t>)</a:t>
            </a:r>
          </a:p>
        </p:txBody>
      </p:sp>
      <p:pic>
        <p:nvPicPr>
          <p:cNvPr id="34818" name="Picture 2">
            <a:extLst>
              <a:ext uri="{FF2B5EF4-FFF2-40B4-BE49-F238E27FC236}">
                <a16:creationId xmlns:a16="http://schemas.microsoft.com/office/drawing/2014/main" id="{E7C05FC7-16D5-CCA0-A423-C9BB2CC8AC41}"/>
              </a:ext>
            </a:extLst>
          </p:cNvPr>
          <p:cNvPicPr>
            <a:picLocks noGrp="1" noChangeAspect="1" noChangeArrowheads="1"/>
          </p:cNvPicPr>
          <p:nvPr>
            <p:ph type="pic" sz="quarter" idx="10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4" r="239"/>
          <a:stretch/>
        </p:blipFill>
        <p:spPr bwMode="auto">
          <a:xfrm>
            <a:off x="1101346" y="2543732"/>
            <a:ext cx="10442954" cy="3723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780947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F6E5E-AD13-9F17-F41E-78131E394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Penggantian</a:t>
            </a:r>
            <a:r>
              <a:rPr lang="en-US" dirty="0"/>
              <a:t> Baris</a:t>
            </a:r>
          </a:p>
        </p:txBody>
      </p:sp>
      <p:pic>
        <p:nvPicPr>
          <p:cNvPr id="35842" name="Picture 2">
            <a:extLst>
              <a:ext uri="{FF2B5EF4-FFF2-40B4-BE49-F238E27FC236}">
                <a16:creationId xmlns:a16="http://schemas.microsoft.com/office/drawing/2014/main" id="{63066B4B-372F-8B04-46C8-055084B4B3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8450" y="2319337"/>
            <a:ext cx="9323632" cy="307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67832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B9C85-2B6E-CD54-54D7-35BA949DF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Sebelum</a:t>
            </a:r>
            <a:r>
              <a:rPr lang="en-US" dirty="0"/>
              <a:t> Operator Binary</a:t>
            </a:r>
          </a:p>
        </p:txBody>
      </p:sp>
      <p:pic>
        <p:nvPicPr>
          <p:cNvPr id="36866" name="Picture 2">
            <a:extLst>
              <a:ext uri="{FF2B5EF4-FFF2-40B4-BE49-F238E27FC236}">
                <a16:creationId xmlns:a16="http://schemas.microsoft.com/office/drawing/2014/main" id="{C6FD5D28-D0DC-6CBA-7D33-303AFF3663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3199" y="2184400"/>
            <a:ext cx="9448571" cy="3340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408271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96EA8-351C-A233-F16A-0779C60C8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Whitespace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EA7D8F-7C17-914E-F0A8-FB1FB41B89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Hindari</a:t>
            </a:r>
            <a:r>
              <a:rPr lang="en-US" dirty="0"/>
              <a:t> </a:t>
            </a:r>
            <a:r>
              <a:rPr lang="en-US" dirty="0" err="1"/>
              <a:t>penambahan</a:t>
            </a:r>
            <a:r>
              <a:rPr lang="en-US" dirty="0"/>
              <a:t> whitespace yang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perlu</a:t>
            </a:r>
            <a:endParaRPr lang="en-US" dirty="0"/>
          </a:p>
        </p:txBody>
      </p:sp>
      <p:pic>
        <p:nvPicPr>
          <p:cNvPr id="37890" name="Picture 2">
            <a:extLst>
              <a:ext uri="{FF2B5EF4-FFF2-40B4-BE49-F238E27FC236}">
                <a16:creationId xmlns:a16="http://schemas.microsoft.com/office/drawing/2014/main" id="{DD3EF6E1-D466-A907-23FF-6D157ADCC027}"/>
              </a:ext>
            </a:extLst>
          </p:cNvPr>
          <p:cNvPicPr>
            <a:picLocks noGrp="1" noChangeAspect="1" noChangeArrowheads="1"/>
          </p:cNvPicPr>
          <p:nvPr>
            <p:ph type="pic" sz="quarter" idx="1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"/>
          <a:stretch/>
        </p:blipFill>
        <p:spPr bwMode="auto">
          <a:xfrm>
            <a:off x="838198" y="2180915"/>
            <a:ext cx="5943601" cy="1782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892" name="Picture 4">
            <a:extLst>
              <a:ext uri="{FF2B5EF4-FFF2-40B4-BE49-F238E27FC236}">
                <a16:creationId xmlns:a16="http://schemas.microsoft.com/office/drawing/2014/main" id="{9D7734AE-BDAE-CF13-29B2-46489A50E46A}"/>
              </a:ext>
            </a:extLst>
          </p:cNvPr>
          <p:cNvPicPr>
            <a:picLocks noGrp="1" noChangeAspect="1" noChangeArrowheads="1"/>
          </p:cNvPicPr>
          <p:nvPr>
            <p:ph type="pic" sz="quarter" idx="12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27953"/>
          <a:stretch/>
        </p:blipFill>
        <p:spPr bwMode="auto">
          <a:xfrm>
            <a:off x="4051298" y="4453905"/>
            <a:ext cx="5943601" cy="1782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404610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E790D-808A-D670-BD2B-1951747AB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Whitespace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A63DE9-22E6-AEA5-8570-25FE2F61E7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Hindari</a:t>
            </a:r>
            <a:r>
              <a:rPr lang="en-US" dirty="0"/>
              <a:t> </a:t>
            </a:r>
            <a:r>
              <a:rPr lang="en-US" dirty="0" err="1"/>
              <a:t>penambahan</a:t>
            </a:r>
            <a:r>
              <a:rPr lang="en-US" dirty="0"/>
              <a:t> whitespace </a:t>
            </a:r>
            <a:r>
              <a:rPr lang="en-US" dirty="0" err="1"/>
              <a:t>dibelakang</a:t>
            </a:r>
            <a:r>
              <a:rPr lang="en-US" dirty="0"/>
              <a:t> statement</a:t>
            </a:r>
          </a:p>
          <a:p>
            <a:r>
              <a:rPr lang="en-US" dirty="0" err="1"/>
              <a:t>Tambahkan</a:t>
            </a:r>
            <a:r>
              <a:rPr lang="en-US" dirty="0"/>
              <a:t> </a:t>
            </a:r>
            <a:r>
              <a:rPr lang="en-US" dirty="0" err="1"/>
              <a:t>satu</a:t>
            </a:r>
            <a:r>
              <a:rPr lang="en-US" dirty="0"/>
              <a:t> </a:t>
            </a:r>
            <a:r>
              <a:rPr lang="en-US" dirty="0" err="1"/>
              <a:t>spasi</a:t>
            </a:r>
            <a:r>
              <a:rPr lang="en-US" dirty="0"/>
              <a:t> di </a:t>
            </a:r>
            <a:r>
              <a:rPr lang="en-US" dirty="0" err="1"/>
              <a:t>kanan</a:t>
            </a:r>
            <a:r>
              <a:rPr lang="en-US" dirty="0"/>
              <a:t> dan </a:t>
            </a:r>
            <a:r>
              <a:rPr lang="en-US" dirty="0" err="1"/>
              <a:t>kiri</a:t>
            </a:r>
            <a:r>
              <a:rPr lang="en-US" dirty="0"/>
              <a:t> operator</a:t>
            </a:r>
          </a:p>
        </p:txBody>
      </p:sp>
      <p:pic>
        <p:nvPicPr>
          <p:cNvPr id="38914" name="Picture 2">
            <a:extLst>
              <a:ext uri="{FF2B5EF4-FFF2-40B4-BE49-F238E27FC236}">
                <a16:creationId xmlns:a16="http://schemas.microsoft.com/office/drawing/2014/main" id="{8C8D8168-E256-1CC6-3CC2-DE339ADF422C}"/>
              </a:ext>
            </a:extLst>
          </p:cNvPr>
          <p:cNvPicPr>
            <a:picLocks noGrp="1" noChangeAspect="1" noChangeArrowheads="1"/>
          </p:cNvPicPr>
          <p:nvPr>
            <p:ph type="pic" sz="quarter" idx="10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" t="1023" r="50414" b="-1023"/>
          <a:stretch/>
        </p:blipFill>
        <p:spPr bwMode="auto">
          <a:xfrm>
            <a:off x="457066" y="2315132"/>
            <a:ext cx="5196076" cy="3723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651061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9CF56-36D2-E1E7-A1C1-5BAE6C4FE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Dokumentasi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B53888-098F-1FE1-E120-FB0B6581EA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err="1"/>
              <a:t>Buat</a:t>
            </a:r>
            <a:r>
              <a:rPr lang="en-US" dirty="0"/>
              <a:t> </a:t>
            </a:r>
            <a:r>
              <a:rPr lang="en-US" dirty="0" err="1"/>
              <a:t>dokumentasi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semua</a:t>
            </a:r>
            <a:r>
              <a:rPr lang="en-US" dirty="0"/>
              <a:t> </a:t>
            </a:r>
            <a:r>
              <a:rPr lang="en-US" dirty="0" err="1"/>
              <a:t>modul</a:t>
            </a:r>
            <a:r>
              <a:rPr lang="en-US" dirty="0"/>
              <a:t>, </a:t>
            </a:r>
            <a:r>
              <a:rPr lang="en-US" dirty="0" err="1"/>
              <a:t>fungsi</a:t>
            </a:r>
            <a:r>
              <a:rPr lang="en-US" dirty="0"/>
              <a:t>, </a:t>
            </a:r>
            <a:r>
              <a:rPr lang="en-US" dirty="0" err="1"/>
              <a:t>kelas</a:t>
            </a:r>
            <a:r>
              <a:rPr lang="en-US" dirty="0"/>
              <a:t>, dan method yang </a:t>
            </a:r>
            <a:r>
              <a:rPr lang="en-US" dirty="0" err="1"/>
              <a:t>bersifat</a:t>
            </a:r>
            <a:r>
              <a:rPr lang="en-US" dirty="0"/>
              <a:t> public</a:t>
            </a:r>
          </a:p>
          <a:p>
            <a:r>
              <a:rPr lang="en-US" dirty="0" err="1"/>
              <a:t>Untuk</a:t>
            </a:r>
            <a:r>
              <a:rPr lang="en-US" dirty="0"/>
              <a:t> docstring </a:t>
            </a:r>
            <a:r>
              <a:rPr lang="en-US" dirty="0" err="1"/>
              <a:t>satu</a:t>
            </a:r>
            <a:r>
              <a:rPr lang="en-US" dirty="0"/>
              <a:t> baris </a:t>
            </a:r>
            <a:r>
              <a:rPr lang="en-US" dirty="0" err="1"/>
              <a:t>disarankan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3-tanda-kutip-dua ""“ </a:t>
            </a:r>
            <a:r>
              <a:rPr lang="en-US" dirty="0" err="1"/>
              <a:t>walaupun</a:t>
            </a:r>
            <a:r>
              <a:rPr lang="en-US" dirty="0"/>
              <a:t> </a:t>
            </a:r>
            <a:r>
              <a:rPr lang="en-US" dirty="0" err="1"/>
              <a:t>sebenarnya</a:t>
            </a:r>
            <a:r>
              <a:rPr lang="en-US" dirty="0"/>
              <a:t> </a:t>
            </a:r>
            <a:r>
              <a:rPr lang="en-US" dirty="0" err="1"/>
              <a:t>bisa</a:t>
            </a:r>
            <a:r>
              <a:rPr lang="en-US" dirty="0"/>
              <a:t> </a:t>
            </a:r>
            <a:r>
              <a:rPr lang="en-US" dirty="0" err="1"/>
              <a:t>dilakukan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3-tanda-kutip-satu '‘’</a:t>
            </a:r>
          </a:p>
        </p:txBody>
      </p:sp>
      <p:pic>
        <p:nvPicPr>
          <p:cNvPr id="39938" name="Picture 2">
            <a:extLst>
              <a:ext uri="{FF2B5EF4-FFF2-40B4-BE49-F238E27FC236}">
                <a16:creationId xmlns:a16="http://schemas.microsoft.com/office/drawing/2014/main" id="{3946CC3A-F1F9-6CE6-392B-C8C7B41948B9}"/>
              </a:ext>
            </a:extLst>
          </p:cNvPr>
          <p:cNvPicPr>
            <a:picLocks noGrp="1" noChangeAspect="1" noChangeArrowheads="1"/>
          </p:cNvPicPr>
          <p:nvPr>
            <p:ph type="pic" sz="quarter" idx="1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5" t="-1918" r="3698" b="1918"/>
          <a:stretch/>
        </p:blipFill>
        <p:spPr bwMode="auto">
          <a:xfrm>
            <a:off x="838200" y="2181225"/>
            <a:ext cx="9994900" cy="1782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083938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35822-CC60-8D58-C73D-3F2CD7391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2BA4BF-7123-C199-3BEB-3EB76EE8A4EB}"/>
              </a:ext>
            </a:extLst>
          </p:cNvPr>
          <p:cNvSpPr txBox="1"/>
          <p:nvPr/>
        </p:nvSpPr>
        <p:spPr>
          <a:xfrm>
            <a:off x="952500" y="1875641"/>
            <a:ext cx="1040130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 fontAlgn="base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ID" sz="20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ID" sz="2000" b="0" i="0" u="none" strike="noStrike" dirty="0" err="1">
                <a:solidFill>
                  <a:srgbClr val="000000"/>
                </a:solidFill>
                <a:effectLst/>
              </a:rPr>
              <a:t>Manakah</a:t>
            </a:r>
            <a:r>
              <a:rPr lang="en-ID" sz="20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ID" sz="2000" b="0" i="0" u="none" strike="noStrike" dirty="0" err="1">
                <a:solidFill>
                  <a:srgbClr val="000000"/>
                </a:solidFill>
                <a:effectLst/>
              </a:rPr>
              <a:t>diantara</a:t>
            </a:r>
            <a:r>
              <a:rPr lang="en-ID" sz="20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ID" sz="2000" b="0" i="0" u="none" strike="noStrike" dirty="0" err="1">
                <a:solidFill>
                  <a:srgbClr val="000000"/>
                </a:solidFill>
                <a:effectLst/>
              </a:rPr>
              <a:t>pilihan</a:t>
            </a:r>
            <a:r>
              <a:rPr lang="en-ID" sz="20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ID" sz="2000" b="0" i="0" u="none" strike="noStrike" dirty="0" err="1">
                <a:solidFill>
                  <a:srgbClr val="000000"/>
                </a:solidFill>
                <a:effectLst/>
              </a:rPr>
              <a:t>berikut</a:t>
            </a:r>
            <a:r>
              <a:rPr lang="en-ID" sz="2000" b="0" i="0" u="none" strike="noStrike" dirty="0">
                <a:solidFill>
                  <a:srgbClr val="000000"/>
                </a:solidFill>
                <a:effectLst/>
              </a:rPr>
              <a:t> yang </a:t>
            </a:r>
            <a:r>
              <a:rPr lang="en-ID" sz="2000" b="0" i="0" u="none" strike="noStrike" dirty="0" err="1">
                <a:solidFill>
                  <a:srgbClr val="000000"/>
                </a:solidFill>
                <a:effectLst/>
              </a:rPr>
              <a:t>penulisannya</a:t>
            </a:r>
            <a:r>
              <a:rPr lang="en-ID" sz="20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ID" sz="2000" b="0" i="0" u="none" strike="noStrike" dirty="0" err="1">
                <a:solidFill>
                  <a:srgbClr val="000000"/>
                </a:solidFill>
                <a:effectLst/>
              </a:rPr>
              <a:t>sesuai</a:t>
            </a:r>
            <a:r>
              <a:rPr lang="en-ID" sz="20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ID" sz="2000" b="0" i="0" u="none" strike="noStrike" dirty="0" err="1">
                <a:solidFill>
                  <a:srgbClr val="000000"/>
                </a:solidFill>
                <a:effectLst/>
              </a:rPr>
              <a:t>dengan</a:t>
            </a:r>
            <a:r>
              <a:rPr lang="en-ID" sz="20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ID" sz="2000" b="0" i="0" u="none" strike="noStrike" dirty="0" err="1">
                <a:solidFill>
                  <a:srgbClr val="000000"/>
                </a:solidFill>
                <a:effectLst/>
              </a:rPr>
              <a:t>aturan</a:t>
            </a:r>
            <a:r>
              <a:rPr lang="en-ID" sz="2000" b="0" i="0" u="none" strike="noStrike" dirty="0">
                <a:solidFill>
                  <a:srgbClr val="000000"/>
                </a:solidFill>
                <a:effectLst/>
              </a:rPr>
              <a:t> yang </a:t>
            </a:r>
            <a:r>
              <a:rPr lang="en-ID" sz="2000" b="0" i="0" u="none" strike="noStrike" dirty="0" err="1">
                <a:solidFill>
                  <a:srgbClr val="000000"/>
                </a:solidFill>
                <a:effectLst/>
              </a:rPr>
              <a:t>dianjurkan</a:t>
            </a:r>
            <a:r>
              <a:rPr lang="en-ID" sz="2000" b="0" i="0" u="none" strike="noStrike" dirty="0">
                <a:solidFill>
                  <a:srgbClr val="000000"/>
                </a:solidFill>
                <a:effectLst/>
              </a:rPr>
              <a:t>?</a:t>
            </a:r>
            <a:endParaRPr lang="en-ID" b="0" i="0" u="none" strike="noStrike" dirty="0">
              <a:solidFill>
                <a:srgbClr val="4A8CFF"/>
              </a:solidFill>
              <a:effectLst/>
            </a:endParaRPr>
          </a:p>
          <a:p>
            <a:pPr marL="444500" algn="l" rtl="0">
              <a:spcBef>
                <a:spcPts val="0"/>
              </a:spcBef>
              <a:spcAft>
                <a:spcPts val="0"/>
              </a:spcAft>
            </a:pPr>
            <a:endParaRPr lang="en-ID" sz="2000" b="0" i="0" u="none" strike="noStrike" dirty="0">
              <a:solidFill>
                <a:srgbClr val="000000"/>
              </a:solidFill>
              <a:effectLst/>
            </a:endParaRPr>
          </a:p>
          <a:p>
            <a:pPr marL="444500" algn="l" rtl="0">
              <a:spcBef>
                <a:spcPts val="0"/>
              </a:spcBef>
              <a:spcAft>
                <a:spcPts val="0"/>
              </a:spcAft>
            </a:pPr>
            <a:endParaRPr lang="en-ID" sz="2000" dirty="0">
              <a:solidFill>
                <a:srgbClr val="000000"/>
              </a:solidFill>
            </a:endParaRPr>
          </a:p>
          <a:p>
            <a:pPr marL="444500" algn="l" rtl="0">
              <a:spcBef>
                <a:spcPts val="0"/>
              </a:spcBef>
              <a:spcAft>
                <a:spcPts val="0"/>
              </a:spcAft>
            </a:pPr>
            <a:r>
              <a:rPr lang="en-ID" sz="2000" b="0" i="0" u="none" strike="noStrike" dirty="0">
                <a:solidFill>
                  <a:srgbClr val="000000"/>
                </a:solidFill>
                <a:effectLst/>
              </a:rPr>
              <a:t>a. </a:t>
            </a:r>
          </a:p>
          <a:p>
            <a:pPr marL="444500" algn="l" rtl="0">
              <a:spcBef>
                <a:spcPts val="0"/>
              </a:spcBef>
              <a:spcAft>
                <a:spcPts val="0"/>
              </a:spcAft>
            </a:pPr>
            <a:endParaRPr lang="en-ID" sz="2000" b="0" i="0" u="none" strike="noStrike" dirty="0">
              <a:solidFill>
                <a:srgbClr val="000000"/>
              </a:solidFill>
              <a:effectLst/>
            </a:endParaRPr>
          </a:p>
          <a:p>
            <a:pPr marL="444500" algn="l" rtl="0">
              <a:spcBef>
                <a:spcPts val="0"/>
              </a:spcBef>
              <a:spcAft>
                <a:spcPts val="0"/>
              </a:spcAft>
            </a:pPr>
            <a:endParaRPr lang="en-ID" sz="2000" b="0" i="0" u="none" strike="noStrike" dirty="0">
              <a:solidFill>
                <a:srgbClr val="000000"/>
              </a:solidFill>
              <a:effectLst/>
            </a:endParaRPr>
          </a:p>
          <a:p>
            <a:pPr marL="444500" algn="l" rtl="0">
              <a:spcBef>
                <a:spcPts val="0"/>
              </a:spcBef>
              <a:spcAft>
                <a:spcPts val="0"/>
              </a:spcAft>
            </a:pPr>
            <a:br>
              <a:rPr lang="en-ID" sz="2000" b="0" i="0" u="none" strike="noStrike" dirty="0">
                <a:solidFill>
                  <a:srgbClr val="000000"/>
                </a:solidFill>
                <a:effectLst/>
              </a:rPr>
            </a:br>
            <a:r>
              <a:rPr lang="en-ID" sz="2000" b="0" i="0" u="none" strike="noStrike" dirty="0">
                <a:solidFill>
                  <a:srgbClr val="000000"/>
                </a:solidFill>
                <a:effectLst/>
              </a:rPr>
              <a:t>b. </a:t>
            </a:r>
          </a:p>
          <a:p>
            <a:pPr marL="444500" algn="l" rtl="0">
              <a:spcBef>
                <a:spcPts val="0"/>
              </a:spcBef>
              <a:spcAft>
                <a:spcPts val="0"/>
              </a:spcAft>
            </a:pPr>
            <a:endParaRPr lang="en-ID" sz="2000" b="0" i="0" u="none" strike="noStrike" dirty="0">
              <a:solidFill>
                <a:srgbClr val="000000"/>
              </a:solidFill>
              <a:effectLst/>
            </a:endParaRPr>
          </a:p>
          <a:p>
            <a:pPr marL="444500" algn="l" rtl="0">
              <a:spcBef>
                <a:spcPts val="0"/>
              </a:spcBef>
              <a:spcAft>
                <a:spcPts val="0"/>
              </a:spcAft>
            </a:pPr>
            <a:endParaRPr lang="en-ID" sz="2000" dirty="0">
              <a:solidFill>
                <a:srgbClr val="000000"/>
              </a:solidFill>
            </a:endParaRPr>
          </a:p>
          <a:p>
            <a:pPr marL="444500" algn="l" rtl="0">
              <a:spcBef>
                <a:spcPts val="0"/>
              </a:spcBef>
              <a:spcAft>
                <a:spcPts val="0"/>
              </a:spcAft>
            </a:pPr>
            <a:br>
              <a:rPr lang="en-ID" sz="2000" b="0" i="0" u="none" strike="noStrike" dirty="0">
                <a:solidFill>
                  <a:srgbClr val="000000"/>
                </a:solidFill>
                <a:effectLst/>
              </a:rPr>
            </a:br>
            <a:r>
              <a:rPr lang="en-ID" sz="2000" b="0" i="0" u="none" strike="noStrike" dirty="0">
                <a:solidFill>
                  <a:srgbClr val="000000"/>
                </a:solidFill>
                <a:effectLst/>
              </a:rPr>
              <a:t>c. </a:t>
            </a:r>
          </a:p>
          <a:p>
            <a:br>
              <a:rPr lang="en-ID" sz="2000" b="0" i="0" u="none" strike="noStrike" dirty="0">
                <a:solidFill>
                  <a:srgbClr val="000000"/>
                </a:solidFill>
                <a:effectLst/>
              </a:rPr>
            </a:br>
            <a:endParaRPr lang="en-US" sz="2000" dirty="0"/>
          </a:p>
        </p:txBody>
      </p:sp>
      <p:pic>
        <p:nvPicPr>
          <p:cNvPr id="40962" name="Picture 2">
            <a:extLst>
              <a:ext uri="{FF2B5EF4-FFF2-40B4-BE49-F238E27FC236}">
                <a16:creationId xmlns:a16="http://schemas.microsoft.com/office/drawing/2014/main" id="{FF8CBB82-4F5A-8AAE-8ECF-FA82B08696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2675" y="2421459"/>
            <a:ext cx="7359650" cy="842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64" name="Picture 4">
            <a:extLst>
              <a:ext uri="{FF2B5EF4-FFF2-40B4-BE49-F238E27FC236}">
                <a16:creationId xmlns:a16="http://schemas.microsoft.com/office/drawing/2014/main" id="{BA27B24D-ABEA-C043-00D2-4DEBBAA2B4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2675" y="3855575"/>
            <a:ext cx="7359650" cy="673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66" name="Picture 6">
            <a:extLst>
              <a:ext uri="{FF2B5EF4-FFF2-40B4-BE49-F238E27FC236}">
                <a16:creationId xmlns:a16="http://schemas.microsoft.com/office/drawing/2014/main" id="{EC6F9AD9-91A3-240C-848B-3831C93748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2675" y="5044151"/>
            <a:ext cx="7359650" cy="88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98380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203864"/>
      </a:accent1>
      <a:accent2>
        <a:srgbClr val="A8836F"/>
      </a:accent2>
      <a:accent3>
        <a:srgbClr val="F4F4F4"/>
      </a:accent3>
      <a:accent4>
        <a:srgbClr val="A38500"/>
      </a:accent4>
      <a:accent5>
        <a:srgbClr val="5B9BD5"/>
      </a:accent5>
      <a:accent6>
        <a:srgbClr val="527F53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2138</TotalTime>
  <Words>2177</Words>
  <Application>Microsoft Macintosh PowerPoint</Application>
  <PresentationFormat>Widescreen</PresentationFormat>
  <Paragraphs>383</Paragraphs>
  <Slides>70</Slides>
  <Notes>1</Notes>
  <HiddenSlides>1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79" baseType="lpstr">
      <vt:lpstr>Aharoni</vt:lpstr>
      <vt:lpstr>Arial</vt:lpstr>
      <vt:lpstr>Calibri</vt:lpstr>
      <vt:lpstr>Calibri Light</vt:lpstr>
      <vt:lpstr>Consolas</vt:lpstr>
      <vt:lpstr>Gill Sans MT</vt:lpstr>
      <vt:lpstr>Google Sans</vt:lpstr>
      <vt:lpstr>Montserrat</vt:lpstr>
      <vt:lpstr>Office Theme</vt:lpstr>
      <vt:lpstr>PENGANTAR PYTHON DAN TIPE DATA</vt:lpstr>
      <vt:lpstr>Pengenalan Python</vt:lpstr>
      <vt:lpstr>Pengenalan Python</vt:lpstr>
      <vt:lpstr>Zen of Python</vt:lpstr>
      <vt:lpstr>Keunggulan Python</vt:lpstr>
      <vt:lpstr>Keunggulan Python</vt:lpstr>
      <vt:lpstr>Instalasi Python</vt:lpstr>
      <vt:lpstr>Instalasi Python</vt:lpstr>
      <vt:lpstr>Instalasi Python: Windows</vt:lpstr>
      <vt:lpstr>Instalasi Python: Windows</vt:lpstr>
      <vt:lpstr>Instalasi Python: Linux dan MacOS</vt:lpstr>
      <vt:lpstr>Setup Python: Visual Studio Code</vt:lpstr>
      <vt:lpstr>Setup Pada Python</vt:lpstr>
      <vt:lpstr>Mode di Python</vt:lpstr>
      <vt:lpstr>Mode Script</vt:lpstr>
      <vt:lpstr>Syntax Dasar Python</vt:lpstr>
      <vt:lpstr>Sintax Dasar: Print</vt:lpstr>
      <vt:lpstr>Sintax Dasar: Print</vt:lpstr>
      <vt:lpstr>Sintax Dasar: Comment</vt:lpstr>
      <vt:lpstr>Sintax Dasar: Multi Line Comment</vt:lpstr>
      <vt:lpstr>Quiz 1</vt:lpstr>
      <vt:lpstr>Variabel</vt:lpstr>
      <vt:lpstr>Variable</vt:lpstr>
      <vt:lpstr>Variabel</vt:lpstr>
      <vt:lpstr>Variabel: Casting Variabel </vt:lpstr>
      <vt:lpstr>Variabel: Multi Words Variabel</vt:lpstr>
      <vt:lpstr>Variabel: Assign Multi Variabel</vt:lpstr>
      <vt:lpstr>Variabel: Output Variabel</vt:lpstr>
      <vt:lpstr>Quiz 2</vt:lpstr>
      <vt:lpstr>Input dan Output</vt:lpstr>
      <vt:lpstr>Output</vt:lpstr>
      <vt:lpstr>Input</vt:lpstr>
      <vt:lpstr>Input</vt:lpstr>
      <vt:lpstr>Tipe Data</vt:lpstr>
      <vt:lpstr>Tipe Data</vt:lpstr>
      <vt:lpstr>Tipe Data di Python</vt:lpstr>
      <vt:lpstr>Tipe Data di Python</vt:lpstr>
      <vt:lpstr>Tipe Data di Python</vt:lpstr>
      <vt:lpstr>Quiz 3</vt:lpstr>
      <vt:lpstr>Python Numeric</vt:lpstr>
      <vt:lpstr>Integer</vt:lpstr>
      <vt:lpstr>Float</vt:lpstr>
      <vt:lpstr>Complex</vt:lpstr>
      <vt:lpstr>Fungsi Numeric</vt:lpstr>
      <vt:lpstr>Quiz 4</vt:lpstr>
      <vt:lpstr>Python Strings</vt:lpstr>
      <vt:lpstr>Python Strings</vt:lpstr>
      <vt:lpstr>Multiline Strings</vt:lpstr>
      <vt:lpstr>Slicing Strings</vt:lpstr>
      <vt:lpstr>Slicing Strings</vt:lpstr>
      <vt:lpstr>Modifikasi Strings</vt:lpstr>
      <vt:lpstr>Modifikasi Strings</vt:lpstr>
      <vt:lpstr>Strings Concatenation</vt:lpstr>
      <vt:lpstr>Strings Formatting</vt:lpstr>
      <vt:lpstr>Strings Formatting</vt:lpstr>
      <vt:lpstr>Escape Characters</vt:lpstr>
      <vt:lpstr>Escape Characters</vt:lpstr>
      <vt:lpstr>Latihan</vt:lpstr>
      <vt:lpstr>Latihan</vt:lpstr>
      <vt:lpstr>Latihan</vt:lpstr>
      <vt:lpstr>Latihan 3</vt:lpstr>
      <vt:lpstr>Materi Tambahan</vt:lpstr>
      <vt:lpstr>Identasi</vt:lpstr>
      <vt:lpstr>Penggantian Baris</vt:lpstr>
      <vt:lpstr>Penggantian Baris</vt:lpstr>
      <vt:lpstr>Sebelum Operator Binary</vt:lpstr>
      <vt:lpstr>Whitespace</vt:lpstr>
      <vt:lpstr>Whitespace</vt:lpstr>
      <vt:lpstr>Dokumentasi</vt:lpstr>
      <vt:lpstr>Quiz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indirasyawanodya</dc:creator>
  <cp:lastModifiedBy>indirasyawanodya</cp:lastModifiedBy>
  <cp:revision>9</cp:revision>
  <dcterms:created xsi:type="dcterms:W3CDTF">2025-08-15T01:30:00Z</dcterms:created>
  <dcterms:modified xsi:type="dcterms:W3CDTF">2025-09-11T06:37:59Z</dcterms:modified>
</cp:coreProperties>
</file>