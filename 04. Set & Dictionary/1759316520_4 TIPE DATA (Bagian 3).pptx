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63"/>
    <p:restoredTop sz="96296"/>
  </p:normalViewPr>
  <p:slideViewPr>
    <p:cSldViewPr snapToGrid="0">
      <p:cViewPr varScale="1">
        <p:scale>
          <a:sx n="110" d="100"/>
          <a:sy n="110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05272-72D5-F345-94B5-CCE264DD64C5}" type="datetimeFigureOut">
              <a:rPr lang="en-US" smtClean="0"/>
              <a:t>8/31/25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FC485-BAB3-DB4D-8232-AFA43C57E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8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1760C-150A-D504-E74E-46B2CD722A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8638" y="2025564"/>
            <a:ext cx="6683923" cy="2387600"/>
          </a:xfrm>
        </p:spPr>
        <p:txBody>
          <a:bodyPr anchor="b">
            <a:noAutofit/>
          </a:bodyPr>
          <a:lstStyle>
            <a:lvl1pPr algn="l">
              <a:defRPr sz="5400" b="1" i="0"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F35F9-698B-DA5C-C7FF-2A9514211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8638" y="4630129"/>
            <a:ext cx="5042681" cy="718073"/>
          </a:xfrm>
        </p:spPr>
        <p:txBody>
          <a:bodyPr/>
          <a:lstStyle>
            <a:lvl1pPr marL="0" indent="0" algn="ctr">
              <a:buNone/>
              <a:defRPr sz="2400" b="1" i="0">
                <a:latin typeface="Gill Sans MT" panose="020B050202010402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33BD6FD-C059-80B4-333E-ACA6245ED5B1}"/>
              </a:ext>
            </a:extLst>
          </p:cNvPr>
          <p:cNvSpPr/>
          <p:nvPr userDrawn="1"/>
        </p:nvSpPr>
        <p:spPr>
          <a:xfrm>
            <a:off x="-1090037" y="-2714590"/>
            <a:ext cx="6940440" cy="6705041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3CAD99F5-8EB6-6CE3-49FA-74FD8735816E}"/>
              </a:ext>
            </a:extLst>
          </p:cNvPr>
          <p:cNvSpPr/>
          <p:nvPr userDrawn="1"/>
        </p:nvSpPr>
        <p:spPr>
          <a:xfrm>
            <a:off x="-2704898" y="2272421"/>
            <a:ext cx="4585579" cy="4585579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C9AA94A3-1D0B-95B3-DF97-48B827321325}"/>
              </a:ext>
            </a:extLst>
          </p:cNvPr>
          <p:cNvSpPr/>
          <p:nvPr userDrawn="1"/>
        </p:nvSpPr>
        <p:spPr>
          <a:xfrm>
            <a:off x="239439" y="4835878"/>
            <a:ext cx="4585578" cy="4585578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177270-A6A6-64D5-9347-308E71A1CC3A}"/>
              </a:ext>
            </a:extLst>
          </p:cNvPr>
          <p:cNvSpPr txBox="1"/>
          <p:nvPr userDrawn="1"/>
        </p:nvSpPr>
        <p:spPr>
          <a:xfrm>
            <a:off x="681033" y="637930"/>
            <a:ext cx="414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latin typeface="Gill Sans MT" panose="020B0502020104020203" pitchFamily="34" charset="77"/>
              </a:rPr>
              <a:t>REKAYASA PERANGKAT LUNAK</a:t>
            </a:r>
          </a:p>
        </p:txBody>
      </p:sp>
    </p:spTree>
    <p:extLst>
      <p:ext uri="{BB962C8B-B14F-4D97-AF65-F5344CB8AC3E}">
        <p14:creationId xmlns:p14="http://schemas.microsoft.com/office/powerpoint/2010/main" val="65878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515C394D-C021-DF68-DBDD-E9413F9061B7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63C90-8185-169A-D4A8-DB18D76D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C741D-17FE-FCFD-3E2B-5C3274015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378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8919F672-3EBD-7ED0-57D7-0C747184B83C}"/>
              </a:ext>
            </a:extLst>
          </p:cNvPr>
          <p:cNvSpPr/>
          <p:nvPr userDrawn="1"/>
        </p:nvSpPr>
        <p:spPr>
          <a:xfrm rot="673413">
            <a:off x="6773829" y="-485966"/>
            <a:ext cx="8137998" cy="7829930"/>
          </a:xfrm>
          <a:custGeom>
            <a:avLst/>
            <a:gdLst/>
            <a:ahLst/>
            <a:cxnLst/>
            <a:rect l="l" t="t" r="r" b="b"/>
            <a:pathLst>
              <a:path w="13265113" h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CE2D0-AB6C-07B4-2C4E-8481F727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4710821" cy="2852737"/>
          </a:xfrm>
        </p:spPr>
        <p:txBody>
          <a:bodyPr anchor="b"/>
          <a:lstStyle>
            <a:lvl1pPr>
              <a:defRPr sz="6000" b="1" i="0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12767-782B-0360-24AC-B6F385029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471082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BC4F8A94-35F1-F519-5C09-D2A510CC50EB}"/>
              </a:ext>
            </a:extLst>
          </p:cNvPr>
          <p:cNvGrpSpPr/>
          <p:nvPr userDrawn="1"/>
        </p:nvGrpSpPr>
        <p:grpSpPr>
          <a:xfrm>
            <a:off x="7462998" y="269295"/>
            <a:ext cx="7077020" cy="6588705"/>
            <a:chOff x="0" y="0"/>
            <a:chExt cx="6350000" cy="591185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F3253A5D-723C-8310-5D9B-18494A980C46}"/>
                </a:ext>
              </a:extLst>
            </p:cNvPr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47629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41FBA89D-3B3E-26C9-52EA-7C0C1DC8245D}"/>
              </a:ext>
            </a:extLst>
          </p:cNvPr>
          <p:cNvGrpSpPr/>
          <p:nvPr userDrawn="1"/>
        </p:nvGrpSpPr>
        <p:grpSpPr>
          <a:xfrm>
            <a:off x="0" y="0"/>
            <a:ext cx="12192000" cy="1927274"/>
            <a:chOff x="0" y="0"/>
            <a:chExt cx="24384000" cy="5030819"/>
          </a:xfrm>
          <a:solidFill>
            <a:schemeClr val="accent1">
              <a:lumMod val="50000"/>
            </a:schemeClr>
          </a:solidFill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99B3262B-727C-1F17-EE1F-677F84EBE0D1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57ECD795-11BC-4A89-6929-93D19409EF4E}"/>
              </a:ext>
            </a:extLst>
          </p:cNvPr>
          <p:cNvGrpSpPr/>
          <p:nvPr userDrawn="1"/>
        </p:nvGrpSpPr>
        <p:grpSpPr>
          <a:xfrm>
            <a:off x="0" y="0"/>
            <a:ext cx="12192000" cy="1927274"/>
            <a:chOff x="0" y="0"/>
            <a:chExt cx="24384000" cy="5030819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CF9B217B-C26C-AC73-48B8-119D8EEA0305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solidFill>
              <a:srgbClr val="A9846F">
                <a:alpha val="13725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082680-88F3-E286-ADA0-7C49EFD148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sz="4000" b="1" i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05A69-E81E-8AA0-7FA6-FBC212CB7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41537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153CA-69A6-56E8-DB28-7618EE3AA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41537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91F7AADE-8EE6-9338-8160-470CE767CEE3}"/>
              </a:ext>
            </a:extLst>
          </p:cNvPr>
          <p:cNvSpPr/>
          <p:nvPr userDrawn="1"/>
        </p:nvSpPr>
        <p:spPr>
          <a:xfrm>
            <a:off x="5672782" y="-530349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17BE3EE1-AA84-0B65-856D-B22A46A14E02}"/>
              </a:ext>
            </a:extLst>
          </p:cNvPr>
          <p:cNvSpPr/>
          <p:nvPr userDrawn="1"/>
        </p:nvSpPr>
        <p:spPr>
          <a:xfrm>
            <a:off x="5672782" y="6492875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123352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43C6-3AC3-2E23-CED3-8F0902072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07808-550C-EDA3-8C1E-B5D90DC69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8A83F-B8C6-9850-B9F0-C84609FB0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29018-CFBE-502E-B83F-59B76511D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BA4C0-6A9A-3ABA-165C-920EFF089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293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9">
            <a:extLst>
              <a:ext uri="{FF2B5EF4-FFF2-40B4-BE49-F238E27FC236}">
                <a16:creationId xmlns:a16="http://schemas.microsoft.com/office/drawing/2014/main" id="{EC4EECB4-B97A-EA9E-5C81-890134F5E532}"/>
              </a:ext>
            </a:extLst>
          </p:cNvPr>
          <p:cNvSpPr/>
          <p:nvPr/>
        </p:nvSpPr>
        <p:spPr>
          <a:xfrm>
            <a:off x="0" y="6094827"/>
            <a:ext cx="12192000" cy="763173"/>
          </a:xfrm>
          <a:custGeom>
            <a:avLst/>
            <a:gdLst/>
            <a:ahLst/>
            <a:cxnLst/>
            <a:rect l="l" t="t" r="r" b="b"/>
            <a:pathLst>
              <a:path w="4816592" h="305799">
                <a:moveTo>
                  <a:pt x="0" y="0"/>
                </a:moveTo>
                <a:lnTo>
                  <a:pt x="4816592" y="0"/>
                </a:lnTo>
                <a:lnTo>
                  <a:pt x="4816592" y="305799"/>
                </a:lnTo>
                <a:lnTo>
                  <a:pt x="0" y="305799"/>
                </a:lnTo>
                <a:close/>
              </a:path>
            </a:pathLst>
          </a:custGeom>
          <a:solidFill>
            <a:srgbClr val="F4F4F4"/>
          </a:solidFill>
        </p:spPr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4349327-1A17-0CFE-2B8D-1D50261B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tx2">
                    <a:lumMod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E6672B45-5413-EB9C-8B10-79FC60D4456A}"/>
              </a:ext>
            </a:extLst>
          </p:cNvPr>
          <p:cNvSpPr/>
          <p:nvPr userDrawn="1"/>
        </p:nvSpPr>
        <p:spPr>
          <a:xfrm>
            <a:off x="-460473" y="-548090"/>
            <a:ext cx="1826429" cy="1826429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05758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D76D24A9-4C44-6B4D-E8B9-96558E200D82}"/>
              </a:ext>
            </a:extLst>
          </p:cNvPr>
          <p:cNvGrpSpPr/>
          <p:nvPr userDrawn="1"/>
        </p:nvGrpSpPr>
        <p:grpSpPr>
          <a:xfrm>
            <a:off x="0" y="5739616"/>
            <a:ext cx="12192000" cy="1188721"/>
            <a:chOff x="0" y="0"/>
            <a:chExt cx="24384000" cy="5030819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9DDA39D9-5441-E437-3D28-EADBA70D5CF1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solidFill>
              <a:srgbClr val="A9846F">
                <a:alpha val="13725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AE33936C-1B41-E63A-F456-69A17879EB35}"/>
              </a:ext>
            </a:extLst>
          </p:cNvPr>
          <p:cNvGrpSpPr/>
          <p:nvPr userDrawn="1"/>
        </p:nvGrpSpPr>
        <p:grpSpPr>
          <a:xfrm>
            <a:off x="0" y="5739618"/>
            <a:ext cx="12192000" cy="1188720"/>
            <a:chOff x="0" y="0"/>
            <a:chExt cx="24384000" cy="5030819"/>
          </a:xfrm>
          <a:solidFill>
            <a:schemeClr val="accent1">
              <a:lumMod val="50000"/>
            </a:schemeClr>
          </a:solidFill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D7394CF8-83FD-AC32-F27D-5114C7C66E49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" name="Freeform 11">
            <a:extLst>
              <a:ext uri="{FF2B5EF4-FFF2-40B4-BE49-F238E27FC236}">
                <a16:creationId xmlns:a16="http://schemas.microsoft.com/office/drawing/2014/main" id="{CDFE3B20-4A60-BC55-80FA-9BF693759D68}"/>
              </a:ext>
            </a:extLst>
          </p:cNvPr>
          <p:cNvSpPr/>
          <p:nvPr userDrawn="1"/>
        </p:nvSpPr>
        <p:spPr>
          <a:xfrm>
            <a:off x="5672782" y="-423218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2178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535A315B-011B-B841-4FBB-67716B0E6150}"/>
              </a:ext>
            </a:extLst>
          </p:cNvPr>
          <p:cNvSpPr/>
          <p:nvPr userDrawn="1"/>
        </p:nvSpPr>
        <p:spPr>
          <a:xfrm>
            <a:off x="-3453972" y="-850278"/>
            <a:ext cx="8558555" cy="8558555"/>
          </a:xfrm>
          <a:custGeom>
            <a:avLst/>
            <a:gdLst/>
            <a:ahLst/>
            <a:cxnLst/>
            <a:rect l="l" t="t" r="r" b="b"/>
            <a:pathLst>
              <a:path w="13960430" h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851FE-27BB-EA1B-9054-0A1F77D3C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23149" y="2162739"/>
            <a:ext cx="5618871" cy="2926715"/>
          </a:xfrm>
        </p:spPr>
        <p:txBody>
          <a:bodyPr/>
          <a:lstStyle>
            <a:lvl1pPr>
              <a:defRPr b="1" i="0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9AE97C-A4D8-5599-F8F4-4F17A9779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29263" y="352425"/>
            <a:ext cx="6302375" cy="6076950"/>
          </a:xfrm>
        </p:spPr>
        <p:txBody>
          <a:bodyPr>
            <a:normAutofit/>
          </a:bodyPr>
          <a:lstStyle>
            <a:lvl1pPr>
              <a:defRPr sz="3200">
                <a:latin typeface="Gill Sans MT" panose="020B0502020104020203" pitchFamily="34" charset="77"/>
              </a:defRPr>
            </a:lvl1pPr>
            <a:lvl2pPr>
              <a:defRPr sz="2800">
                <a:latin typeface="Gill Sans MT" panose="020B0502020104020203" pitchFamily="34" charset="77"/>
              </a:defRPr>
            </a:lvl2pPr>
            <a:lvl3pPr>
              <a:defRPr sz="2400">
                <a:latin typeface="Gill Sans MT" panose="020B0502020104020203" pitchFamily="34" charset="77"/>
              </a:defRPr>
            </a:lvl3pPr>
            <a:lvl4pPr>
              <a:defRPr sz="2000">
                <a:latin typeface="Gill Sans MT" panose="020B0502020104020203" pitchFamily="34" charset="77"/>
              </a:defRPr>
            </a:lvl4pPr>
            <a:lvl5pPr>
              <a:defRPr sz="2000"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2220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">
            <a:extLst>
              <a:ext uri="{FF2B5EF4-FFF2-40B4-BE49-F238E27FC236}">
                <a16:creationId xmlns:a16="http://schemas.microsoft.com/office/drawing/2014/main" id="{6E896274-BB9F-BD97-6D6C-EBC584D12450}"/>
              </a:ext>
            </a:extLst>
          </p:cNvPr>
          <p:cNvSpPr/>
          <p:nvPr userDrawn="1"/>
        </p:nvSpPr>
        <p:spPr>
          <a:xfrm>
            <a:off x="4582511" y="1906093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869B31BE-B7B2-0778-9449-B7438136502B}"/>
              </a:ext>
            </a:extLst>
          </p:cNvPr>
          <p:cNvSpPr/>
          <p:nvPr userDrawn="1"/>
        </p:nvSpPr>
        <p:spPr>
          <a:xfrm>
            <a:off x="4582511" y="4390500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9A288E6-176F-BABA-2FDA-430F32189B98}"/>
              </a:ext>
            </a:extLst>
          </p:cNvPr>
          <p:cNvGrpSpPr/>
          <p:nvPr userDrawn="1"/>
        </p:nvGrpSpPr>
        <p:grpSpPr>
          <a:xfrm>
            <a:off x="0" y="0"/>
            <a:ext cx="5022166" cy="6858000"/>
            <a:chOff x="0" y="0"/>
            <a:chExt cx="2478633" cy="270933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69347F9-B76C-2B2A-6D73-865FF372C708}"/>
                </a:ext>
              </a:extLst>
            </p:cNvPr>
            <p:cNvSpPr/>
            <p:nvPr/>
          </p:nvSpPr>
          <p:spPr>
            <a:xfrm>
              <a:off x="0" y="0"/>
              <a:ext cx="2478633" cy="2709333"/>
            </a:xfrm>
            <a:custGeom>
              <a:avLst/>
              <a:gdLst/>
              <a:ahLst/>
              <a:cxnLst/>
              <a:rect l="l" t="t" r="r" b="b"/>
              <a:pathLst>
                <a:path w="2478633" h="27093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552AED-E6F7-DBDB-BEEA-388D9E69665B}"/>
                </a:ext>
              </a:extLst>
            </p:cNvPr>
            <p:cNvSpPr txBox="1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428EF-3210-DB4B-AB6C-880547C58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199"/>
            <a:ext cx="3932237" cy="2328203"/>
          </a:xfrm>
        </p:spPr>
        <p:txBody>
          <a:bodyPr anchor="b">
            <a:normAutofit/>
          </a:bodyPr>
          <a:lstStyle>
            <a:lvl1pPr>
              <a:defRPr sz="3600" b="1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97830-ABEC-8B43-C72D-4C4DFBD84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Gill Sans MT" panose="020B0502020104020203" pitchFamily="34" charset="77"/>
              </a:defRPr>
            </a:lvl1pPr>
            <a:lvl2pPr>
              <a:defRPr sz="2800">
                <a:latin typeface="Gill Sans MT" panose="020B0502020104020203" pitchFamily="34" charset="77"/>
              </a:defRPr>
            </a:lvl2pPr>
            <a:lvl3pPr>
              <a:defRPr sz="2400">
                <a:latin typeface="Gill Sans MT" panose="020B0502020104020203" pitchFamily="34" charset="77"/>
              </a:defRPr>
            </a:lvl3pPr>
            <a:lvl4pPr>
              <a:defRPr sz="2000">
                <a:latin typeface="Gill Sans MT" panose="020B0502020104020203" pitchFamily="34" charset="77"/>
              </a:defRPr>
            </a:lvl4pPr>
            <a:lvl5pPr>
              <a:defRPr sz="2000">
                <a:latin typeface="Gill Sans MT" panose="020B0502020104020203" pitchFamily="34" charset="7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EED15-05C0-5249-CED6-E4472745B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12012"/>
            <a:ext cx="3932237" cy="295697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Gill Sans MT" panose="020B0502020104020203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32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10BC-2A4E-4DC8-9DB8-02E205BB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 i="0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789763-E27E-A0EE-397B-C0C8844C3F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2193925"/>
            <a:ext cx="3932237" cy="4038600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4E91ACBB-AF92-B3EB-35DE-F92A5FC9C32B}"/>
              </a:ext>
            </a:extLst>
          </p:cNvPr>
          <p:cNvGrpSpPr/>
          <p:nvPr userDrawn="1"/>
        </p:nvGrpSpPr>
        <p:grpSpPr>
          <a:xfrm>
            <a:off x="4772025" y="-509886"/>
            <a:ext cx="7877771" cy="7877771"/>
            <a:chOff x="0" y="0"/>
            <a:chExt cx="13141858" cy="13141858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9BCC494D-BBD8-4A6E-097B-6E21EFC86690}"/>
                </a:ext>
              </a:extLst>
            </p:cNvPr>
            <p:cNvSpPr/>
            <p:nvPr/>
          </p:nvSpPr>
          <p:spPr>
            <a:xfrm rot="-1200957">
              <a:off x="1444916" y="1444916"/>
              <a:ext cx="10252025" cy="10252025"/>
            </a:xfrm>
            <a:custGeom>
              <a:avLst/>
              <a:gdLst/>
              <a:ahLst/>
              <a:cxnLst/>
              <a:rect l="l" t="t" r="r" b="b"/>
              <a:pathLst>
                <a:path w="10252025" h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C76A96AA-B38B-B3E0-9037-D51B0685AEC4}"/>
                </a:ext>
              </a:extLst>
            </p:cNvPr>
            <p:cNvSpPr/>
            <p:nvPr/>
          </p:nvSpPr>
          <p:spPr>
            <a:xfrm>
              <a:off x="1311122" y="1311122"/>
              <a:ext cx="10252025" cy="10252025"/>
            </a:xfrm>
            <a:custGeom>
              <a:avLst/>
              <a:gdLst/>
              <a:ahLst/>
              <a:cxnLst/>
              <a:rect l="l" t="t" r="r" b="b"/>
              <a:pathLst>
                <a:path w="10252025" h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EF98BC8-5D27-98A6-AA64-E292728E74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14616" y="1253298"/>
            <a:ext cx="4192588" cy="41910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EBF7F67B-1435-D631-7220-E6B98C128C8A}"/>
              </a:ext>
            </a:extLst>
          </p:cNvPr>
          <p:cNvSpPr/>
          <p:nvPr userDrawn="1"/>
        </p:nvSpPr>
        <p:spPr>
          <a:xfrm>
            <a:off x="-357888" y="6335400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407169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37B4-FB53-EA98-745B-324E0143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0D3F7-ABC2-8C73-96EB-B87BB8671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70C0E-9B53-1C5D-1516-FCFA9DA44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6BC9-2F17-4644-8BAF-C8380839D32A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71263-F331-F40B-B7FF-B14F8E32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96A29-2D21-4948-15D6-2FD146A3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50487-239F-9443-BCF2-594FF8C34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49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2E876F-6920-8F54-4EBA-C93296F78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A0B17-96AB-031D-3FF0-094D35871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53DFC-38B1-D398-AA0D-2F305C4F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6BC9-2F17-4644-8BAF-C8380839D32A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DFDFE-CFB9-BE46-BCBE-794FDA41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1BF20-F219-0484-193D-4174FB51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50487-239F-9443-BCF2-594FF8C34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9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6432933" cy="1325563"/>
          </a:xfr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6939"/>
            <a:ext cx="7315200" cy="3280023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EB4D66C9-F974-7255-DE5F-D48941E91D59}"/>
              </a:ext>
            </a:extLst>
          </p:cNvPr>
          <p:cNvGrpSpPr/>
          <p:nvPr userDrawn="1"/>
        </p:nvGrpSpPr>
        <p:grpSpPr>
          <a:xfrm>
            <a:off x="9216325" y="0"/>
            <a:ext cx="2975675" cy="6858000"/>
            <a:chOff x="0" y="0"/>
            <a:chExt cx="1321562" cy="2709333"/>
          </a:xfrm>
          <a:solidFill>
            <a:schemeClr val="bg2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ADEF0BB9-6296-6AF7-51C0-407C4B5F697F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D45D2709-9245-5FB8-7922-6EC714C0EBF0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F618F19-F498-53C4-B0BE-F6F85DB255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38860" y="1115879"/>
            <a:ext cx="3101559" cy="50610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DB61C1A-4664-2515-0BDB-8AAAEC13BC4A}"/>
              </a:ext>
            </a:extLst>
          </p:cNvPr>
          <p:cNvSpPr/>
          <p:nvPr userDrawn="1"/>
        </p:nvSpPr>
        <p:spPr>
          <a:xfrm>
            <a:off x="11540419" y="6319210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1769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04099" cy="1325563"/>
          </a:xfrm>
        </p:spPr>
        <p:txBody>
          <a:bodyPr/>
          <a:lstStyle>
            <a:lvl1pPr>
              <a:defRPr b="1" i="0">
                <a:solidFill>
                  <a:schemeClr val="accent1"/>
                </a:solidFill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6939"/>
            <a:ext cx="7315200" cy="3280023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EB4D66C9-F974-7255-DE5F-D48941E91D59}"/>
              </a:ext>
            </a:extLst>
          </p:cNvPr>
          <p:cNvGrpSpPr/>
          <p:nvPr userDrawn="1"/>
        </p:nvGrpSpPr>
        <p:grpSpPr>
          <a:xfrm>
            <a:off x="9216325" y="191911"/>
            <a:ext cx="2975675" cy="6858000"/>
            <a:chOff x="0" y="0"/>
            <a:chExt cx="1321562" cy="2709333"/>
          </a:xfrm>
          <a:solidFill>
            <a:schemeClr val="bg2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ADEF0BB9-6296-6AF7-51C0-407C4B5F697F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D45D2709-9245-5FB8-7922-6EC714C0EBF0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4" name="AutoShape 18">
            <a:extLst>
              <a:ext uri="{FF2B5EF4-FFF2-40B4-BE49-F238E27FC236}">
                <a16:creationId xmlns:a16="http://schemas.microsoft.com/office/drawing/2014/main" id="{5A72F1C2-C799-4A9A-5989-9D4AA2D904F9}"/>
              </a:ext>
            </a:extLst>
          </p:cNvPr>
          <p:cNvSpPr/>
          <p:nvPr userDrawn="1"/>
        </p:nvSpPr>
        <p:spPr>
          <a:xfrm>
            <a:off x="870165" y="1872448"/>
            <a:ext cx="0" cy="725501"/>
          </a:xfrm>
          <a:prstGeom prst="line">
            <a:avLst/>
          </a:prstGeom>
          <a:ln w="76200" cap="flat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F618F19-F498-53C4-B0BE-F6F85DB255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38860" y="1115879"/>
            <a:ext cx="3101559" cy="506108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1740583-7361-9AD7-3125-9803F49F3A1F}"/>
              </a:ext>
            </a:extLst>
          </p:cNvPr>
          <p:cNvSpPr/>
          <p:nvPr userDrawn="1"/>
        </p:nvSpPr>
        <p:spPr>
          <a:xfrm>
            <a:off x="11540419" y="6319210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915E256-1E1D-5476-8E85-168F2D05E9F7}"/>
              </a:ext>
            </a:extLst>
          </p:cNvPr>
          <p:cNvSpPr/>
          <p:nvPr userDrawn="1"/>
        </p:nvSpPr>
        <p:spPr>
          <a:xfrm rot="10121484">
            <a:off x="7300002" y="385669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B77396F-9644-D6FA-1C5B-DBA3FE54DB58}"/>
              </a:ext>
            </a:extLst>
          </p:cNvPr>
          <p:cNvSpPr/>
          <p:nvPr userDrawn="1"/>
        </p:nvSpPr>
        <p:spPr>
          <a:xfrm rot="10121484">
            <a:off x="7517621" y="385669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198154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DAF45971-146F-4FCB-2DA8-B55376909150}"/>
              </a:ext>
            </a:extLst>
          </p:cNvPr>
          <p:cNvGrpSpPr/>
          <p:nvPr userDrawn="1"/>
        </p:nvGrpSpPr>
        <p:grpSpPr>
          <a:xfrm>
            <a:off x="5765369" y="0"/>
            <a:ext cx="6426631" cy="6858000"/>
            <a:chOff x="0" y="0"/>
            <a:chExt cx="1321562" cy="270933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C5320BAC-8342-0B2C-73E6-ECD90C900314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51BF87C4-4052-0BB4-9860-B4D57157B4E8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4601705" cy="1325563"/>
          </a:xfrm>
        </p:spPr>
        <p:txBody>
          <a:bodyPr/>
          <a:lstStyle>
            <a:lvl1pPr>
              <a:defRPr>
                <a:solidFill>
                  <a:srgbClr val="16726E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23081"/>
            <a:ext cx="5448946" cy="58118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5562F7F-66DF-3DD7-3349-48BF61475B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199" y="2180915"/>
            <a:ext cx="4540250" cy="1782763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634272D-A4A0-D639-9B87-E53F0BB24F8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199" y="4453905"/>
            <a:ext cx="4540250" cy="17827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20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DAF45971-146F-4FCB-2DA8-B55376909150}"/>
              </a:ext>
            </a:extLst>
          </p:cNvPr>
          <p:cNvGrpSpPr/>
          <p:nvPr userDrawn="1"/>
        </p:nvGrpSpPr>
        <p:grpSpPr>
          <a:xfrm>
            <a:off x="0" y="0"/>
            <a:ext cx="6426631" cy="6858000"/>
            <a:chOff x="0" y="0"/>
            <a:chExt cx="1321562" cy="270933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C5320BAC-8342-0B2C-73E6-ECD90C900314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51BF87C4-4052-0BB4-9860-B4D57157B4E8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631" y="388140"/>
            <a:ext cx="5448946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1470" y="388140"/>
            <a:ext cx="5089899" cy="61986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C83F293-4741-2FD1-C31F-A4B661637F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4017" y="2124632"/>
            <a:ext cx="5196076" cy="37236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AutoShape 7">
            <a:extLst>
              <a:ext uri="{FF2B5EF4-FFF2-40B4-BE49-F238E27FC236}">
                <a16:creationId xmlns:a16="http://schemas.microsoft.com/office/drawing/2014/main" id="{530BA52E-938B-4ECD-DA47-F3765811E4C0}"/>
              </a:ext>
            </a:extLst>
          </p:cNvPr>
          <p:cNvSpPr/>
          <p:nvPr userDrawn="1"/>
        </p:nvSpPr>
        <p:spPr>
          <a:xfrm flipV="1">
            <a:off x="330631" y="1913909"/>
            <a:ext cx="3400467" cy="0"/>
          </a:xfrm>
          <a:prstGeom prst="line">
            <a:avLst/>
          </a:prstGeom>
          <a:ln w="76200" cap="flat">
            <a:solidFill>
              <a:srgbClr val="EAE4D2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241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D572B2-2579-C934-8471-0E228785E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54AD1-0042-9DAC-E467-F3AAD6556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2C67-6E0A-E036-5DEF-CBF56651D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A6BC9-2F17-4644-8BAF-C8380839D32A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1351A-0A5A-A73E-384C-3A1744FC1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D997-0963-C69F-A3C3-E78E18AC6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50487-239F-9443-BCF2-594FF8C34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8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1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3" r:id="rId13"/>
    <p:sldLayoutId id="2147483666" r:id="rId14"/>
    <p:sldLayoutId id="2147483667" r:id="rId15"/>
    <p:sldLayoutId id="2147483668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B2B2-1420-2CD0-16A9-74EE8DE30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TIPE DATA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(BAG 3: SET DAN DICTIONARY)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DE58-F161-772C-BD5E-1FF653B48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8638" y="4630129"/>
            <a:ext cx="5773610" cy="718073"/>
          </a:xfrm>
        </p:spPr>
        <p:txBody>
          <a:bodyPr>
            <a:normAutofit/>
          </a:bodyPr>
          <a:lstStyle/>
          <a:p>
            <a:r>
              <a:rPr lang="en-US" dirty="0"/>
              <a:t>RL117 – DASAR PEMROGRAMAN</a:t>
            </a:r>
          </a:p>
        </p:txBody>
      </p:sp>
    </p:spTree>
    <p:extLst>
      <p:ext uri="{BB962C8B-B14F-4D97-AF65-F5344CB8AC3E}">
        <p14:creationId xmlns:p14="http://schemas.microsoft.com/office/powerpoint/2010/main" val="1814632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5A899-A433-1C66-A653-9E0A915BD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EB6533-C3AF-CBBE-46A1-60D730BCC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Set</a:t>
            </a:r>
          </a:p>
        </p:txBody>
      </p:sp>
    </p:spTree>
    <p:extLst>
      <p:ext uri="{BB962C8B-B14F-4D97-AF65-F5344CB8AC3E}">
        <p14:creationId xmlns:p14="http://schemas.microsoft.com/office/powerpoint/2010/main" val="3544195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29591-BAC8-C89A-4F7E-6E1302B67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E77C7-4665-F676-E29B-1297CEEE6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Set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menyimpan</a:t>
            </a:r>
            <a:r>
              <a:rPr lang="en-US" sz="2400" dirty="0"/>
              <a:t> </a:t>
            </a:r>
            <a:r>
              <a:rPr lang="en-US" sz="2400" dirty="0" err="1"/>
              <a:t>beberapa</a:t>
            </a:r>
            <a:r>
              <a:rPr lang="en-US" sz="2400" dirty="0"/>
              <a:t> item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variable. </a:t>
            </a:r>
            <a:r>
              <a:rPr lang="en-US" sz="2400" dirty="0" err="1"/>
              <a:t>Bersifat</a:t>
            </a:r>
            <a:r>
              <a:rPr lang="en-US" sz="2400" dirty="0"/>
              <a:t> immutable, unordered, unindexed dan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duplikasi</a:t>
            </a:r>
            <a:r>
              <a:rPr lang="en-US" sz="2400" dirty="0"/>
              <a:t>.</a:t>
            </a:r>
          </a:p>
          <a:p>
            <a:pPr>
              <a:lnSpc>
                <a:spcPct val="120000"/>
              </a:lnSpc>
            </a:pPr>
            <a:r>
              <a:rPr lang="en-US" sz="2400" dirty="0" err="1"/>
              <a:t>Walaupun</a:t>
            </a:r>
            <a:r>
              <a:rPr lang="en-US" sz="2400" dirty="0"/>
              <a:t> immutable </a:t>
            </a:r>
            <a:r>
              <a:rPr lang="en-US" sz="2400" dirty="0" err="1"/>
              <a:t>berbeda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tuple, pada set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masih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menambah</a:t>
            </a:r>
            <a:r>
              <a:rPr lang="en-US" sz="2400" dirty="0"/>
              <a:t> dan </a:t>
            </a:r>
            <a:r>
              <a:rPr lang="en-US" sz="2400" dirty="0" err="1"/>
              <a:t>menghapus</a:t>
            </a:r>
            <a:r>
              <a:rPr lang="en-US" sz="2400" dirty="0"/>
              <a:t> item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Set </a:t>
            </a:r>
            <a:r>
              <a:rPr lang="en-US" sz="2400" dirty="0" err="1"/>
              <a:t>dibuat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tanda</a:t>
            </a:r>
            <a:r>
              <a:rPr lang="en-US" sz="2400" dirty="0"/>
              <a:t> </a:t>
            </a:r>
            <a:r>
              <a:rPr lang="en-US" sz="2400" dirty="0" err="1"/>
              <a:t>kurung</a:t>
            </a:r>
            <a:r>
              <a:rPr lang="en-US" sz="2400" dirty="0"/>
              <a:t> </a:t>
            </a:r>
            <a:r>
              <a:rPr lang="en-US" sz="2400" dirty="0" err="1"/>
              <a:t>kurawal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curly bracket “{ }”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Karena </a:t>
            </a:r>
            <a:r>
              <a:rPr lang="en-US" sz="2400" dirty="0" err="1"/>
              <a:t>bersifat</a:t>
            </a:r>
            <a:r>
              <a:rPr lang="en-US" sz="2400" dirty="0"/>
              <a:t> unindexed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mengakses</a:t>
            </a:r>
            <a:r>
              <a:rPr lang="en-US" sz="2400" dirty="0"/>
              <a:t> item di set </a:t>
            </a:r>
            <a:r>
              <a:rPr lang="en-US" sz="2400" dirty="0" err="1"/>
              <a:t>menggunakan</a:t>
            </a:r>
            <a:r>
              <a:rPr lang="en-US" sz="2400" dirty="0"/>
              <a:t> index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Set </a:t>
            </a:r>
            <a:r>
              <a:rPr lang="en-US" sz="2400" dirty="0" err="1"/>
              <a:t>bersifat</a:t>
            </a:r>
            <a:r>
              <a:rPr lang="en-US" sz="2400" dirty="0"/>
              <a:t> unordered </a:t>
            </a:r>
            <a:r>
              <a:rPr lang="en-US" sz="2400" dirty="0" err="1"/>
              <a:t>dimana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item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urutan</a:t>
            </a:r>
            <a:r>
              <a:rPr lang="en-US" sz="2400" dirty="0"/>
              <a:t> yang </a:t>
            </a:r>
            <a:r>
              <a:rPr lang="en-US" sz="2400" dirty="0" err="1"/>
              <a:t>ditentukan</a:t>
            </a:r>
            <a:r>
              <a:rPr lang="en-US" sz="2400" dirty="0"/>
              <a:t>, </a:t>
            </a:r>
            <a:r>
              <a:rPr lang="en-US" sz="2400" dirty="0" err="1"/>
              <a:t>setiap</a:t>
            </a:r>
            <a:r>
              <a:rPr lang="en-US" sz="2400" dirty="0"/>
              <a:t> item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muncul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urutan</a:t>
            </a:r>
            <a:r>
              <a:rPr lang="en-US" sz="2400" dirty="0"/>
              <a:t> yang </a:t>
            </a:r>
            <a:r>
              <a:rPr lang="en-US" sz="2400" dirty="0" err="1"/>
              <a:t>berbeda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87309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6231-2A6B-27CE-7A99-C55E124E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DB21-F280-F4BA-B546-353C1104E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400" dirty="0"/>
              <a:t>Set </a:t>
            </a:r>
            <a:r>
              <a:rPr lang="en-US" sz="2400" dirty="0" err="1"/>
              <a:t>bersifat</a:t>
            </a:r>
            <a:r>
              <a:rPr lang="en-US" sz="2400" dirty="0"/>
              <a:t> unordered, </a:t>
            </a:r>
            <a:r>
              <a:rPr lang="en-US" sz="2400" dirty="0" err="1"/>
              <a:t>jadi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item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selalu</a:t>
            </a:r>
            <a:r>
              <a:rPr lang="en-US" sz="2400" dirty="0"/>
              <a:t> </a:t>
            </a:r>
            <a:r>
              <a:rPr lang="en-US" sz="2400" dirty="0" err="1"/>
              <a:t>berurutan</a:t>
            </a:r>
            <a:r>
              <a:rPr lang="en-US" sz="2400" dirty="0"/>
              <a:t> </a:t>
            </a:r>
            <a:r>
              <a:rPr lang="en-US" sz="2400" dirty="0" err="1"/>
              <a:t>sesuai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saat</a:t>
            </a:r>
            <a:r>
              <a:rPr lang="en-US" sz="2400" dirty="0"/>
              <a:t> </a:t>
            </a:r>
            <a:r>
              <a:rPr lang="en-US" sz="2400" dirty="0" err="1"/>
              <a:t>pertama</a:t>
            </a:r>
            <a:r>
              <a:rPr lang="en-US" sz="2400" dirty="0"/>
              <a:t> </a:t>
            </a:r>
            <a:r>
              <a:rPr lang="en-US" sz="2400" dirty="0" err="1"/>
              <a:t>dibuat</a:t>
            </a:r>
            <a:endParaRPr lang="en-US" sz="2400" dirty="0"/>
          </a:p>
          <a:p>
            <a:pPr algn="just">
              <a:lnSpc>
                <a:spcPct val="110000"/>
              </a:lnSpc>
            </a:pPr>
            <a:endParaRPr lang="en-US" sz="2400" dirty="0"/>
          </a:p>
          <a:p>
            <a:pPr algn="just">
              <a:lnSpc>
                <a:spcPct val="110000"/>
              </a:lnSpc>
            </a:pPr>
            <a:endParaRPr lang="en-US" sz="2400" dirty="0"/>
          </a:p>
          <a:p>
            <a:pPr algn="just">
              <a:lnSpc>
                <a:spcPct val="110000"/>
              </a:lnSpc>
            </a:pPr>
            <a:endParaRPr lang="en-US" sz="2400" dirty="0"/>
          </a:p>
          <a:p>
            <a:pPr algn="just">
              <a:lnSpc>
                <a:spcPct val="110000"/>
              </a:lnSpc>
            </a:pPr>
            <a:r>
              <a:rPr lang="en-US" sz="2400" dirty="0"/>
              <a:t>Set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item </a:t>
            </a:r>
            <a:r>
              <a:rPr lang="en-US" sz="2400" dirty="0" err="1"/>
              <a:t>yg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endParaRPr lang="en-US" sz="2400" dirty="0"/>
          </a:p>
          <a:p>
            <a:pPr marL="0" indent="0" algn="just">
              <a:lnSpc>
                <a:spcPct val="110000"/>
              </a:lnSpc>
              <a:buNone/>
            </a:pPr>
            <a:endParaRPr lang="en-US" sz="24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A14DA5E-D58A-DFF2-368F-F46F452E2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407" y="2825750"/>
            <a:ext cx="8013700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4F0D8E9-8775-8B97-3767-72EED7C63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4956562"/>
            <a:ext cx="80010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2291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6231-2A6B-27CE-7A99-C55E124E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DB21-F280-F4BA-B546-353C1104E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melihat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item </a:t>
            </a:r>
            <a:r>
              <a:rPr lang="en-US" sz="2400" dirty="0" err="1"/>
              <a:t>dalam</a:t>
            </a:r>
            <a:r>
              <a:rPr lang="en-US" sz="2400" dirty="0"/>
              <a:t> set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 err="1"/>
              <a:t>len</a:t>
            </a:r>
            <a:r>
              <a:rPr lang="en-US" sz="2400" dirty="0"/>
              <a:t>()</a:t>
            </a:r>
          </a:p>
          <a:p>
            <a:pPr algn="just">
              <a:lnSpc>
                <a:spcPct val="100000"/>
              </a:lnSpc>
            </a:pPr>
            <a:endParaRPr lang="en-US" sz="2400" dirty="0"/>
          </a:p>
          <a:p>
            <a:pPr algn="just">
              <a:lnSpc>
                <a:spcPct val="100000"/>
              </a:lnSpc>
            </a:pPr>
            <a:endParaRPr lang="en-US" sz="2400" dirty="0"/>
          </a:p>
          <a:p>
            <a:pPr algn="just">
              <a:lnSpc>
                <a:spcPct val="100000"/>
              </a:lnSpc>
            </a:pPr>
            <a:endParaRPr lang="en-US" sz="2400" dirty="0"/>
          </a:p>
          <a:p>
            <a:pPr algn="just">
              <a:lnSpc>
                <a:spcPct val="100000"/>
              </a:lnSpc>
            </a:pPr>
            <a:r>
              <a:rPr lang="en-US" sz="2400" dirty="0"/>
              <a:t>Set juga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terdiri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tipe</a:t>
            </a:r>
            <a:r>
              <a:rPr lang="en-US" sz="2400" dirty="0"/>
              <a:t> data yang </a:t>
            </a:r>
            <a:r>
              <a:rPr lang="en-US" sz="2400" dirty="0" err="1"/>
              <a:t>berbeda</a:t>
            </a:r>
            <a:endParaRPr lang="en-US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F0EFEDD-C050-5802-E323-4289DB445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200" y="2457627"/>
            <a:ext cx="7975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A6A9AF2-3A1C-AC61-0687-FFA2CC55E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200" y="4727445"/>
            <a:ext cx="7950200" cy="123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246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6231-2A6B-27CE-7A99-C55E124E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DB21-F280-F4BA-B546-353C1104E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Karena set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index,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mengakses</a:t>
            </a:r>
            <a:r>
              <a:rPr lang="en-US" sz="2400" dirty="0"/>
              <a:t> item </a:t>
            </a:r>
            <a:r>
              <a:rPr lang="en-US" sz="2400" dirty="0" err="1"/>
              <a:t>dalam</a:t>
            </a:r>
            <a:r>
              <a:rPr lang="en-US" sz="2400" dirty="0"/>
              <a:t> set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loop </a:t>
            </a:r>
            <a:r>
              <a:rPr lang="en-US" sz="2400" dirty="0" err="1"/>
              <a:t>atau</a:t>
            </a:r>
            <a:r>
              <a:rPr lang="en-US" sz="2400" dirty="0"/>
              <a:t> if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26734A5-E762-EDFA-7927-9899A229F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922" y="2799754"/>
            <a:ext cx="6014156" cy="1539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91903549-0E7B-3C09-DB6A-5786BC5A2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922" y="4865284"/>
            <a:ext cx="6653596" cy="1311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4072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6231-2A6B-27CE-7A99-C55E124E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DB21-F280-F4BA-B546-353C1104E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 err="1"/>
              <a:t>Setelah</a:t>
            </a:r>
            <a:r>
              <a:rPr lang="en-US" sz="2000" dirty="0"/>
              <a:t> set </a:t>
            </a:r>
            <a:r>
              <a:rPr lang="en-US" sz="2000" dirty="0" err="1"/>
              <a:t>dibuat</a:t>
            </a:r>
            <a:r>
              <a:rPr lang="en-US" sz="2000" dirty="0"/>
              <a:t>, item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diganti</a:t>
            </a:r>
            <a:r>
              <a:rPr lang="en-US" sz="2000" dirty="0"/>
              <a:t> </a:t>
            </a:r>
            <a:r>
              <a:rPr lang="en-US" sz="2000" dirty="0" err="1"/>
              <a:t>tetapi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ditambah</a:t>
            </a:r>
            <a:r>
              <a:rPr lang="en-US" sz="2000" dirty="0"/>
              <a:t> dan </a:t>
            </a:r>
            <a:r>
              <a:rPr lang="en-US" sz="2000" dirty="0" err="1"/>
              <a:t>dihapus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 err="1"/>
              <a:t>Menambah</a:t>
            </a:r>
            <a:r>
              <a:rPr lang="en-US" sz="2000" dirty="0"/>
              <a:t> item di set </a:t>
            </a:r>
            <a:r>
              <a:rPr lang="en-US" sz="2000" dirty="0" err="1"/>
              <a:t>menggunakan</a:t>
            </a:r>
            <a:r>
              <a:rPr lang="en-US" sz="2000" dirty="0"/>
              <a:t> add() method</a:t>
            </a:r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 err="1"/>
              <a:t>Menambah</a:t>
            </a:r>
            <a:r>
              <a:rPr lang="en-US" sz="2000" dirty="0"/>
              <a:t> item di set </a:t>
            </a:r>
            <a:r>
              <a:rPr lang="en-US" sz="2000" dirty="0" err="1"/>
              <a:t>dari</a:t>
            </a:r>
            <a:r>
              <a:rPr lang="en-US" sz="2000" dirty="0"/>
              <a:t> set </a:t>
            </a:r>
            <a:r>
              <a:rPr lang="en-US" sz="2000" dirty="0" err="1"/>
              <a:t>lainnya</a:t>
            </a:r>
            <a:endParaRPr lang="en-US" sz="20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8D489B4-6092-CADD-2A37-F40B5E115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816" y="2854189"/>
            <a:ext cx="6594642" cy="1149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1227F42-99F2-97F5-70EF-3135734D9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816" y="4633313"/>
            <a:ext cx="6594642" cy="154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11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6231-2A6B-27CE-7A99-C55E124E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DB21-F280-F4BA-B546-353C1104E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 err="1"/>
              <a:t>Menambahkan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buah</a:t>
            </a:r>
            <a:r>
              <a:rPr lang="en-US" sz="2000" dirty="0"/>
              <a:t> set </a:t>
            </a:r>
            <a:r>
              <a:rPr lang="en-US" sz="2000" dirty="0" err="1"/>
              <a:t>dengan</a:t>
            </a:r>
            <a:r>
              <a:rPr lang="en-US" sz="2000" dirty="0"/>
              <a:t> union() method</a:t>
            </a:r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 err="1"/>
              <a:t>Berbeda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update() </a:t>
            </a:r>
            <a:r>
              <a:rPr lang="en-US" sz="2000" dirty="0" err="1"/>
              <a:t>bila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union(), </a:t>
            </a:r>
            <a:r>
              <a:rPr lang="en-US" sz="2000" dirty="0" err="1"/>
              <a:t>dipelukan</a:t>
            </a:r>
            <a:r>
              <a:rPr lang="en-US" sz="2000" dirty="0"/>
              <a:t> </a:t>
            </a:r>
            <a:r>
              <a:rPr lang="en-US" sz="2000" dirty="0" err="1"/>
              <a:t>deklarasi</a:t>
            </a:r>
            <a:r>
              <a:rPr lang="en-US" sz="2000" dirty="0"/>
              <a:t> set </a:t>
            </a:r>
            <a:r>
              <a:rPr lang="en-US" sz="2000" dirty="0" err="1"/>
              <a:t>baru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menyimpan</a:t>
            </a:r>
            <a:r>
              <a:rPr lang="en-US" sz="2000" dirty="0"/>
              <a:t> </a:t>
            </a:r>
            <a:r>
              <a:rPr lang="en-US" sz="2000" dirty="0" err="1"/>
              <a:t>kedua</a:t>
            </a:r>
            <a:r>
              <a:rPr lang="en-US" sz="2000" dirty="0"/>
              <a:t> set yang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ditambahkan</a:t>
            </a: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 err="1"/>
              <a:t>Baik</a:t>
            </a:r>
            <a:r>
              <a:rPr lang="en-US" sz="2000" dirty="0"/>
              <a:t> union() </a:t>
            </a:r>
            <a:r>
              <a:rPr lang="en-US" sz="2000" dirty="0" err="1"/>
              <a:t>maupun</a:t>
            </a:r>
            <a:r>
              <a:rPr lang="en-US" sz="2000" dirty="0"/>
              <a:t> update()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menyimpan</a:t>
            </a:r>
            <a:r>
              <a:rPr lang="en-US" sz="2000" dirty="0"/>
              <a:t> item yang </a:t>
            </a:r>
            <a:r>
              <a:rPr lang="en-US" sz="2000" dirty="0" err="1"/>
              <a:t>sama</a:t>
            </a:r>
            <a:endParaRPr lang="en-US" sz="20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9E3E27D-E11F-BB34-118C-3C9502134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563" y="2232435"/>
            <a:ext cx="7401426" cy="168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347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6231-2A6B-27CE-7A99-C55E124E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DB21-F280-F4BA-B546-353C1104E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 err="1"/>
              <a:t>Hanya</a:t>
            </a:r>
            <a:r>
              <a:rPr lang="en-US" sz="2000" dirty="0"/>
              <a:t> </a:t>
            </a:r>
            <a:r>
              <a:rPr lang="en-US" sz="2000" dirty="0" err="1"/>
              <a:t>menyimpan</a:t>
            </a:r>
            <a:r>
              <a:rPr lang="en-US" sz="2000" dirty="0"/>
              <a:t> item yang </a:t>
            </a:r>
            <a:r>
              <a:rPr lang="en-US" sz="2000" dirty="0" err="1"/>
              <a:t>sama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buah</a:t>
            </a:r>
            <a:r>
              <a:rPr lang="en-US" sz="2000" dirty="0"/>
              <a:t> set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metode</a:t>
            </a:r>
            <a:r>
              <a:rPr lang="en-US" sz="2000" dirty="0"/>
              <a:t> </a:t>
            </a:r>
            <a:r>
              <a:rPr lang="en-US" sz="2000" dirty="0" err="1"/>
              <a:t>intersection_update</a:t>
            </a:r>
            <a:r>
              <a:rPr lang="en-US" sz="2000" dirty="0"/>
              <a:t>()</a:t>
            </a:r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 err="1"/>
              <a:t>Hanya</a:t>
            </a:r>
            <a:r>
              <a:rPr lang="en-US" sz="2000" dirty="0"/>
              <a:t> </a:t>
            </a:r>
            <a:r>
              <a:rPr lang="en-US" sz="2000" dirty="0" err="1"/>
              <a:t>menyimpan</a:t>
            </a:r>
            <a:r>
              <a:rPr lang="en-US" sz="2000" dirty="0"/>
              <a:t> item yang </a:t>
            </a:r>
            <a:r>
              <a:rPr lang="en-US" sz="2000" dirty="0" err="1"/>
              <a:t>sama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buah</a:t>
            </a:r>
            <a:r>
              <a:rPr lang="en-US" sz="2000" dirty="0"/>
              <a:t> set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metode</a:t>
            </a:r>
            <a:r>
              <a:rPr lang="en-US" sz="2000" dirty="0"/>
              <a:t> intersection() (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disimpan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set yang </a:t>
            </a:r>
            <a:r>
              <a:rPr lang="en-US" sz="2000" dirty="0" err="1"/>
              <a:t>baru</a:t>
            </a:r>
            <a:r>
              <a:rPr lang="en-US" sz="2000" dirty="0"/>
              <a:t>)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42DE3C3-AA3F-E4B0-3200-2077705A3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370" y="2233606"/>
            <a:ext cx="6186905" cy="14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DB76CAEE-1FCF-F1D6-628D-5E9B291AE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370" y="4519589"/>
            <a:ext cx="6043195" cy="1363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956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6231-2A6B-27CE-7A99-C55E124E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DB21-F280-F4BA-B546-353C1104E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 err="1"/>
              <a:t>Hanya</a:t>
            </a:r>
            <a:r>
              <a:rPr lang="en-US" sz="2000" dirty="0"/>
              <a:t> </a:t>
            </a:r>
            <a:r>
              <a:rPr lang="en-US" sz="2000" dirty="0" err="1"/>
              <a:t>menyimpan</a:t>
            </a:r>
            <a:r>
              <a:rPr lang="en-US" sz="2000" dirty="0"/>
              <a:t> item yang </a:t>
            </a:r>
            <a:r>
              <a:rPr lang="en-US" sz="2000" dirty="0" err="1"/>
              <a:t>berbeda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buah</a:t>
            </a:r>
            <a:r>
              <a:rPr lang="en-US" sz="2000" dirty="0"/>
              <a:t> set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metode</a:t>
            </a:r>
            <a:r>
              <a:rPr lang="en-US" sz="2000" dirty="0"/>
              <a:t> </a:t>
            </a:r>
            <a:r>
              <a:rPr lang="en-US" sz="2000" dirty="0" err="1"/>
              <a:t>symmetric_difference_update</a:t>
            </a:r>
            <a:r>
              <a:rPr lang="en-US" sz="2000" dirty="0"/>
              <a:t>()</a:t>
            </a:r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 err="1"/>
              <a:t>Hanya</a:t>
            </a:r>
            <a:r>
              <a:rPr lang="en-US" sz="2000" dirty="0"/>
              <a:t> </a:t>
            </a:r>
            <a:r>
              <a:rPr lang="en-US" sz="2000" dirty="0" err="1"/>
              <a:t>menyimpan</a:t>
            </a:r>
            <a:r>
              <a:rPr lang="en-US" sz="2000" dirty="0"/>
              <a:t> item yang </a:t>
            </a:r>
            <a:r>
              <a:rPr lang="en-US" sz="2000" dirty="0" err="1"/>
              <a:t>berbeda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buah</a:t>
            </a:r>
            <a:r>
              <a:rPr lang="en-US" sz="2000" dirty="0"/>
              <a:t> set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metode</a:t>
            </a:r>
            <a:r>
              <a:rPr lang="en-US" sz="2000" dirty="0"/>
              <a:t> </a:t>
            </a:r>
            <a:r>
              <a:rPr lang="en-US" sz="2000" dirty="0" err="1"/>
              <a:t>symmetric_difference</a:t>
            </a:r>
            <a:r>
              <a:rPr lang="en-US" sz="2000" dirty="0"/>
              <a:t>() (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disimpan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set yang </a:t>
            </a:r>
            <a:r>
              <a:rPr lang="en-US" sz="2000" dirty="0" err="1"/>
              <a:t>baru</a:t>
            </a:r>
            <a:r>
              <a:rPr lang="en-US" sz="2000" dirty="0"/>
              <a:t>)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BF4110D-6D81-B0F9-F459-217450A80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823" y="2551918"/>
            <a:ext cx="5758781" cy="1327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C1BDAA0C-4471-3C00-43E5-A1F983327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823" y="4802826"/>
            <a:ext cx="6053890" cy="137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8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6231-2A6B-27CE-7A99-C55E124E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DB21-F280-F4BA-B546-353C1104E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 err="1"/>
              <a:t>Menambah</a:t>
            </a:r>
            <a:r>
              <a:rPr lang="en-US" sz="2400" dirty="0"/>
              <a:t> item di set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list</a:t>
            </a:r>
          </a:p>
          <a:p>
            <a:pPr algn="just">
              <a:lnSpc>
                <a:spcPct val="100000"/>
              </a:lnSpc>
            </a:pPr>
            <a:endParaRPr lang="en-US" sz="2400" dirty="0"/>
          </a:p>
          <a:p>
            <a:pPr algn="just">
              <a:lnSpc>
                <a:spcPct val="100000"/>
              </a:lnSpc>
            </a:pPr>
            <a:endParaRPr lang="en-US" sz="2400" dirty="0"/>
          </a:p>
          <a:p>
            <a:pPr algn="just">
              <a:lnSpc>
                <a:spcPct val="100000"/>
              </a:lnSpc>
            </a:pPr>
            <a:endParaRPr lang="en-US" sz="2400" dirty="0"/>
          </a:p>
          <a:p>
            <a:pPr algn="just">
              <a:lnSpc>
                <a:spcPct val="100000"/>
              </a:lnSpc>
            </a:pPr>
            <a:r>
              <a:rPr lang="en-US" sz="2400" dirty="0" err="1"/>
              <a:t>Menambah</a:t>
            </a:r>
            <a:r>
              <a:rPr lang="en-US" sz="2400" dirty="0"/>
              <a:t> item di set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tuple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DC94A9A-04F4-0B5F-B117-0D8CAFAEC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910" y="2426927"/>
            <a:ext cx="5969668" cy="13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6C8E35C0-CFBA-EA60-2124-BBB31F38A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910" y="4570411"/>
            <a:ext cx="6300871" cy="1447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0208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6231-2A6B-27CE-7A99-C55E124E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DB21-F280-F4BA-B546-353C1104E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 err="1"/>
              <a:t>Menghapus</a:t>
            </a:r>
            <a:r>
              <a:rPr lang="en-US" sz="2000" dirty="0"/>
              <a:t> item paling </a:t>
            </a:r>
            <a:r>
              <a:rPr lang="en-US" sz="2000" dirty="0" err="1"/>
              <a:t>terakhir</a:t>
            </a:r>
            <a:r>
              <a:rPr lang="en-US" sz="2000" dirty="0"/>
              <a:t> di set </a:t>
            </a:r>
            <a:r>
              <a:rPr lang="en-US" sz="2000" dirty="0" err="1"/>
              <a:t>dengan</a:t>
            </a:r>
            <a:r>
              <a:rPr lang="en-US" sz="2000" dirty="0"/>
              <a:t> pop() method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/>
              <a:t>Karena </a:t>
            </a:r>
            <a:r>
              <a:rPr lang="en-US" sz="2000" dirty="0" err="1"/>
              <a:t>sifat</a:t>
            </a:r>
            <a:r>
              <a:rPr lang="en-US" sz="2000" dirty="0"/>
              <a:t> set </a:t>
            </a:r>
            <a:r>
              <a:rPr lang="en-US" sz="2000" dirty="0" err="1"/>
              <a:t>adalah</a:t>
            </a:r>
            <a:r>
              <a:rPr lang="en-US" sz="2000" dirty="0"/>
              <a:t> unordered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tahu</a:t>
            </a:r>
            <a:r>
              <a:rPr lang="en-US" sz="2000" dirty="0"/>
              <a:t> item mana yang </a:t>
            </a:r>
            <a:r>
              <a:rPr lang="en-US" sz="2000" dirty="0" err="1"/>
              <a:t>terhapus</a:t>
            </a:r>
            <a:r>
              <a:rPr lang="en-US" sz="2000" dirty="0"/>
              <a:t> </a:t>
            </a:r>
            <a:r>
              <a:rPr lang="en-US" sz="2000" dirty="0" err="1"/>
              <a:t>apabila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metode</a:t>
            </a:r>
            <a:r>
              <a:rPr lang="en-US" sz="2000" dirty="0"/>
              <a:t> pop()</a:t>
            </a:r>
          </a:p>
          <a:p>
            <a:pPr algn="just">
              <a:lnSpc>
                <a:spcPct val="100000"/>
              </a:lnSpc>
            </a:pPr>
            <a:r>
              <a:rPr lang="en-US" sz="2000" dirty="0" err="1"/>
              <a:t>Menghapus</a:t>
            </a:r>
            <a:r>
              <a:rPr lang="en-US" sz="2000" dirty="0"/>
              <a:t> </a:t>
            </a:r>
            <a:r>
              <a:rPr lang="en-US" sz="2000" dirty="0" err="1"/>
              <a:t>seluruh</a:t>
            </a:r>
            <a:r>
              <a:rPr lang="en-US" sz="2000" dirty="0"/>
              <a:t> item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segaligus</a:t>
            </a:r>
            <a:r>
              <a:rPr lang="en-US" sz="2000" dirty="0"/>
              <a:t> pada set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C74117F-6B94-5E7B-F701-51B95D429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578" y="2248635"/>
            <a:ext cx="6541503" cy="129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AB10AA2D-26A2-AED0-BB7B-8708A3C74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428" y="5003787"/>
            <a:ext cx="5999413" cy="1173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2211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49E6-5EF1-7535-7ED9-8B91BE295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07171-70C4-7032-8708-853F867DE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1. </a:t>
            </a:r>
            <a:r>
              <a:rPr lang="en-US" dirty="0" err="1"/>
              <a:t>Manakah</a:t>
            </a:r>
            <a:r>
              <a:rPr lang="en-US" dirty="0"/>
              <a:t> </a:t>
            </a:r>
            <a:r>
              <a:rPr lang="en-US" dirty="0" err="1"/>
              <a:t>diantara</a:t>
            </a:r>
            <a:r>
              <a:rPr lang="en-US" dirty="0"/>
              <a:t> </a:t>
            </a:r>
            <a:r>
              <a:rPr lang="en-US" dirty="0" err="1"/>
              <a:t>pilihan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yang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sifat</a:t>
            </a:r>
            <a:r>
              <a:rPr lang="en-US" dirty="0"/>
              <a:t> Set di Python?</a:t>
            </a:r>
          </a:p>
          <a:p>
            <a:pPr marL="1030288" indent="-503238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Mutable</a:t>
            </a:r>
          </a:p>
          <a:p>
            <a:pPr marL="1030288" indent="-503238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Allows Duplicate</a:t>
            </a:r>
          </a:p>
          <a:p>
            <a:pPr marL="1030288" indent="-503238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Ordered</a:t>
            </a:r>
          </a:p>
          <a:p>
            <a:pPr marL="1030288" indent="-503238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Different data types not allowed</a:t>
            </a:r>
          </a:p>
          <a:p>
            <a:pPr marL="1030288" indent="-503238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Unindexed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2.Manakah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set </a:t>
            </a:r>
            <a:r>
              <a:rPr lang="en-US" dirty="0" err="1"/>
              <a:t>hanya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variable </a:t>
            </a:r>
            <a:r>
              <a:rPr lang="en-US" dirty="0" err="1"/>
              <a:t>baru</a:t>
            </a:r>
            <a:r>
              <a:rPr lang="en-US" dirty="0"/>
              <a:t>?</a:t>
            </a:r>
          </a:p>
          <a:p>
            <a:pPr marL="1030288" indent="-503238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union()</a:t>
            </a:r>
          </a:p>
          <a:p>
            <a:pPr marL="1030288" indent="-503238">
              <a:lnSpc>
                <a:spcPct val="120000"/>
              </a:lnSpc>
              <a:buFont typeface="+mj-lt"/>
              <a:buAutoNum type="alphaLcPeriod"/>
            </a:pPr>
            <a:r>
              <a:rPr lang="en-US" dirty="0" err="1"/>
              <a:t>intersection_update</a:t>
            </a:r>
            <a:r>
              <a:rPr lang="en-US" dirty="0"/>
              <a:t>()</a:t>
            </a:r>
          </a:p>
          <a:p>
            <a:pPr marL="1030288" indent="-503238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Intersection()</a:t>
            </a:r>
          </a:p>
          <a:p>
            <a:pPr marL="1030288" indent="-503238">
              <a:lnSpc>
                <a:spcPct val="120000"/>
              </a:lnSpc>
              <a:buFont typeface="+mj-lt"/>
              <a:buAutoNum type="alphaLcPeriod"/>
            </a:pPr>
            <a:r>
              <a:rPr lang="en-US" dirty="0" err="1"/>
              <a:t>symmetric_difference_update</a:t>
            </a:r>
            <a:r>
              <a:rPr lang="en-US" dirty="0"/>
              <a:t>()</a:t>
            </a:r>
          </a:p>
          <a:p>
            <a:pPr marL="1030288" indent="-503238">
              <a:lnSpc>
                <a:spcPct val="120000"/>
              </a:lnSpc>
              <a:buFont typeface="+mj-lt"/>
              <a:buAutoNum type="alphaLcPeriod"/>
            </a:pPr>
            <a:r>
              <a:rPr lang="en-US" dirty="0" err="1"/>
              <a:t>symmetric_difference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850303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3D13E5-315D-77AA-3E5B-BC1F88A57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A02D7C-AACE-4322-313C-DF66C820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Dictionary</a:t>
            </a:r>
          </a:p>
        </p:txBody>
      </p:sp>
    </p:spTree>
    <p:extLst>
      <p:ext uri="{BB962C8B-B14F-4D97-AF65-F5344CB8AC3E}">
        <p14:creationId xmlns:p14="http://schemas.microsoft.com/office/powerpoint/2010/main" val="1747011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DFDF-39CC-4904-FAF4-0DB0AAA22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4E70-9F9B-AAA0-5B1F-B9BA6251A1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20000"/>
              </a:lnSpc>
            </a:pPr>
            <a:r>
              <a:rPr lang="en-US" sz="2400" dirty="0"/>
              <a:t>Dictionary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menyimpan</a:t>
            </a:r>
            <a:r>
              <a:rPr lang="en-US" sz="2400" dirty="0"/>
              <a:t> data </a:t>
            </a:r>
            <a:r>
              <a:rPr lang="en-US" sz="2400" dirty="0" err="1"/>
              <a:t>dengan</a:t>
            </a:r>
            <a:r>
              <a:rPr lang="en-US" sz="2400" dirty="0"/>
              <a:t> format key: value</a:t>
            </a:r>
          </a:p>
          <a:p>
            <a:pPr algn="just">
              <a:lnSpc>
                <a:spcPct val="120000"/>
              </a:lnSpc>
            </a:pPr>
            <a:r>
              <a:rPr lang="en-US" sz="2400" dirty="0" err="1"/>
              <a:t>Bersifat</a:t>
            </a:r>
            <a:r>
              <a:rPr lang="en-US" sz="2400" dirty="0"/>
              <a:t> ordered, changeable, dan do not allow duplicated</a:t>
            </a:r>
          </a:p>
          <a:p>
            <a:pPr algn="just">
              <a:lnSpc>
                <a:spcPct val="120000"/>
              </a:lnSpc>
            </a:pP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pembuatan</a:t>
            </a:r>
            <a:r>
              <a:rPr lang="en-US" sz="2400" dirty="0"/>
              <a:t> dictionary </a:t>
            </a:r>
            <a:r>
              <a:rPr lang="en-US" sz="2400" dirty="0" err="1"/>
              <a:t>diawali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kurung</a:t>
            </a:r>
            <a:r>
              <a:rPr lang="en-US" sz="2400" dirty="0"/>
              <a:t> </a:t>
            </a:r>
            <a:r>
              <a:rPr lang="en-US" sz="2400" dirty="0" err="1"/>
              <a:t>kurawal</a:t>
            </a:r>
            <a:r>
              <a:rPr lang="en-US" sz="2400" dirty="0"/>
              <a:t> dan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keys dan values</a:t>
            </a:r>
          </a:p>
          <a:p>
            <a:pPr algn="just">
              <a:lnSpc>
                <a:spcPct val="120000"/>
              </a:lnSpc>
            </a:pPr>
            <a:r>
              <a:rPr lang="en-US" sz="2400" dirty="0"/>
              <a:t>Karena </a:t>
            </a:r>
            <a:r>
              <a:rPr lang="en-US" sz="2400" dirty="0" err="1"/>
              <a:t>bersifat</a:t>
            </a:r>
            <a:r>
              <a:rPr lang="en-US" sz="2400" dirty="0"/>
              <a:t> ordered (</a:t>
            </a:r>
            <a:r>
              <a:rPr lang="en-US" sz="2400" dirty="0" err="1"/>
              <a:t>setelah</a:t>
            </a:r>
            <a:r>
              <a:rPr lang="en-US" sz="2400" dirty="0"/>
              <a:t> Python </a:t>
            </a:r>
            <a:r>
              <a:rPr lang="en-US" sz="2400" dirty="0" err="1"/>
              <a:t>versi</a:t>
            </a:r>
            <a:r>
              <a:rPr lang="en-US" sz="2400" dirty="0"/>
              <a:t> 3.6)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keys dan values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berurutan</a:t>
            </a:r>
            <a:endParaRPr lang="en-US" sz="2400" dirty="0"/>
          </a:p>
          <a:p>
            <a:pPr algn="just">
              <a:lnSpc>
                <a:spcPct val="120000"/>
              </a:lnSpc>
            </a:pPr>
            <a:endParaRPr lang="en-US" sz="2400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9B19C99D-0EF7-A4D6-67B7-2550C1EB74F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172200" y="3455436"/>
            <a:ext cx="5181600" cy="1723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226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DFDF-39CC-4904-FAF4-0DB0AAA22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4E70-9F9B-AAA0-5B1F-B9BA6251A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/>
              <a:t>Karena </a:t>
            </a:r>
            <a:r>
              <a:rPr lang="en-US" sz="2400" dirty="0" err="1"/>
              <a:t>bersifat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duplikat</a:t>
            </a:r>
            <a:r>
              <a:rPr lang="en-US" sz="2400" dirty="0"/>
              <a:t> data, </a:t>
            </a:r>
            <a:r>
              <a:rPr lang="en-US" sz="2400" dirty="0" err="1"/>
              <a:t>maka</a:t>
            </a:r>
            <a:r>
              <a:rPr lang="en-US" sz="2400" dirty="0"/>
              <a:t> yang </a:t>
            </a:r>
            <a:r>
              <a:rPr lang="en-US" sz="2400" dirty="0" err="1"/>
              <a:t>disimpan</a:t>
            </a:r>
            <a:r>
              <a:rPr lang="en-US" sz="2400" dirty="0"/>
              <a:t> </a:t>
            </a:r>
            <a:r>
              <a:rPr lang="en-US" sz="2400" dirty="0" err="1"/>
              <a:t>hanya</a:t>
            </a:r>
            <a:r>
              <a:rPr lang="en-US" sz="2400" dirty="0"/>
              <a:t> value </a:t>
            </a:r>
            <a:r>
              <a:rPr lang="en-US" sz="2400" dirty="0" err="1"/>
              <a:t>terakhir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seluruh</a:t>
            </a:r>
            <a:r>
              <a:rPr lang="en-US" sz="2400" dirty="0"/>
              <a:t> key yang </a:t>
            </a:r>
            <a:r>
              <a:rPr lang="en-US" sz="2400" dirty="0" err="1"/>
              <a:t>sama</a:t>
            </a:r>
            <a:r>
              <a:rPr lang="en-US" sz="2400" dirty="0"/>
              <a:t>. </a:t>
            </a:r>
            <a:r>
              <a:rPr lang="en-US" sz="2400" dirty="0" err="1"/>
              <a:t>Namun</a:t>
            </a:r>
            <a:r>
              <a:rPr lang="en-US" sz="2400" dirty="0"/>
              <a:t>, values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data yang </a:t>
            </a:r>
            <a:r>
              <a:rPr lang="en-US" sz="2400" dirty="0" err="1"/>
              <a:t>sama</a:t>
            </a:r>
            <a:endParaRPr lang="en-US" sz="2400" dirty="0"/>
          </a:p>
          <a:p>
            <a:pPr marL="0" indent="0" algn="just">
              <a:lnSpc>
                <a:spcPct val="100000"/>
              </a:lnSpc>
              <a:buNone/>
            </a:pPr>
            <a:endParaRPr lang="en-US" sz="2400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BEF53E5-E312-2E4B-966E-D25905FAC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270" y="2971182"/>
            <a:ext cx="7131050" cy="2746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6171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DFDF-39CC-4904-FAF4-0DB0AAA22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4E70-9F9B-AAA0-5B1F-B9BA6251A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mengecek</a:t>
            </a:r>
            <a:r>
              <a:rPr lang="en-US" sz="2000" dirty="0"/>
              <a:t> </a:t>
            </a:r>
            <a:r>
              <a:rPr lang="en-US" sz="2000" dirty="0" err="1"/>
              <a:t>jumlah</a:t>
            </a:r>
            <a:r>
              <a:rPr lang="en-US" sz="2000" dirty="0"/>
              <a:t> items </a:t>
            </a:r>
            <a:r>
              <a:rPr lang="en-US" sz="2000" dirty="0" err="1"/>
              <a:t>dalam</a:t>
            </a:r>
            <a:r>
              <a:rPr lang="en-US" sz="2000" dirty="0"/>
              <a:t> dictionary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method </a:t>
            </a:r>
            <a:r>
              <a:rPr lang="en-US" sz="2000" dirty="0" err="1"/>
              <a:t>len</a:t>
            </a:r>
            <a:r>
              <a:rPr lang="en-US" sz="2000" dirty="0"/>
              <a:t>()</a:t>
            </a:r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 err="1"/>
              <a:t>Membuat</a:t>
            </a:r>
            <a:r>
              <a:rPr lang="en-US" sz="2000" dirty="0"/>
              <a:t> dictionary </a:t>
            </a:r>
            <a:r>
              <a:rPr lang="en-US" sz="2000" dirty="0" err="1"/>
              <a:t>baru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method </a:t>
            </a:r>
            <a:r>
              <a:rPr lang="en-US" sz="2000" dirty="0" err="1"/>
              <a:t>dict</a:t>
            </a:r>
            <a:r>
              <a:rPr lang="en-US" sz="2000" dirty="0"/>
              <a:t>()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7F5054F5-2F56-6096-0D74-3B74AA69C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205" y="2319978"/>
            <a:ext cx="5939255" cy="179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EBFB779C-3E14-12E2-C3A1-1996F5687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205" y="4858172"/>
            <a:ext cx="6407818" cy="940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4105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DFDF-39CC-4904-FAF4-0DB0AAA22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4E70-9F9B-AAA0-5B1F-B9BA6251A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 err="1"/>
              <a:t>Mengakses</a:t>
            </a:r>
            <a:r>
              <a:rPr lang="en-US" sz="2400" dirty="0"/>
              <a:t> item di dictionary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nama</a:t>
            </a:r>
            <a:r>
              <a:rPr lang="en-US" sz="2400" dirty="0"/>
              <a:t> key</a:t>
            </a:r>
          </a:p>
          <a:p>
            <a:pPr algn="just">
              <a:lnSpc>
                <a:spcPct val="100000"/>
              </a:lnSpc>
            </a:pPr>
            <a:endParaRPr lang="en-US" sz="2400" dirty="0"/>
          </a:p>
          <a:p>
            <a:pPr algn="just">
              <a:lnSpc>
                <a:spcPct val="100000"/>
              </a:lnSpc>
            </a:pPr>
            <a:endParaRPr lang="en-US" sz="2400" dirty="0"/>
          </a:p>
          <a:p>
            <a:pPr algn="just">
              <a:lnSpc>
                <a:spcPct val="100000"/>
              </a:lnSpc>
            </a:pPr>
            <a:endParaRPr lang="en-US" sz="2400" dirty="0"/>
          </a:p>
          <a:p>
            <a:pPr algn="just">
              <a:lnSpc>
                <a:spcPct val="100000"/>
              </a:lnSpc>
            </a:pPr>
            <a:r>
              <a:rPr lang="en-US" sz="2400" dirty="0" err="1"/>
              <a:t>Mengakses</a:t>
            </a:r>
            <a:r>
              <a:rPr lang="en-US" sz="2400" dirty="0"/>
              <a:t> item di dictionary </a:t>
            </a:r>
            <a:r>
              <a:rPr lang="en-US" sz="2400" dirty="0" err="1"/>
              <a:t>dengan</a:t>
            </a:r>
            <a:r>
              <a:rPr lang="en-US" sz="2400" dirty="0"/>
              <a:t> method get()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25DFEC75-DE03-56FB-27B8-6205D39E3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784" y="2293455"/>
            <a:ext cx="5029323" cy="153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5" name="Picture 3">
            <a:extLst>
              <a:ext uri="{FF2B5EF4-FFF2-40B4-BE49-F238E27FC236}">
                <a16:creationId xmlns:a16="http://schemas.microsoft.com/office/drawing/2014/main" id="{BDFB222D-F1DA-43F5-A119-FDCB94945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292" y="4453487"/>
            <a:ext cx="6315074" cy="1930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643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DFDF-39CC-4904-FAF4-0DB0AAA22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4E70-9F9B-AAA0-5B1F-B9BA6251A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 err="1"/>
              <a:t>Mengambil</a:t>
            </a:r>
            <a:r>
              <a:rPr lang="en-US" sz="2000" dirty="0"/>
              <a:t> </a:t>
            </a:r>
            <a:r>
              <a:rPr lang="en-US" sz="2000" dirty="0" err="1"/>
              <a:t>seluruh</a:t>
            </a:r>
            <a:r>
              <a:rPr lang="en-US" sz="2000" dirty="0"/>
              <a:t> keys </a:t>
            </a:r>
            <a:r>
              <a:rPr lang="en-US" sz="2000" dirty="0" err="1"/>
              <a:t>dari</a:t>
            </a:r>
            <a:r>
              <a:rPr lang="en-US" sz="2000" dirty="0"/>
              <a:t> dictionary</a:t>
            </a:r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 err="1"/>
              <a:t>Mengambil</a:t>
            </a:r>
            <a:r>
              <a:rPr lang="en-US" sz="2000" dirty="0"/>
              <a:t> </a:t>
            </a:r>
            <a:r>
              <a:rPr lang="en-US" sz="2000" dirty="0" err="1"/>
              <a:t>seluruh</a:t>
            </a:r>
            <a:r>
              <a:rPr lang="en-US" sz="2000" dirty="0"/>
              <a:t> values </a:t>
            </a:r>
            <a:r>
              <a:rPr lang="en-US" sz="2000" dirty="0" err="1"/>
              <a:t>dari</a:t>
            </a:r>
            <a:r>
              <a:rPr lang="en-US" sz="2000" dirty="0"/>
              <a:t> dictionary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EB97EC21-58F6-1B78-4EB9-1DBC45DFE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318" y="2383600"/>
            <a:ext cx="4633495" cy="1419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9" name="Picture 3">
            <a:extLst>
              <a:ext uri="{FF2B5EF4-FFF2-40B4-BE49-F238E27FC236}">
                <a16:creationId xmlns:a16="http://schemas.microsoft.com/office/drawing/2014/main" id="{35209999-6CAF-775D-5231-9D8AFD918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586" y="4509930"/>
            <a:ext cx="6472822" cy="198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475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DFDF-39CC-4904-FAF4-0DB0AAA22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4E70-9F9B-AAA0-5B1F-B9BA6251A1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Update values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keys dan </a:t>
            </a:r>
            <a:r>
              <a:rPr lang="en-US" dirty="0" err="1"/>
              <a:t>menambahkan</a:t>
            </a:r>
            <a:r>
              <a:rPr lang="en-US" dirty="0"/>
              <a:t> key di dictionary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A02EE6-FA75-8E7E-9E2E-96521A185E4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172200" y="2606508"/>
            <a:ext cx="5181600" cy="342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88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DFDF-39CC-4904-FAF4-0DB0AAA22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4E70-9F9B-AAA0-5B1F-B9BA6251A1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Update values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keys dan </a:t>
            </a:r>
            <a:r>
              <a:rPr lang="en-US" dirty="0" err="1"/>
              <a:t>menambah</a:t>
            </a:r>
            <a:r>
              <a:rPr lang="en-US" dirty="0"/>
              <a:t> item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method update()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4A3A8C65-3553-FE9C-8793-21BC8DA0617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172200" y="3013556"/>
            <a:ext cx="5181600" cy="260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067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DFDF-39CC-4904-FAF4-0DB0AAA22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4E70-9F9B-AAA0-5B1F-B9BA6251A1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Mengubah</a:t>
            </a:r>
            <a:r>
              <a:rPr lang="en-US" dirty="0"/>
              <a:t> item pada dictionary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tuple </a:t>
            </a:r>
            <a:r>
              <a:rPr lang="en-US" dirty="0" err="1"/>
              <a:t>dalam</a:t>
            </a:r>
            <a:r>
              <a:rPr lang="en-US" dirty="0"/>
              <a:t> list </a:t>
            </a:r>
            <a:r>
              <a:rPr lang="en-US" dirty="0" err="1"/>
              <a:t>menggunakan</a:t>
            </a:r>
            <a:r>
              <a:rPr lang="en-US" dirty="0"/>
              <a:t> method items() dan </a:t>
            </a:r>
            <a:r>
              <a:rPr lang="en-US" dirty="0" err="1"/>
              <a:t>mengecek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key </a:t>
            </a:r>
            <a:r>
              <a:rPr lang="en-US" dirty="0" err="1"/>
              <a:t>dalam</a:t>
            </a:r>
            <a:r>
              <a:rPr lang="en-US" dirty="0"/>
              <a:t> dictionary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C9ED8B26-B347-C1AE-1357-46AABBD2089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172200" y="3090274"/>
            <a:ext cx="5181600" cy="2453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752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DFDF-39CC-4904-FAF4-0DB0AAA22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4E70-9F9B-AAA0-5B1F-B9BA6251A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Menghapus</a:t>
            </a:r>
            <a:r>
              <a:rPr lang="en-US" dirty="0"/>
              <a:t> item pada dictionary pada key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pop()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F63B5A7F-FB62-078A-9643-C4104A085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944" y="3113048"/>
            <a:ext cx="80010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67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73766-FC1D-F920-0B42-DF83EE041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A5C92-8B90-7D15-FA6D-C9E4032D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D" b="1" i="0" u="none" strike="noStrike" dirty="0" err="1">
                <a:solidFill>
                  <a:srgbClr val="000000"/>
                </a:solidFill>
                <a:effectLst/>
              </a:rPr>
              <a:t>Studi</a:t>
            </a:r>
            <a:r>
              <a:rPr lang="en-ID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b="1" i="0" u="none" strike="noStrike" dirty="0" err="1">
                <a:solidFill>
                  <a:srgbClr val="000000"/>
                </a:solidFill>
                <a:effectLst/>
              </a:rPr>
              <a:t>Kasus</a:t>
            </a:r>
            <a:r>
              <a:rPr lang="en-ID" b="1" i="0" u="none" strike="noStrike" dirty="0">
                <a:solidFill>
                  <a:srgbClr val="000000"/>
                </a:solidFill>
                <a:effectLst/>
              </a:rPr>
              <a:t>: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 Anda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diberikan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daftar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angka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yang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mungkin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mengandung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duplikasi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.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Tugas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Anda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adalah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menghapus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semua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duplikasi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dan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mengembalikan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daftar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angka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yang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hanya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berisi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elemen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unik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ID" b="1" i="0" u="none" strike="noStrike" dirty="0">
                <a:solidFill>
                  <a:srgbClr val="000000"/>
                </a:solidFill>
                <a:effectLst/>
              </a:rPr>
              <a:t>Input:</a:t>
            </a:r>
            <a:endParaRPr lang="en-ID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numbers = [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10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20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20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30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40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50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50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60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]</a:t>
            </a:r>
          </a:p>
          <a:p>
            <a:r>
              <a:rPr lang="en-ID" b="1" dirty="0">
                <a:solidFill>
                  <a:srgbClr val="000000"/>
                </a:solidFill>
                <a:latin typeface="-webkit-standard"/>
              </a:rPr>
              <a:t>Output:</a:t>
            </a:r>
          </a:p>
          <a:p>
            <a:pPr marL="0" indent="0">
              <a:buNone/>
            </a:pP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[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10, 20, 30, 40, 50, 60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]</a:t>
            </a:r>
            <a:endParaRPr lang="en-ID" dirty="0">
              <a:solidFill>
                <a:srgbClr val="000000"/>
              </a:solidFill>
              <a:latin typeface="-webkit-standard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481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DEAD3-A119-5F32-AC63-99C2DB3A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45116-0E34-3C46-E985-CCF6775C7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Anda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memiliki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dictionary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berisi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beberapa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siswa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dan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jurusan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mereka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.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Tugas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Anda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adalah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membuat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dictionary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baru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menghitung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berapa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banyak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siswa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ada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di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setiap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jurusan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berdasarkan</a:t>
            </a:r>
            <a:r>
              <a:rPr lang="en-ID" sz="1800" dirty="0">
                <a:solidFill>
                  <a:srgbClr val="000000"/>
                </a:solidFill>
              </a:rPr>
              <a:t> user input.</a:t>
            </a:r>
            <a:endParaRPr lang="en-ID" sz="1800" b="0" i="0" u="none" strike="noStrike" dirty="0">
              <a:solidFill>
                <a:srgbClr val="000000"/>
              </a:solidFill>
              <a:effectLst/>
            </a:endParaRPr>
          </a:p>
          <a:p>
            <a:endParaRPr lang="en-ID" sz="1800" dirty="0">
              <a:solidFill>
                <a:srgbClr val="000000"/>
              </a:solidFill>
            </a:endParaRPr>
          </a:p>
          <a:p>
            <a:endParaRPr lang="en-ID" sz="1800" dirty="0">
              <a:solidFill>
                <a:srgbClr val="000000"/>
              </a:solidFill>
            </a:endParaRPr>
          </a:p>
          <a:p>
            <a:endParaRPr lang="en-ID" sz="1800" dirty="0">
              <a:solidFill>
                <a:srgbClr val="000000"/>
              </a:solidFill>
            </a:endParaRPr>
          </a:p>
          <a:p>
            <a:endParaRPr lang="en-ID" sz="1800" dirty="0">
              <a:solidFill>
                <a:srgbClr val="000000"/>
              </a:solidFill>
            </a:endParaRPr>
          </a:p>
          <a:p>
            <a:endParaRPr lang="en-ID" sz="1800" dirty="0">
              <a:solidFill>
                <a:srgbClr val="000000"/>
              </a:solidFill>
            </a:endParaRPr>
          </a:p>
          <a:p>
            <a:endParaRPr lang="en-ID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Output:</a:t>
            </a:r>
          </a:p>
          <a:p>
            <a:pPr marL="0" indent="0">
              <a:buNone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prodi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computer science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sebanyak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2</a:t>
            </a:r>
          </a:p>
          <a:p>
            <a:pPr marL="0" indent="0">
              <a:buNone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prodi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mathematics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sebanyak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2</a:t>
            </a:r>
          </a:p>
          <a:p>
            <a:pPr marL="0" indent="0">
              <a:buNone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prodi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physics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</a:rPr>
              <a:t>sebanyak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</a:rPr>
              <a:t> 1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026DFB-1D7F-367F-B233-D41544CB6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069" y="2910345"/>
            <a:ext cx="3086806" cy="151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15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763E2-B13F-BDF3-04FB-6BE46A73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Latihan-3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46F62-7151-F250-4FAC-69B08B1A2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Anda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telah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memiliki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dictionary yang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berisi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informasi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tentang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beberapa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siswa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Tugas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Anda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adalah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mengakses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nilai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siswa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tertentu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dan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menampilkannya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  <a:p>
            <a:endParaRPr lang="en-ID" sz="2000" dirty="0">
              <a:solidFill>
                <a:srgbClr val="000000"/>
              </a:solidFill>
              <a:latin typeface="-webkit-standard"/>
            </a:endParaRPr>
          </a:p>
          <a:p>
            <a:endParaRPr lang="en-ID" sz="20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endParaRPr lang="en-ID" sz="2000" dirty="0">
              <a:solidFill>
                <a:srgbClr val="000000"/>
              </a:solidFill>
              <a:latin typeface="-webkit-standard"/>
            </a:endParaRPr>
          </a:p>
          <a:p>
            <a:endParaRPr lang="en-ID" sz="20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ID" sz="2000" dirty="0" err="1">
                <a:solidFill>
                  <a:srgbClr val="000000"/>
                </a:solidFill>
                <a:latin typeface="-webkit-standard"/>
              </a:rPr>
              <a:t>Berdasarkan</a:t>
            </a:r>
            <a:r>
              <a:rPr lang="en-ID" sz="2000" dirty="0">
                <a:solidFill>
                  <a:srgbClr val="000000"/>
                </a:solidFill>
                <a:latin typeface="-webkit-standard"/>
              </a:rPr>
              <a:t> user input, </a:t>
            </a:r>
            <a:r>
              <a:rPr lang="en-ID" sz="2000" dirty="0" err="1">
                <a:solidFill>
                  <a:srgbClr val="000000"/>
                </a:solidFill>
                <a:latin typeface="-webkit-standard"/>
              </a:rPr>
              <a:t>tampilkan</a:t>
            </a:r>
            <a:r>
              <a:rPr lang="en-ID" sz="2000" dirty="0">
                <a:solidFill>
                  <a:srgbClr val="000000"/>
                </a:solidFill>
                <a:latin typeface="-webkit-standard"/>
              </a:rPr>
              <a:t> data </a:t>
            </a:r>
            <a:r>
              <a:rPr lang="en-ID" sz="2000" dirty="0" err="1">
                <a:solidFill>
                  <a:srgbClr val="000000"/>
                </a:solidFill>
                <a:latin typeface="-webkit-standard"/>
              </a:rPr>
              <a:t>siswanya</a:t>
            </a:r>
            <a:endParaRPr lang="en-ID" sz="2000" dirty="0">
              <a:solidFill>
                <a:srgbClr val="000000"/>
              </a:solidFill>
              <a:latin typeface="-webkit-standard"/>
            </a:endParaRPr>
          </a:p>
          <a:p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Misal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: </a:t>
            </a:r>
            <a:endParaRPr lang="en-ID" sz="2000" dirty="0">
              <a:solidFill>
                <a:srgbClr val="000000"/>
              </a:solidFill>
              <a:latin typeface="-webkit-standard"/>
            </a:endParaRPr>
          </a:p>
          <a:p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Input: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Inputkan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nama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siswa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Alice</a:t>
            </a:r>
          </a:p>
          <a:p>
            <a:r>
              <a:rPr lang="en-ID" sz="2000" dirty="0">
                <a:solidFill>
                  <a:srgbClr val="000000"/>
                </a:solidFill>
                <a:latin typeface="-webkit-standard"/>
              </a:rPr>
              <a:t>Output : </a:t>
            </a:r>
            <a:r>
              <a:rPr lang="en-ID" sz="2000" dirty="0" err="1">
                <a:solidFill>
                  <a:srgbClr val="000000"/>
                </a:solidFill>
                <a:latin typeface="-webkit-standard"/>
              </a:rPr>
              <a:t>Umur</a:t>
            </a:r>
            <a:r>
              <a:rPr lang="en-ID" sz="2000" dirty="0">
                <a:solidFill>
                  <a:srgbClr val="000000"/>
                </a:solidFill>
                <a:latin typeface="-webkit-standard"/>
              </a:rPr>
              <a:t> Alice </a:t>
            </a:r>
            <a:r>
              <a:rPr lang="en-ID" sz="2000" dirty="0" err="1">
                <a:solidFill>
                  <a:srgbClr val="000000"/>
                </a:solidFill>
                <a:latin typeface="-webkit-standard"/>
              </a:rPr>
              <a:t>adalah</a:t>
            </a:r>
            <a:r>
              <a:rPr lang="en-ID" sz="2000" dirty="0">
                <a:solidFill>
                  <a:srgbClr val="000000"/>
                </a:solidFill>
                <a:latin typeface="-webkit-standard"/>
              </a:rPr>
              <a:t> 20 dan Prodi </a:t>
            </a:r>
            <a:r>
              <a:rPr lang="en-ID" sz="2000" dirty="0" err="1">
                <a:solidFill>
                  <a:srgbClr val="000000"/>
                </a:solidFill>
                <a:latin typeface="-webkit-standard"/>
              </a:rPr>
              <a:t>nya</a:t>
            </a:r>
            <a:r>
              <a:rPr lang="en-ID" sz="20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ID" sz="2000" dirty="0" err="1">
                <a:solidFill>
                  <a:srgbClr val="000000"/>
                </a:solidFill>
                <a:latin typeface="-webkit-standard"/>
              </a:rPr>
              <a:t>adalah</a:t>
            </a:r>
            <a:r>
              <a:rPr lang="en-ID" sz="2000" dirty="0">
                <a:solidFill>
                  <a:srgbClr val="000000"/>
                </a:solidFill>
                <a:latin typeface="-webkit-standard"/>
              </a:rPr>
              <a:t> Computer Science</a:t>
            </a:r>
            <a:endParaRPr lang="en-ID" sz="20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03AB14-DFE9-1C9D-69DA-F6917DBBB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361" y="2566194"/>
            <a:ext cx="61849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59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03864"/>
      </a:accent1>
      <a:accent2>
        <a:srgbClr val="A8836F"/>
      </a:accent2>
      <a:accent3>
        <a:srgbClr val="F4F4F4"/>
      </a:accent3>
      <a:accent4>
        <a:srgbClr val="A38500"/>
      </a:accent4>
      <a:accent5>
        <a:srgbClr val="5B9BD5"/>
      </a:accent5>
      <a:accent6>
        <a:srgbClr val="527F5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1793</TotalTime>
  <Words>831</Words>
  <Application>Microsoft Macintosh PowerPoint</Application>
  <PresentationFormat>Widescreen</PresentationFormat>
  <Paragraphs>140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-webkit-standard</vt:lpstr>
      <vt:lpstr>Aharoni</vt:lpstr>
      <vt:lpstr>Arial</vt:lpstr>
      <vt:lpstr>Calibri</vt:lpstr>
      <vt:lpstr>Calibri Light</vt:lpstr>
      <vt:lpstr>Gill Sans MT</vt:lpstr>
      <vt:lpstr>Office Theme</vt:lpstr>
      <vt:lpstr>TIPE DATA  (BAG 3: SET DAN DICTIONARY)</vt:lpstr>
      <vt:lpstr>Tipe Data: Set</vt:lpstr>
      <vt:lpstr>Tipe Data: Set</vt:lpstr>
      <vt:lpstr>Tipe Data: Set</vt:lpstr>
      <vt:lpstr>Tipe Data: Set</vt:lpstr>
      <vt:lpstr>Tipe Data: Set</vt:lpstr>
      <vt:lpstr>Tipe Data: Set</vt:lpstr>
      <vt:lpstr>Tipe Data: Set</vt:lpstr>
      <vt:lpstr>Tipe Data: Set</vt:lpstr>
      <vt:lpstr>Tipe Data: Set</vt:lpstr>
      <vt:lpstr>Tipe Data: Set</vt:lpstr>
      <vt:lpstr>Tipe Data: Set</vt:lpstr>
      <vt:lpstr>Quiz</vt:lpstr>
      <vt:lpstr>Tipe Data: Dictionary</vt:lpstr>
      <vt:lpstr>Tipe Data: Dictionary</vt:lpstr>
      <vt:lpstr>Tipe Data: Dictionary</vt:lpstr>
      <vt:lpstr>Tipe Data: Dictionary</vt:lpstr>
      <vt:lpstr>Tipe Data: Dictionary</vt:lpstr>
      <vt:lpstr>Tipe Data: Dictionary</vt:lpstr>
      <vt:lpstr>Tipe Data: Dictionary</vt:lpstr>
      <vt:lpstr>Tipe Data: Dictionary</vt:lpstr>
      <vt:lpstr>Tipe Data: Dictionary</vt:lpstr>
      <vt:lpstr>Tipe Data: Dictionary</vt:lpstr>
      <vt:lpstr>Latihan-1</vt:lpstr>
      <vt:lpstr>Latihan-2</vt:lpstr>
      <vt:lpstr>Latihan-3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indirasyawanodya</dc:creator>
  <cp:lastModifiedBy>indirasyawanodya</cp:lastModifiedBy>
  <cp:revision>9</cp:revision>
  <dcterms:created xsi:type="dcterms:W3CDTF">2025-08-15T01:30:00Z</dcterms:created>
  <dcterms:modified xsi:type="dcterms:W3CDTF">2025-08-31T09:20:14Z</dcterms:modified>
</cp:coreProperties>
</file>