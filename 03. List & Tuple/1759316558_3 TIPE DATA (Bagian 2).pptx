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6" r:id="rId24"/>
    <p:sldId id="278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3"/>
    <p:restoredTop sz="96296"/>
  </p:normalViewPr>
  <p:slideViewPr>
    <p:cSldViewPr snapToGrid="0">
      <p:cViewPr varScale="1">
        <p:scale>
          <a:sx n="123" d="100"/>
          <a:sy n="123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05272-72D5-F345-94B5-CCE264DD64C5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FC485-BAB3-DB4D-8232-AFA43C57E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8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FC485-BAB3-DB4D-8232-AFA43C57E7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70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760C-150A-D504-E74E-46B2CD722A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8638" y="2025564"/>
            <a:ext cx="6683923" cy="2387600"/>
          </a:xfrm>
        </p:spPr>
        <p:txBody>
          <a:bodyPr anchor="b">
            <a:noAutofit/>
          </a:bodyPr>
          <a:lstStyle>
            <a:lvl1pPr algn="l">
              <a:defRPr sz="5400" b="1" i="0"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F35F9-698B-DA5C-C7FF-2A9514211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042681" cy="718073"/>
          </a:xfrm>
        </p:spPr>
        <p:txBody>
          <a:bodyPr/>
          <a:lstStyle>
            <a:lvl1pPr marL="0" indent="0" algn="ctr">
              <a:buNone/>
              <a:defRPr sz="2400" b="1" i="0"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33BD6FD-C059-80B4-333E-ACA6245ED5B1}"/>
              </a:ext>
            </a:extLst>
          </p:cNvPr>
          <p:cNvSpPr/>
          <p:nvPr userDrawn="1"/>
        </p:nvSpPr>
        <p:spPr>
          <a:xfrm>
            <a:off x="-1090037" y="-2714590"/>
            <a:ext cx="6940440" cy="6705041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CAD99F5-8EB6-6CE3-49FA-74FD8735816E}"/>
              </a:ext>
            </a:extLst>
          </p:cNvPr>
          <p:cNvSpPr/>
          <p:nvPr userDrawn="1"/>
        </p:nvSpPr>
        <p:spPr>
          <a:xfrm>
            <a:off x="-2704898" y="2272421"/>
            <a:ext cx="4585579" cy="458557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9AA94A3-1D0B-95B3-DF97-48B827321325}"/>
              </a:ext>
            </a:extLst>
          </p:cNvPr>
          <p:cNvSpPr/>
          <p:nvPr userDrawn="1"/>
        </p:nvSpPr>
        <p:spPr>
          <a:xfrm>
            <a:off x="239439" y="4835878"/>
            <a:ext cx="4585578" cy="4585578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77270-A6A6-64D5-9347-308E71A1CC3A}"/>
              </a:ext>
            </a:extLst>
          </p:cNvPr>
          <p:cNvSpPr txBox="1"/>
          <p:nvPr userDrawn="1"/>
        </p:nvSpPr>
        <p:spPr>
          <a:xfrm>
            <a:off x="681033" y="637930"/>
            <a:ext cx="41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latin typeface="Gill Sans MT" panose="020B0502020104020203" pitchFamily="34" charset="77"/>
              </a:rPr>
              <a:t>REKAYASA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65878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515C394D-C021-DF68-DBDD-E9413F9061B7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3C90-8185-169A-D4A8-DB18D76D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741D-17FE-FCFD-3E2B-5C327401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7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919F672-3EBD-7ED0-57D7-0C747184B83C}"/>
              </a:ext>
            </a:extLst>
          </p:cNvPr>
          <p:cNvSpPr/>
          <p:nvPr userDrawn="1"/>
        </p:nvSpPr>
        <p:spPr>
          <a:xfrm rot="673413">
            <a:off x="6773829" y="-485966"/>
            <a:ext cx="8137998" cy="7829930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CE2D0-AB6C-07B4-2C4E-8481F727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4710821" cy="2852737"/>
          </a:xfrm>
        </p:spPr>
        <p:txBody>
          <a:bodyPr anchor="b"/>
          <a:lstStyle>
            <a:lvl1pPr>
              <a:defRPr sz="60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12767-782B-0360-24AC-B6F385029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7108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C4F8A94-35F1-F519-5C09-D2A510CC50EB}"/>
              </a:ext>
            </a:extLst>
          </p:cNvPr>
          <p:cNvGrpSpPr/>
          <p:nvPr userDrawn="1"/>
        </p:nvGrpSpPr>
        <p:grpSpPr>
          <a:xfrm>
            <a:off x="7462998" y="269295"/>
            <a:ext cx="7077020" cy="6588705"/>
            <a:chOff x="0" y="0"/>
            <a:chExt cx="6350000" cy="59118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3253A5D-723C-8310-5D9B-18494A980C46}"/>
                </a:ext>
              </a:extLst>
            </p:cNvPr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762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41FBA89D-3B3E-26C9-52EA-7C0C1DC8245D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9B3262B-727C-1F17-EE1F-677F84EBE0D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57ECD795-11BC-4A89-6929-93D19409EF4E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CF9B217B-C26C-AC73-48B8-119D8EEA0305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82680-88F3-E286-ADA0-7C49EFD14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5A69-E81E-8AA0-7FA6-FBC212CB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153CA-69A6-56E8-DB28-7618EE3AA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91F7AADE-8EE6-9338-8160-470CE767CEE3}"/>
              </a:ext>
            </a:extLst>
          </p:cNvPr>
          <p:cNvSpPr/>
          <p:nvPr userDrawn="1"/>
        </p:nvSpPr>
        <p:spPr>
          <a:xfrm>
            <a:off x="5672782" y="-530349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17BE3EE1-AA84-0B65-856D-B22A46A14E02}"/>
              </a:ext>
            </a:extLst>
          </p:cNvPr>
          <p:cNvSpPr/>
          <p:nvPr userDrawn="1"/>
        </p:nvSpPr>
        <p:spPr>
          <a:xfrm>
            <a:off x="5672782" y="6492875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2335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43C6-3AC3-2E23-CED3-8F090207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07808-550C-EDA3-8C1E-B5D90DC6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8A83F-B8C6-9850-B9F0-C84609FB0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29018-CFBE-502E-B83F-59B76511D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A4C0-6A9A-3ABA-165C-920EFF089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3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9">
            <a:extLst>
              <a:ext uri="{FF2B5EF4-FFF2-40B4-BE49-F238E27FC236}">
                <a16:creationId xmlns:a16="http://schemas.microsoft.com/office/drawing/2014/main" id="{EC4EECB4-B97A-EA9E-5C81-890134F5E532}"/>
              </a:ext>
            </a:extLst>
          </p:cNvPr>
          <p:cNvSpPr/>
          <p:nvPr/>
        </p:nvSpPr>
        <p:spPr>
          <a:xfrm>
            <a:off x="0" y="6094827"/>
            <a:ext cx="12192000" cy="763173"/>
          </a:xfrm>
          <a:custGeom>
            <a:avLst/>
            <a:gdLst/>
            <a:ahLst/>
            <a:cxnLst/>
            <a:rect l="l" t="t" r="r" b="b"/>
            <a:pathLst>
              <a:path w="4816592" h="305799">
                <a:moveTo>
                  <a:pt x="0" y="0"/>
                </a:moveTo>
                <a:lnTo>
                  <a:pt x="4816592" y="0"/>
                </a:lnTo>
                <a:lnTo>
                  <a:pt x="4816592" y="305799"/>
                </a:lnTo>
                <a:lnTo>
                  <a:pt x="0" y="305799"/>
                </a:lnTo>
                <a:close/>
              </a:path>
            </a:pathLst>
          </a:custGeom>
          <a:solidFill>
            <a:srgbClr val="F4F4F4"/>
          </a:solid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349327-1A17-0CFE-2B8D-1D50261B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2">
                    <a:lumMod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E6672B45-5413-EB9C-8B10-79FC60D4456A}"/>
              </a:ext>
            </a:extLst>
          </p:cNvPr>
          <p:cNvSpPr/>
          <p:nvPr userDrawn="1"/>
        </p:nvSpPr>
        <p:spPr>
          <a:xfrm>
            <a:off x="-460473" y="-548090"/>
            <a:ext cx="1826429" cy="182642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0575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76D24A9-4C44-6B4D-E8B9-96558E200D82}"/>
              </a:ext>
            </a:extLst>
          </p:cNvPr>
          <p:cNvGrpSpPr/>
          <p:nvPr userDrawn="1"/>
        </p:nvGrpSpPr>
        <p:grpSpPr>
          <a:xfrm>
            <a:off x="0" y="5739616"/>
            <a:ext cx="12192000" cy="1188721"/>
            <a:chOff x="0" y="0"/>
            <a:chExt cx="24384000" cy="5030819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9DDA39D9-5441-E437-3D28-EADBA70D5CF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AE33936C-1B41-E63A-F456-69A17879EB35}"/>
              </a:ext>
            </a:extLst>
          </p:cNvPr>
          <p:cNvGrpSpPr/>
          <p:nvPr userDrawn="1"/>
        </p:nvGrpSpPr>
        <p:grpSpPr>
          <a:xfrm>
            <a:off x="0" y="5739618"/>
            <a:ext cx="12192000" cy="1188720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D7394CF8-83FD-AC32-F27D-5114C7C66E49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Freeform 11">
            <a:extLst>
              <a:ext uri="{FF2B5EF4-FFF2-40B4-BE49-F238E27FC236}">
                <a16:creationId xmlns:a16="http://schemas.microsoft.com/office/drawing/2014/main" id="{CDFE3B20-4A60-BC55-80FA-9BF693759D68}"/>
              </a:ext>
            </a:extLst>
          </p:cNvPr>
          <p:cNvSpPr/>
          <p:nvPr userDrawn="1"/>
        </p:nvSpPr>
        <p:spPr>
          <a:xfrm>
            <a:off x="5672782" y="-423218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178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535A315B-011B-B841-4FBB-67716B0E6150}"/>
              </a:ext>
            </a:extLst>
          </p:cNvPr>
          <p:cNvSpPr/>
          <p:nvPr userDrawn="1"/>
        </p:nvSpPr>
        <p:spPr>
          <a:xfrm>
            <a:off x="-3453972" y="-850278"/>
            <a:ext cx="8558555" cy="8558555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851FE-27BB-EA1B-9054-0A1F77D3C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23149" y="2162739"/>
            <a:ext cx="5618871" cy="2926715"/>
          </a:xfrm>
        </p:spPr>
        <p:txBody>
          <a:bodyPr/>
          <a:lstStyle>
            <a:lvl1pPr>
              <a:defRPr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9AE97C-A4D8-5599-F8F4-4F17A9779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263" y="352425"/>
            <a:ext cx="6302375" cy="6076950"/>
          </a:xfrm>
        </p:spPr>
        <p:txBody>
          <a:bodyPr>
            <a:normAutofit/>
          </a:bodyPr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22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6E896274-BB9F-BD97-6D6C-EBC584D12450}"/>
              </a:ext>
            </a:extLst>
          </p:cNvPr>
          <p:cNvSpPr/>
          <p:nvPr userDrawn="1"/>
        </p:nvSpPr>
        <p:spPr>
          <a:xfrm>
            <a:off x="4582511" y="1906093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869B31BE-B7B2-0778-9449-B7438136502B}"/>
              </a:ext>
            </a:extLst>
          </p:cNvPr>
          <p:cNvSpPr/>
          <p:nvPr userDrawn="1"/>
        </p:nvSpPr>
        <p:spPr>
          <a:xfrm>
            <a:off x="4582511" y="439050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A288E6-176F-BABA-2FDA-430F32189B98}"/>
              </a:ext>
            </a:extLst>
          </p:cNvPr>
          <p:cNvGrpSpPr/>
          <p:nvPr userDrawn="1"/>
        </p:nvGrpSpPr>
        <p:grpSpPr>
          <a:xfrm>
            <a:off x="0" y="0"/>
            <a:ext cx="5022166" cy="6858000"/>
            <a:chOff x="0" y="0"/>
            <a:chExt cx="2478633" cy="270933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9347F9-B76C-2B2A-6D73-865FF372C708}"/>
                </a:ext>
              </a:extLst>
            </p:cNvPr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552AED-E6F7-DBDB-BEEA-388D9E69665B}"/>
                </a:ext>
              </a:extLst>
            </p:cNvPr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428EF-3210-DB4B-AB6C-880547C58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199"/>
            <a:ext cx="3932237" cy="2328203"/>
          </a:xfrm>
        </p:spPr>
        <p:txBody>
          <a:bodyPr anchor="b">
            <a:normAutofit/>
          </a:bodyPr>
          <a:lstStyle>
            <a:lvl1pPr>
              <a:defRPr sz="3600" b="1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7830-ABEC-8B43-C72D-4C4DFBD84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EED15-05C0-5249-CED6-E4472745B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12012"/>
            <a:ext cx="3932237" cy="295697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Gill Sans MT" panose="020B0502020104020203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3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10BC-2A4E-4DC8-9DB8-02E205BB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789763-E27E-A0EE-397B-C0C8844C3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2193925"/>
            <a:ext cx="3932237" cy="4038600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4E91ACBB-AF92-B3EB-35DE-F92A5FC9C32B}"/>
              </a:ext>
            </a:extLst>
          </p:cNvPr>
          <p:cNvGrpSpPr/>
          <p:nvPr userDrawn="1"/>
        </p:nvGrpSpPr>
        <p:grpSpPr>
          <a:xfrm>
            <a:off x="4772025" y="-509886"/>
            <a:ext cx="7877771" cy="7877771"/>
            <a:chOff x="0" y="0"/>
            <a:chExt cx="13141858" cy="13141858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9BCC494D-BBD8-4A6E-097B-6E21EFC86690}"/>
                </a:ext>
              </a:extLst>
            </p:cNvPr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C76A96AA-B38B-B3E0-9037-D51B0685AEC4}"/>
                </a:ext>
              </a:extLst>
            </p:cNvPr>
            <p:cNvSpPr/>
            <p:nvPr/>
          </p:nvSpPr>
          <p:spPr>
            <a:xfrm>
              <a:off x="1311122" y="1311122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EF98BC8-5D27-98A6-AA64-E292728E7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14616" y="1253298"/>
            <a:ext cx="4192588" cy="4191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EBF7F67B-1435-D631-7220-E6B98C128C8A}"/>
              </a:ext>
            </a:extLst>
          </p:cNvPr>
          <p:cNvSpPr/>
          <p:nvPr userDrawn="1"/>
        </p:nvSpPr>
        <p:spPr>
          <a:xfrm>
            <a:off x="-357888" y="6335400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0716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37B4-FB53-EA98-745B-324E0143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0D3F7-ABC2-8C73-96EB-B87BB867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70C0E-9B53-1C5D-1516-FCFA9DA4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71263-F331-F40B-B7FF-B14F8E32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6A29-2D21-4948-15D6-2FD146A3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9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E876F-6920-8F54-4EBA-C93296F78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0B17-96AB-031D-3FF0-094D35871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3DFC-38B1-D398-AA0D-2F305C4F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DFDFE-CFB9-BE46-BCBE-794FDA41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1BF20-F219-0484-193D-4174FB51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9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432933" cy="1325563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0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DB61C1A-4664-2515-0BDB-8AAAEC13BC4A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176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04099" cy="1325563"/>
          </a:xfrm>
        </p:spPr>
        <p:txBody>
          <a:bodyPr/>
          <a:lstStyle>
            <a:lvl1pPr>
              <a:defRPr b="1" i="0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191911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4" name="AutoShape 18">
            <a:extLst>
              <a:ext uri="{FF2B5EF4-FFF2-40B4-BE49-F238E27FC236}">
                <a16:creationId xmlns:a16="http://schemas.microsoft.com/office/drawing/2014/main" id="{5A72F1C2-C799-4A9A-5989-9D4AA2D904F9}"/>
              </a:ext>
            </a:extLst>
          </p:cNvPr>
          <p:cNvSpPr/>
          <p:nvPr userDrawn="1"/>
        </p:nvSpPr>
        <p:spPr>
          <a:xfrm>
            <a:off x="870165" y="1872448"/>
            <a:ext cx="0" cy="725501"/>
          </a:xfrm>
          <a:prstGeom prst="line">
            <a:avLst/>
          </a:prstGeom>
          <a:ln w="762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740583-7361-9AD7-3125-9803F49F3A1F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915E256-1E1D-5476-8E85-168F2D05E9F7}"/>
              </a:ext>
            </a:extLst>
          </p:cNvPr>
          <p:cNvSpPr/>
          <p:nvPr userDrawn="1"/>
        </p:nvSpPr>
        <p:spPr>
          <a:xfrm rot="10121484">
            <a:off x="7300002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B77396F-9644-D6FA-1C5B-DBA3FE54DB58}"/>
              </a:ext>
            </a:extLst>
          </p:cNvPr>
          <p:cNvSpPr/>
          <p:nvPr userDrawn="1"/>
        </p:nvSpPr>
        <p:spPr>
          <a:xfrm rot="10121484">
            <a:off x="7517621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19815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5765369" y="0"/>
            <a:ext cx="6426631" cy="6858000"/>
            <a:chOff x="0" y="0"/>
            <a:chExt cx="1321562" cy="270933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4601705" cy="1325563"/>
          </a:xfrm>
        </p:spPr>
        <p:txBody>
          <a:bodyPr/>
          <a:lstStyle>
            <a:lvl1pPr>
              <a:defRPr>
                <a:solidFill>
                  <a:srgbClr val="16726E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3081"/>
            <a:ext cx="5448946" cy="58118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5562F7F-66DF-3DD7-3349-48BF61475B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199" y="2180915"/>
            <a:ext cx="4540250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634272D-A4A0-D639-9B87-E53F0BB24F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4453905"/>
            <a:ext cx="4540250" cy="1782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2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572B2-2579-C934-8471-0E228785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54AD1-0042-9DAC-E467-F3AAD655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2C67-6E0A-E036-5DEF-CBF56651D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A6BC9-2F17-4644-8BAF-C8380839D32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1351A-0A5A-A73E-384C-3A1744FC1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D997-0963-C69F-A3C3-E78E18AC6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1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3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B2B2-1420-2CD0-16A9-74EE8DE30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TIPE DATA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(BAG 2: LIST DAN TUPLE)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DE58-F161-772C-BD5E-1FF653B48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773610" cy="718073"/>
          </a:xfrm>
        </p:spPr>
        <p:txBody>
          <a:bodyPr>
            <a:normAutofit/>
          </a:bodyPr>
          <a:lstStyle/>
          <a:p>
            <a:r>
              <a:rPr lang="en-US" dirty="0"/>
              <a:t>RL117 – DASAR PEMROGRAMAN</a:t>
            </a:r>
          </a:p>
        </p:txBody>
      </p:sp>
    </p:spTree>
    <p:extLst>
      <p:ext uri="{BB962C8B-B14F-4D97-AF65-F5344CB8AC3E}">
        <p14:creationId xmlns:p14="http://schemas.microsoft.com/office/powerpoint/2010/main" val="181463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8C50-09D5-26DC-8FC2-CDB391A7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8632E-3344-CA03-026D-D651077B4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872" y="1387186"/>
            <a:ext cx="4544255" cy="48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2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16A85D-BFEA-E9FD-C04F-0E0814F6D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61CB4D-CB62-9B8E-BA53-74C54A3B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Data Type</a:t>
            </a:r>
          </a:p>
        </p:txBody>
      </p:sp>
    </p:spTree>
    <p:extLst>
      <p:ext uri="{BB962C8B-B14F-4D97-AF65-F5344CB8AC3E}">
        <p14:creationId xmlns:p14="http://schemas.microsoft.com/office/powerpoint/2010/main" val="413522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C0AEC98-5687-08B4-CE5C-517DCD1ED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Sequence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68F3C2-1B71-CB5B-25BA-84AC5828D0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Tipe</a:t>
            </a:r>
            <a:r>
              <a:rPr lang="en-US" dirty="0"/>
              <a:t> data sequence </a:t>
            </a:r>
            <a:r>
              <a:rPr lang="en-US" dirty="0" err="1"/>
              <a:t>dalam</a:t>
            </a:r>
            <a:r>
              <a:rPr lang="en-US" dirty="0"/>
              <a:t> Python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terorganisir</a:t>
            </a:r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pada </a:t>
            </a:r>
            <a:r>
              <a:rPr lang="en-US" dirty="0" err="1"/>
              <a:t>tipe</a:t>
            </a:r>
            <a:r>
              <a:rPr lang="en-US" dirty="0"/>
              <a:t> data sequence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ditandai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yang </a:t>
            </a:r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0</a:t>
            </a:r>
          </a:p>
          <a:p>
            <a:r>
              <a:rPr lang="en-US" dirty="0"/>
              <a:t>Angka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index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data sequence di Python</a:t>
            </a:r>
          </a:p>
          <a:p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sequence yang paling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List dan Tuple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50C98E-BC63-CF63-B7C2-27E6F942E19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420556" y="2592086"/>
            <a:ext cx="5181600" cy="77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94AACBA-D133-1128-845C-03BF9D163731}"/>
              </a:ext>
            </a:extLst>
          </p:cNvPr>
          <p:cNvPicPr>
            <a:picLocks noGrp="1" noChangeAspect="1" noChangeArrowheads="1"/>
          </p:cNvPicPr>
          <p:nvPr>
            <p:ph type="pic" sz="quarter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1306" r="24602" b="-1306"/>
          <a:stretch/>
        </p:blipFill>
        <p:spPr bwMode="auto">
          <a:xfrm>
            <a:off x="6420556" y="4410261"/>
            <a:ext cx="5297488" cy="103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1E1212-803C-8A3C-74B1-AD55BD49A8CB}"/>
              </a:ext>
            </a:extLst>
          </p:cNvPr>
          <p:cNvSpPr txBox="1"/>
          <p:nvPr/>
        </p:nvSpPr>
        <p:spPr>
          <a:xfrm>
            <a:off x="3067291" y="3183566"/>
            <a:ext cx="6134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 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7D24D-7D6A-16C3-719F-9679F1767004}"/>
              </a:ext>
            </a:extLst>
          </p:cNvPr>
          <p:cNvSpPr txBox="1"/>
          <p:nvPr/>
        </p:nvSpPr>
        <p:spPr>
          <a:xfrm>
            <a:off x="3067291" y="3183566"/>
            <a:ext cx="6134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3E66D8-B512-7CA6-5289-9B988A9CF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AE1B81-FC2A-D891-51D6-09A70ED3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 : List</a:t>
            </a:r>
          </a:p>
        </p:txBody>
      </p:sp>
    </p:spTree>
    <p:extLst>
      <p:ext uri="{BB962C8B-B14F-4D97-AF65-F5344CB8AC3E}">
        <p14:creationId xmlns:p14="http://schemas.microsoft.com/office/powerpoint/2010/main" val="42897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1D11-6142-885A-3076-6E788BCE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51F6-B924-AAEC-F538-54B8ADD90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/>
              <a:t>List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item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variable. </a:t>
            </a:r>
            <a:r>
              <a:rPr lang="en-US" sz="2000" dirty="0" err="1"/>
              <a:t>Bersifat</a:t>
            </a:r>
            <a:r>
              <a:rPr lang="en-US" sz="2000" dirty="0"/>
              <a:t> mutable, ordered, </a:t>
            </a:r>
            <a:r>
              <a:rPr lang="en-US" sz="2000" dirty="0" err="1"/>
              <a:t>memungkinkan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duplikasi</a:t>
            </a:r>
            <a:r>
              <a:rPr lang="en-US" sz="20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List </a:t>
            </a:r>
            <a:r>
              <a:rPr lang="en-US" sz="2000" dirty="0" err="1"/>
              <a:t>dibuat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tanda</a:t>
            </a:r>
            <a:r>
              <a:rPr lang="en-US" sz="2000" dirty="0"/>
              <a:t> </a:t>
            </a:r>
            <a:r>
              <a:rPr lang="en-US" sz="2000" dirty="0" err="1"/>
              <a:t>kurung</a:t>
            </a:r>
            <a:r>
              <a:rPr lang="en-US" sz="2000" dirty="0"/>
              <a:t> siku “[ ]”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Index di list </a:t>
            </a:r>
            <a:r>
              <a:rPr lang="en-US" sz="2000" dirty="0" err="1"/>
              <a:t>dimulai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index [0]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/>
              <a:t>Karena </a:t>
            </a:r>
            <a:r>
              <a:rPr lang="en-US" sz="2000" dirty="0" err="1"/>
              <a:t>sifat</a:t>
            </a:r>
            <a:r>
              <a:rPr lang="en-US" sz="2000" dirty="0"/>
              <a:t> list </a:t>
            </a:r>
            <a:r>
              <a:rPr lang="en-US" sz="2000" dirty="0" err="1"/>
              <a:t>adalah</a:t>
            </a:r>
            <a:r>
              <a:rPr lang="en-US" sz="2000" dirty="0"/>
              <a:t> ordered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item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yang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ditentukan</a:t>
            </a:r>
            <a:r>
              <a:rPr lang="en-US" sz="2000" dirty="0"/>
              <a:t> dan </a:t>
            </a:r>
            <a:r>
              <a:rPr lang="en-US" sz="2000" dirty="0" err="1"/>
              <a:t>urutan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/>
              <a:t>Karena </a:t>
            </a:r>
            <a:r>
              <a:rPr lang="en-US" sz="2000" dirty="0" err="1"/>
              <a:t>sifatnya</a:t>
            </a:r>
            <a:r>
              <a:rPr lang="en-US" sz="2000" dirty="0"/>
              <a:t> </a:t>
            </a:r>
            <a:r>
              <a:rPr lang="en-US" sz="2000" dirty="0" err="1"/>
              <a:t>memungkinkan</a:t>
            </a:r>
            <a:r>
              <a:rPr lang="en-US" sz="2000" dirty="0"/>
              <a:t> </a:t>
            </a:r>
            <a:r>
              <a:rPr lang="en-US" sz="2000" dirty="0" err="1"/>
              <a:t>duplikasi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list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item yang </a:t>
            </a:r>
            <a:r>
              <a:rPr lang="en-US" sz="2000" dirty="0" err="1"/>
              <a:t>sama</a:t>
            </a: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2E787F-F330-76B2-F367-6FA279FFE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38863"/>
              </p:ext>
            </p:extLst>
          </p:nvPr>
        </p:nvGraphicFramePr>
        <p:xfrm>
          <a:off x="2232142" y="3717290"/>
          <a:ext cx="5941497" cy="741045"/>
        </p:xfrm>
        <a:graphic>
          <a:graphicData uri="http://schemas.openxmlformats.org/drawingml/2006/table">
            <a:tbl>
              <a:tblPr/>
              <a:tblGrid>
                <a:gridCol w="439752">
                  <a:extLst>
                    <a:ext uri="{9D8B030D-6E8A-4147-A177-3AD203B41FA5}">
                      <a16:colId xmlns:a16="http://schemas.microsoft.com/office/drawing/2014/main" val="717682439"/>
                    </a:ext>
                  </a:extLst>
                </a:gridCol>
                <a:gridCol w="312022">
                  <a:extLst>
                    <a:ext uri="{9D8B030D-6E8A-4147-A177-3AD203B41FA5}">
                      <a16:colId xmlns:a16="http://schemas.microsoft.com/office/drawing/2014/main" val="4249684362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6883851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5261878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429307458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01311247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386289077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823746248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3610144219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=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[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“apel”,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jeruk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”,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“ceri”,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“durian”,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apel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”,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]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2145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2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3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4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3167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EB60B08-907F-DF2A-08F4-A75A04336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36306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67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1D11-6142-885A-3076-6E788BCE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51F6-B924-AAEC-F538-54B8ADD90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item </a:t>
            </a:r>
            <a:r>
              <a:rPr lang="en-US" sz="2400" dirty="0" err="1"/>
              <a:t>dalam</a:t>
            </a:r>
            <a:r>
              <a:rPr lang="en-US" sz="2400" dirty="0"/>
              <a:t> list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len</a:t>
            </a:r>
            <a:r>
              <a:rPr lang="en-US" sz="2400" dirty="0"/>
              <a:t>()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 err="1"/>
              <a:t>Mengambil</a:t>
            </a:r>
            <a:r>
              <a:rPr lang="en-US" sz="2400" dirty="0"/>
              <a:t> item </a:t>
            </a:r>
            <a:r>
              <a:rPr lang="en-US" sz="2400" dirty="0" err="1"/>
              <a:t>tertentu</a:t>
            </a:r>
            <a:r>
              <a:rPr lang="en-US" sz="2400" dirty="0"/>
              <a:t> pada list: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2E787F-F330-76B2-F367-6FA279FFE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00868"/>
              </p:ext>
            </p:extLst>
          </p:nvPr>
        </p:nvGraphicFramePr>
        <p:xfrm>
          <a:off x="1410814" y="1872335"/>
          <a:ext cx="5941497" cy="741045"/>
        </p:xfrm>
        <a:graphic>
          <a:graphicData uri="http://schemas.openxmlformats.org/drawingml/2006/table">
            <a:tbl>
              <a:tblPr/>
              <a:tblGrid>
                <a:gridCol w="439752">
                  <a:extLst>
                    <a:ext uri="{9D8B030D-6E8A-4147-A177-3AD203B41FA5}">
                      <a16:colId xmlns:a16="http://schemas.microsoft.com/office/drawing/2014/main" val="717682439"/>
                    </a:ext>
                  </a:extLst>
                </a:gridCol>
                <a:gridCol w="312022">
                  <a:extLst>
                    <a:ext uri="{9D8B030D-6E8A-4147-A177-3AD203B41FA5}">
                      <a16:colId xmlns:a16="http://schemas.microsoft.com/office/drawing/2014/main" val="4249684362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6883851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5261878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429307458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01311247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386289077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823746248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3610144219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=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[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“apel”,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“jeruk”,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ceri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”,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“durian”,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apel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”,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]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2145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2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3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4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3167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EB60B08-907F-DF2A-08F4-A75A04336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36306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B9BF114-C48C-2CA8-8ABC-B6EC939EC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814" y="3812260"/>
            <a:ext cx="6850605" cy="10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ED12715-FEDC-220C-4F80-DD450C94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925" y="5747051"/>
            <a:ext cx="6527639" cy="95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42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823D-0DC3-484F-E0B5-C4D46D11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7059-7446-9168-EB05-28BAC6D51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Mengambil</a:t>
            </a:r>
            <a:r>
              <a:rPr lang="en-US" sz="2000" dirty="0"/>
              <a:t> item pada list </a:t>
            </a:r>
            <a:r>
              <a:rPr lang="en-US" sz="2000" dirty="0" err="1"/>
              <a:t>dengan</a:t>
            </a:r>
            <a:r>
              <a:rPr lang="en-US" sz="2000" dirty="0"/>
              <a:t> range </a:t>
            </a:r>
            <a:r>
              <a:rPr lang="en-US" sz="2000" dirty="0" err="1"/>
              <a:t>tertentu</a:t>
            </a:r>
            <a:r>
              <a:rPr lang="en-US" sz="2000" dirty="0"/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/>
              <a:t>Karena mutable </a:t>
            </a:r>
            <a:r>
              <a:rPr lang="en-US" sz="2000" dirty="0" err="1"/>
              <a:t>adalah</a:t>
            </a:r>
            <a:r>
              <a:rPr lang="en-US" sz="2000" dirty="0"/>
              <a:t> salah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sifat</a:t>
            </a:r>
            <a:r>
              <a:rPr lang="en-US" sz="2000" dirty="0"/>
              <a:t> list,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mengubah</a:t>
            </a:r>
            <a:r>
              <a:rPr lang="en-US" sz="2000" dirty="0"/>
              <a:t>, </a:t>
            </a:r>
            <a:r>
              <a:rPr lang="en-US" sz="2000" dirty="0" err="1"/>
              <a:t>menambah</a:t>
            </a:r>
            <a:r>
              <a:rPr lang="en-US" sz="2000" dirty="0"/>
              <a:t>, </a:t>
            </a:r>
            <a:r>
              <a:rPr lang="en-US" sz="2000" dirty="0" err="1"/>
              <a:t>menghapus</a:t>
            </a:r>
            <a:r>
              <a:rPr lang="en-US" sz="2000" dirty="0"/>
              <a:t> item yang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dibuat</a:t>
            </a:r>
            <a:r>
              <a:rPr lang="en-US" sz="2000" dirty="0"/>
              <a:t> di list</a:t>
            </a:r>
          </a:p>
          <a:p>
            <a:pPr algn="just">
              <a:lnSpc>
                <a:spcPct val="100000"/>
              </a:lnSpc>
            </a:pPr>
            <a:r>
              <a:rPr lang="en-US" sz="2000" dirty="0" err="1"/>
              <a:t>Menambah</a:t>
            </a:r>
            <a:r>
              <a:rPr lang="en-US" sz="2000" dirty="0"/>
              <a:t> item di </a:t>
            </a:r>
            <a:r>
              <a:rPr lang="en-US" sz="2000" dirty="0" err="1"/>
              <a:t>akhir</a:t>
            </a:r>
            <a:r>
              <a:rPr lang="en-US" sz="2000" dirty="0"/>
              <a:t> list:  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65FA7D4-2B21-0A03-3870-19A3D65A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720" y="2457815"/>
            <a:ext cx="6608662" cy="100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CE55B2C-7176-7065-F02B-DB03B58E5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720" y="5104073"/>
            <a:ext cx="6550789" cy="117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35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823D-0DC3-484F-E0B5-C4D46D11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7059-7446-9168-EB05-28BAC6D51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Mengganti</a:t>
            </a:r>
            <a:r>
              <a:rPr lang="en-US" sz="2400" dirty="0"/>
              <a:t> item di index </a:t>
            </a:r>
            <a:r>
              <a:rPr lang="en-US" sz="2400" dirty="0" err="1"/>
              <a:t>tertentu</a:t>
            </a:r>
            <a:r>
              <a:rPr lang="en-US" sz="2400" dirty="0"/>
              <a:t> pada list: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4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Menambah</a:t>
            </a:r>
            <a:r>
              <a:rPr lang="en-ID" sz="24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item di range index </a:t>
            </a:r>
            <a:r>
              <a:rPr lang="en-ID" sz="24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tertentu</a:t>
            </a:r>
            <a:r>
              <a:rPr lang="en-ID" sz="24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pada </a:t>
            </a:r>
            <a:r>
              <a:rPr lang="en-ID" sz="2400" b="0" i="1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list</a:t>
            </a:r>
            <a:r>
              <a:rPr lang="en-ID" sz="24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:</a:t>
            </a:r>
            <a:endParaRPr lang="en-ID" sz="24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8F3D0F4-740B-A317-3901-B65E920AE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995" y="2863611"/>
            <a:ext cx="6514939" cy="113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DC2035F-E5E5-BC7A-0519-FF3EADC9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245" y="5046185"/>
            <a:ext cx="6556438" cy="113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201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823D-0DC3-484F-E0B5-C4D46D11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7059-7446-9168-EB05-28BAC6D51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Menghapus</a:t>
            </a:r>
            <a:r>
              <a:rPr lang="en-US" sz="2000" dirty="0"/>
              <a:t> item di index </a:t>
            </a:r>
            <a:r>
              <a:rPr lang="en-US" sz="2000" dirty="0" err="1"/>
              <a:t>tertentu</a:t>
            </a:r>
            <a:r>
              <a:rPr lang="en-US" sz="2000" dirty="0"/>
              <a:t> di </a:t>
            </a:r>
            <a:r>
              <a:rPr lang="en-US" sz="2000" dirty="0" err="1"/>
              <a:t>sebuah</a:t>
            </a:r>
            <a:r>
              <a:rPr lang="en-US" sz="2000" dirty="0"/>
              <a:t> list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List juga </a:t>
            </a:r>
            <a:r>
              <a:rPr lang="en-US" sz="2000" dirty="0" err="1"/>
              <a:t>memungkinkan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list</a:t>
            </a:r>
          </a:p>
          <a:p>
            <a:pPr marL="0" indent="0">
              <a:buNone/>
            </a:pP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68B2EF1-D281-5F00-443A-3A77642F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018" y="3000307"/>
            <a:ext cx="6194526" cy="112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69A985C6-23A1-EAB2-E1FF-27F9CA944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45" y="5255590"/>
            <a:ext cx="6915111" cy="105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93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823D-0DC3-484F-E0B5-C4D46D11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7059-7446-9168-EB05-28BAC6D51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Menambah</a:t>
            </a:r>
            <a:r>
              <a:rPr lang="en-US" sz="2000" dirty="0"/>
              <a:t> item di list </a:t>
            </a:r>
            <a:r>
              <a:rPr lang="en-US" sz="2000" dirty="0" err="1"/>
              <a:t>dari</a:t>
            </a:r>
            <a:r>
              <a:rPr lang="en-US" sz="2000" dirty="0"/>
              <a:t> list </a:t>
            </a:r>
            <a:r>
              <a:rPr lang="en-US" sz="2000" dirty="0" err="1"/>
              <a:t>lainnya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Mengurutkan</a:t>
            </a:r>
            <a:r>
              <a:rPr lang="en-US" sz="2000" dirty="0"/>
              <a:t> item di list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abjadnya</a:t>
            </a:r>
            <a:endParaRPr lang="en-US" sz="20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2ACFF35-694A-078D-3FE2-F78D7D52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821" y="2885442"/>
            <a:ext cx="5383675" cy="14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>
            <a:extLst>
              <a:ext uri="{FF2B5EF4-FFF2-40B4-BE49-F238E27FC236}">
                <a16:creationId xmlns:a16="http://schemas.microsoft.com/office/drawing/2014/main" id="{5DB6EFDC-7E49-F831-EFE0-67A44A942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743" y="5072118"/>
            <a:ext cx="5686747" cy="131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47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5F75-1ACF-E1A2-F6D7-608F86D4A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Data: List Method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4A2205-75E8-2792-D5C8-28FAA9034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728544"/>
              </p:ext>
            </p:extLst>
          </p:nvPr>
        </p:nvGraphicFramePr>
        <p:xfrm>
          <a:off x="1508870" y="1936709"/>
          <a:ext cx="8508780" cy="414337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25965">
                  <a:extLst>
                    <a:ext uri="{9D8B030D-6E8A-4147-A177-3AD203B41FA5}">
                      <a16:colId xmlns:a16="http://schemas.microsoft.com/office/drawing/2014/main" val="3191172637"/>
                    </a:ext>
                  </a:extLst>
                </a:gridCol>
                <a:gridCol w="6982815">
                  <a:extLst>
                    <a:ext uri="{9D8B030D-6E8A-4147-A177-3AD203B41FA5}">
                      <a16:colId xmlns:a16="http://schemas.microsoft.com/office/drawing/2014/main" val="2909272214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Method</a:t>
                      </a:r>
                      <a:endParaRPr lang="en-ID" sz="2800" dirty="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 dirty="0" err="1">
                          <a:solidFill>
                            <a:srgbClr val="FFFFFF"/>
                          </a:solidFill>
                          <a:effectLst/>
                        </a:rPr>
                        <a:t>Keterangan</a:t>
                      </a:r>
                      <a:endParaRPr lang="en-ID" sz="2800" dirty="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2416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clear()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Menghapus semua item di list</a:t>
                      </a:r>
                      <a:endParaRPr lang="en-ID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728447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copy()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Menyalin list</a:t>
                      </a:r>
                      <a:endParaRPr lang="en-ID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5772342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count()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Menghitung jumlah item tertentu di pada list</a:t>
                      </a:r>
                      <a:endParaRPr lang="en-ID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70368563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extend()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Menambah item dari list lain ke dalam list tersebut</a:t>
                      </a:r>
                      <a:endParaRPr lang="en-ID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2536913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index()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Menampilkan index dari suatu item tertentu pada list</a:t>
                      </a:r>
                      <a:endParaRPr lang="en-ID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2626595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remove()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Menghapus item tertentu pada list </a:t>
                      </a:r>
                      <a:endParaRPr lang="en-ID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020467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reverse()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Membalikkan susunan item pada list</a:t>
                      </a:r>
                      <a:endParaRPr lang="en-ID" sz="280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8966567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sort()</a:t>
                      </a:r>
                      <a:endParaRPr lang="en-ID" sz="280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Mengurutkan</a:t>
                      </a:r>
                      <a:r>
                        <a:rPr lang="en-ID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D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susunan</a:t>
                      </a:r>
                      <a:r>
                        <a:rPr lang="en-ID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item </a:t>
                      </a:r>
                      <a:r>
                        <a:rPr lang="en-ID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berdasarkan</a:t>
                      </a:r>
                      <a:r>
                        <a:rPr lang="en-ID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D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alfabet</a:t>
                      </a:r>
                      <a:r>
                        <a:rPr lang="en-ID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D" sz="28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57122957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AACF348-BD37-DD8A-B403-F8159089F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22955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573A-5CED-07BB-92F2-E8DC8F6B4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F287-2969-6786-85F0-7B8000E9F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Manakah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yang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list di Python?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Mutable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Allows Duplicate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Ordered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Allows different data types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Fixed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Manakah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yang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method pop()?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Menambah</a:t>
            </a:r>
            <a:r>
              <a:rPr lang="en-US" dirty="0"/>
              <a:t> item di index list </a:t>
            </a:r>
            <a:r>
              <a:rPr lang="en-US" dirty="0" err="1"/>
              <a:t>tertentu</a:t>
            </a:r>
            <a:endParaRPr lang="en-US" dirty="0"/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Menghapus</a:t>
            </a:r>
            <a:r>
              <a:rPr lang="en-US" dirty="0"/>
              <a:t> item di index list </a:t>
            </a:r>
            <a:r>
              <a:rPr lang="en-US" dirty="0" err="1"/>
              <a:t>tertentu</a:t>
            </a:r>
            <a:endParaRPr lang="en-US" dirty="0"/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Mengurutkan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item pada list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item pada </a:t>
            </a:r>
            <a:r>
              <a:rPr lang="en-US" dirty="0" err="1"/>
              <a:t>sebuah</a:t>
            </a:r>
            <a:r>
              <a:rPr lang="en-US" dirty="0"/>
              <a:t> list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Menampilkan</a:t>
            </a:r>
            <a:r>
              <a:rPr lang="en-US" dirty="0"/>
              <a:t> item di index list </a:t>
            </a:r>
            <a:r>
              <a:rPr lang="en-US" dirty="0" err="1"/>
              <a:t>tertentu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06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78C034-8BC6-DEB5-5AFB-30D885CA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B23817-F048-FB53-69E8-6F4CB1A4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Type: Tuple</a:t>
            </a:r>
          </a:p>
        </p:txBody>
      </p:sp>
    </p:spTree>
    <p:extLst>
      <p:ext uri="{BB962C8B-B14F-4D97-AF65-F5344CB8AC3E}">
        <p14:creationId xmlns:p14="http://schemas.microsoft.com/office/powerpoint/2010/main" val="122343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F9BB-3DE6-1804-90D0-0DFAE748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70ED-ECFA-5709-0118-481F43AE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000" dirty="0"/>
              <a:t>Tuple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item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variable. </a:t>
            </a:r>
            <a:r>
              <a:rPr lang="en-US" sz="2000" dirty="0" err="1"/>
              <a:t>Bersifat</a:t>
            </a:r>
            <a:r>
              <a:rPr lang="en-US" sz="2000" dirty="0"/>
              <a:t> immutable, ordered, </a:t>
            </a:r>
            <a:r>
              <a:rPr lang="en-US" sz="2000" dirty="0" err="1"/>
              <a:t>memungkinkan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duplikasi</a:t>
            </a:r>
            <a:r>
              <a:rPr lang="en-US" sz="20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Tuple </a:t>
            </a:r>
            <a:r>
              <a:rPr lang="en-US" sz="2000" dirty="0" err="1"/>
              <a:t>dibuat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tanda</a:t>
            </a:r>
            <a:r>
              <a:rPr lang="en-US" sz="2000" dirty="0"/>
              <a:t> </a:t>
            </a:r>
            <a:r>
              <a:rPr lang="en-US" sz="2000" dirty="0" err="1"/>
              <a:t>kurung</a:t>
            </a:r>
            <a:r>
              <a:rPr lang="en-US" sz="2000" dirty="0"/>
              <a:t> </a:t>
            </a:r>
            <a:r>
              <a:rPr lang="en-US" sz="2000" dirty="0" err="1"/>
              <a:t>buka</a:t>
            </a:r>
            <a:r>
              <a:rPr lang="en-US" sz="2000" dirty="0"/>
              <a:t> dan </a:t>
            </a:r>
            <a:r>
              <a:rPr lang="en-US" sz="2000" dirty="0" err="1"/>
              <a:t>tutup</a:t>
            </a:r>
            <a:r>
              <a:rPr lang="en-US" sz="2000" dirty="0"/>
              <a:t> “( )”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Index di tuple </a:t>
            </a:r>
            <a:r>
              <a:rPr lang="en-US" sz="2000" dirty="0" err="1"/>
              <a:t>dimulai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index [0]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/>
              <a:t>Karena </a:t>
            </a:r>
            <a:r>
              <a:rPr lang="en-US" sz="2000" dirty="0" err="1"/>
              <a:t>sifat</a:t>
            </a:r>
            <a:r>
              <a:rPr lang="en-US" sz="2000" dirty="0"/>
              <a:t> tuple </a:t>
            </a:r>
            <a:r>
              <a:rPr lang="en-US" sz="2000" dirty="0" err="1"/>
              <a:t>adalah</a:t>
            </a:r>
            <a:r>
              <a:rPr lang="en-US" sz="2000" dirty="0"/>
              <a:t> ordered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item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yang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ditentukan</a:t>
            </a:r>
            <a:r>
              <a:rPr lang="en-US" sz="2000" dirty="0"/>
              <a:t> dan </a:t>
            </a:r>
            <a:r>
              <a:rPr lang="en-US" sz="2000" dirty="0" err="1"/>
              <a:t>urutan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/>
              <a:t>Karena </a:t>
            </a:r>
            <a:r>
              <a:rPr lang="en-US" sz="2000" dirty="0" err="1"/>
              <a:t>sifatnya</a:t>
            </a:r>
            <a:r>
              <a:rPr lang="en-US" sz="2000" dirty="0"/>
              <a:t> </a:t>
            </a:r>
            <a:r>
              <a:rPr lang="en-US" sz="2000" dirty="0" err="1"/>
              <a:t>memungkinkan</a:t>
            </a:r>
            <a:r>
              <a:rPr lang="en-US" sz="2000" dirty="0"/>
              <a:t> </a:t>
            </a:r>
            <a:r>
              <a:rPr lang="en-US" sz="2000" dirty="0" err="1"/>
              <a:t>duplikasi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tuple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item yang </a:t>
            </a:r>
            <a:r>
              <a:rPr lang="en-US" sz="2000" dirty="0" err="1"/>
              <a:t>sama</a:t>
            </a: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39672B-052B-B48E-D332-865B8ADF9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05486"/>
              </p:ext>
            </p:extLst>
          </p:nvPr>
        </p:nvGraphicFramePr>
        <p:xfrm>
          <a:off x="2209850" y="3630771"/>
          <a:ext cx="5941497" cy="741045"/>
        </p:xfrm>
        <a:graphic>
          <a:graphicData uri="http://schemas.openxmlformats.org/drawingml/2006/table">
            <a:tbl>
              <a:tblPr/>
              <a:tblGrid>
                <a:gridCol w="439752">
                  <a:extLst>
                    <a:ext uri="{9D8B030D-6E8A-4147-A177-3AD203B41FA5}">
                      <a16:colId xmlns:a16="http://schemas.microsoft.com/office/drawing/2014/main" val="717682439"/>
                    </a:ext>
                  </a:extLst>
                </a:gridCol>
                <a:gridCol w="312022">
                  <a:extLst>
                    <a:ext uri="{9D8B030D-6E8A-4147-A177-3AD203B41FA5}">
                      <a16:colId xmlns:a16="http://schemas.microsoft.com/office/drawing/2014/main" val="4249684362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6883851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5261878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429307458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01311247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386289077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823746248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3610144219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=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(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apel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”,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“jeruk”,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“ceri”,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“durian”,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apel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)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2145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2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3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4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31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3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F9BB-3DE6-1804-90D0-0DFAE748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70ED-ECFA-5709-0118-481F43AE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melihat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item </a:t>
            </a:r>
            <a:r>
              <a:rPr lang="en-US" sz="2000" dirty="0" err="1"/>
              <a:t>dalam</a:t>
            </a:r>
            <a:r>
              <a:rPr lang="en-US" sz="2000" dirty="0"/>
              <a:t> tuple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len</a:t>
            </a:r>
            <a:r>
              <a:rPr lang="en-US" sz="2000" dirty="0"/>
              <a:t>()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Mengambil</a:t>
            </a:r>
            <a:r>
              <a:rPr lang="en-US" sz="2000" dirty="0"/>
              <a:t> item </a:t>
            </a:r>
            <a:r>
              <a:rPr lang="en-US" sz="2000" dirty="0" err="1"/>
              <a:t>tertentu</a:t>
            </a:r>
            <a:r>
              <a:rPr lang="en-US" sz="2000" dirty="0"/>
              <a:t> pada tuple: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A76F45-BFD6-242C-DE80-7F032C29A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21812"/>
              </p:ext>
            </p:extLst>
          </p:nvPr>
        </p:nvGraphicFramePr>
        <p:xfrm>
          <a:off x="1962352" y="1959174"/>
          <a:ext cx="5941497" cy="741045"/>
        </p:xfrm>
        <a:graphic>
          <a:graphicData uri="http://schemas.openxmlformats.org/drawingml/2006/table">
            <a:tbl>
              <a:tblPr/>
              <a:tblGrid>
                <a:gridCol w="439752">
                  <a:extLst>
                    <a:ext uri="{9D8B030D-6E8A-4147-A177-3AD203B41FA5}">
                      <a16:colId xmlns:a16="http://schemas.microsoft.com/office/drawing/2014/main" val="717682439"/>
                    </a:ext>
                  </a:extLst>
                </a:gridCol>
                <a:gridCol w="312022">
                  <a:extLst>
                    <a:ext uri="{9D8B030D-6E8A-4147-A177-3AD203B41FA5}">
                      <a16:colId xmlns:a16="http://schemas.microsoft.com/office/drawing/2014/main" val="4249684362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6883851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52618782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429307458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01311247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1386289077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823746248"/>
                    </a:ext>
                  </a:extLst>
                </a:gridCol>
                <a:gridCol w="427924">
                  <a:extLst>
                    <a:ext uri="{9D8B030D-6E8A-4147-A177-3AD203B41FA5}">
                      <a16:colId xmlns:a16="http://schemas.microsoft.com/office/drawing/2014/main" val="3610144219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=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(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apel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”,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“jeruk”,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“ceri”,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“durian”,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“</a:t>
                      </a:r>
                      <a:r>
                        <a:rPr lang="en-ID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apel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”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)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2145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2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3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4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316773"/>
                  </a:ext>
                </a:extLst>
              </a:tr>
            </a:tbl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3E784DE2-02AB-C1F1-7436-EF593C830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63" y="3787991"/>
            <a:ext cx="5396053" cy="78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229590F3-6057-DC7E-084B-08C167DE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523" y="5579434"/>
            <a:ext cx="5268732" cy="77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276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F9BB-3DE6-1804-90D0-0DFAE748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70ED-ECFA-5709-0118-481F43AE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 err="1"/>
              <a:t>Mengambil</a:t>
            </a:r>
            <a:r>
              <a:rPr lang="en-US" sz="2000" dirty="0"/>
              <a:t> item pada tuple </a:t>
            </a:r>
            <a:r>
              <a:rPr lang="en-US" sz="2000" dirty="0" err="1"/>
              <a:t>dengan</a:t>
            </a:r>
            <a:r>
              <a:rPr lang="en-US" sz="2000" dirty="0"/>
              <a:t> range </a:t>
            </a:r>
            <a:r>
              <a:rPr lang="en-US" sz="2000" dirty="0" err="1"/>
              <a:t>tertentu</a:t>
            </a:r>
            <a:r>
              <a:rPr lang="en-US" sz="2000" dirty="0"/>
              <a:t>:</a:t>
            </a:r>
          </a:p>
          <a:p>
            <a:pPr algn="just">
              <a:lnSpc>
                <a:spcPct val="120000"/>
              </a:lnSpc>
            </a:pPr>
            <a:endParaRPr lang="en-US" sz="2000" dirty="0"/>
          </a:p>
          <a:p>
            <a:pPr marL="0" indent="0" algn="just">
              <a:lnSpc>
                <a:spcPct val="120000"/>
              </a:lnSpc>
              <a:buNone/>
            </a:pPr>
            <a:endParaRPr lang="en-US" sz="2000" dirty="0"/>
          </a:p>
          <a:p>
            <a:pPr algn="just">
              <a:lnSpc>
                <a:spcPct val="120000"/>
              </a:lnSpc>
            </a:pPr>
            <a:r>
              <a:rPr lang="en-US" sz="2000" dirty="0"/>
              <a:t>Karena immutable </a:t>
            </a:r>
            <a:r>
              <a:rPr lang="en-US" sz="2000" dirty="0" err="1"/>
              <a:t>adalah</a:t>
            </a:r>
            <a:r>
              <a:rPr lang="en-US" sz="2000" dirty="0"/>
              <a:t> salah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sifat</a:t>
            </a:r>
            <a:r>
              <a:rPr lang="en-US" sz="2000" dirty="0"/>
              <a:t> tuple,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mengubah</a:t>
            </a:r>
            <a:r>
              <a:rPr lang="en-US" sz="2000" dirty="0"/>
              <a:t>, </a:t>
            </a:r>
            <a:r>
              <a:rPr lang="en-US" sz="2000" dirty="0" err="1"/>
              <a:t>menambah</a:t>
            </a:r>
            <a:r>
              <a:rPr lang="en-US" sz="2000" dirty="0"/>
              <a:t>, </a:t>
            </a:r>
            <a:r>
              <a:rPr lang="en-US" sz="2000" dirty="0" err="1"/>
              <a:t>menghapus</a:t>
            </a:r>
            <a:r>
              <a:rPr lang="en-US" sz="2000" dirty="0"/>
              <a:t> item yang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dibuat</a:t>
            </a:r>
            <a:r>
              <a:rPr lang="en-US" sz="2000" dirty="0"/>
              <a:t> di list</a:t>
            </a:r>
          </a:p>
          <a:p>
            <a:pPr algn="just">
              <a:lnSpc>
                <a:spcPct val="120000"/>
              </a:lnSpc>
            </a:pP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mengubah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item pada tuple, </a:t>
            </a:r>
            <a:r>
              <a:rPr lang="en-US" sz="2000" dirty="0" err="1"/>
              <a:t>kita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mengubahnya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list </a:t>
            </a:r>
            <a:r>
              <a:rPr lang="en-US" sz="2000" dirty="0" err="1"/>
              <a:t>terlebih</a:t>
            </a:r>
            <a:r>
              <a:rPr lang="en-US" sz="2000" dirty="0"/>
              <a:t> </a:t>
            </a:r>
            <a:r>
              <a:rPr lang="en-US" sz="2000" dirty="0" err="1"/>
              <a:t>dahulu</a:t>
            </a:r>
            <a:endParaRPr lang="en-US" sz="2000" dirty="0"/>
          </a:p>
          <a:p>
            <a:pPr marL="0" indent="0" algn="just">
              <a:lnSpc>
                <a:spcPct val="120000"/>
              </a:lnSpc>
              <a:buNone/>
            </a:pPr>
            <a:endParaRPr lang="en-US" sz="2000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68B25BDB-2145-EC26-5E48-BD67F75FF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599" y="2402600"/>
            <a:ext cx="5424990" cy="79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3" name="Picture 3">
            <a:extLst>
              <a:ext uri="{FF2B5EF4-FFF2-40B4-BE49-F238E27FC236}">
                <a16:creationId xmlns:a16="http://schemas.microsoft.com/office/drawing/2014/main" id="{6A09B81E-C007-F71E-FFA2-D71DD0347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377" y="5159014"/>
            <a:ext cx="5857790" cy="133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993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F9BB-3DE6-1804-90D0-0DFAE748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70ED-ECFA-5709-0118-481F43AE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Manipulasi</a:t>
            </a:r>
            <a:r>
              <a:rPr lang="en-US" sz="2000" dirty="0"/>
              <a:t> data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menambah</a:t>
            </a:r>
            <a:r>
              <a:rPr lang="en-US" sz="2000" dirty="0"/>
              <a:t> item tuple di index </a:t>
            </a:r>
            <a:r>
              <a:rPr lang="en-US" sz="2000" dirty="0" err="1"/>
              <a:t>tertentu</a:t>
            </a: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Manipulasi</a:t>
            </a:r>
            <a:r>
              <a:rPr lang="en-US" sz="2000" dirty="0"/>
              <a:t> data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menghapus</a:t>
            </a:r>
            <a:r>
              <a:rPr lang="en-US" sz="2000" dirty="0"/>
              <a:t> item tuple di index </a:t>
            </a:r>
            <a:r>
              <a:rPr lang="en-US" sz="2000" dirty="0" err="1"/>
              <a:t>tertentu</a:t>
            </a:r>
            <a:endParaRPr lang="en-US" sz="20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6AB476D-59D4-1A26-D734-F3068CA70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902" y="2558101"/>
            <a:ext cx="4722792" cy="1082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7" name="Picture 3">
            <a:extLst>
              <a:ext uri="{FF2B5EF4-FFF2-40B4-BE49-F238E27FC236}">
                <a16:creationId xmlns:a16="http://schemas.microsoft.com/office/drawing/2014/main" id="{3FA4D758-2E16-9412-961C-496342C0E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63" y="4895943"/>
            <a:ext cx="6010958" cy="138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608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F9BB-3DE6-1804-90D0-0DFAE748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70ED-ECFA-5709-0118-481F43AE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 err="1"/>
              <a:t>Manipulasi</a:t>
            </a:r>
            <a:r>
              <a:rPr lang="en-US" sz="2000" dirty="0"/>
              <a:t> data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menambah</a:t>
            </a:r>
            <a:r>
              <a:rPr lang="en-US" sz="2000" dirty="0"/>
              <a:t> item tuple di index </a:t>
            </a:r>
            <a:r>
              <a:rPr lang="en-US" sz="2000" dirty="0" err="1"/>
              <a:t>terakhir</a:t>
            </a: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/>
              <a:t>Tuple juga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data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 yang </a:t>
            </a:r>
            <a:r>
              <a:rPr lang="en-US" sz="2000" dirty="0" err="1"/>
              <a:t>berbeda</a:t>
            </a:r>
            <a:endParaRPr lang="en-US" sz="2000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06D56193-2E8F-029D-DD43-CC602A4A3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767" y="2885472"/>
            <a:ext cx="5671916" cy="130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>
            <a:extLst>
              <a:ext uri="{FF2B5EF4-FFF2-40B4-BE49-F238E27FC236}">
                <a16:creationId xmlns:a16="http://schemas.microsoft.com/office/drawing/2014/main" id="{65F92578-2DED-B7E5-A5A8-AF378C504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51" y="5249271"/>
            <a:ext cx="7255398" cy="84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249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F9BB-3DE6-1804-90D0-0DFAE748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Data: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70ED-ECFA-5709-0118-481F43AE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/>
              <a:t>Packing </a:t>
            </a:r>
            <a:r>
              <a:rPr lang="en-US" sz="2000" dirty="0" err="1"/>
              <a:t>dalam</a:t>
            </a:r>
            <a:r>
              <a:rPr lang="en-US" sz="2000" dirty="0"/>
              <a:t> tuple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ketika</a:t>
            </a:r>
            <a:r>
              <a:rPr lang="en-US" sz="2000" dirty="0"/>
              <a:t> program </a:t>
            </a:r>
            <a:r>
              <a:rPr lang="en-US" sz="2000" dirty="0" err="1"/>
              <a:t>membuat</a:t>
            </a:r>
            <a:r>
              <a:rPr lang="en-US" sz="2000" dirty="0"/>
              <a:t> tuple dan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pada tuple </a:t>
            </a:r>
            <a:r>
              <a:rPr lang="en-US" sz="2000" dirty="0" err="1"/>
              <a:t>tersebut</a:t>
            </a:r>
            <a:endParaRPr lang="en-US" sz="2000" dirty="0"/>
          </a:p>
          <a:p>
            <a:pPr algn="just">
              <a:lnSpc>
                <a:spcPct val="100000"/>
              </a:lnSpc>
            </a:pPr>
            <a:r>
              <a:rPr lang="en-US" sz="2000" dirty="0" err="1"/>
              <a:t>Dalam</a:t>
            </a:r>
            <a:r>
              <a:rPr lang="en-US" sz="2000" dirty="0"/>
              <a:t> Python, tuple juga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diekstrak</a:t>
            </a:r>
            <a:r>
              <a:rPr lang="en-US" sz="2000" dirty="0"/>
              <a:t> </a:t>
            </a:r>
            <a:r>
              <a:rPr lang="en-US" sz="2000" dirty="0" err="1"/>
              <a:t>kembali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variable yang </a:t>
            </a:r>
            <a:r>
              <a:rPr lang="en-US" sz="2000" dirty="0" err="1"/>
              <a:t>disebut</a:t>
            </a:r>
            <a:r>
              <a:rPr lang="en-US" sz="2000" dirty="0"/>
              <a:t> unpacking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281AADF2-110D-5F7D-F641-9617D70BB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00209"/>
            <a:ext cx="79756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172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14E4-44EA-5FA8-95A8-FBF210C3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2C9B3-4E95-059D-01C6-FEA036F74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Manakah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yang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tuple di Python?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Mutable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Allows Duplicate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Ordered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Allows different data types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Immutable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Manakah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yang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Tuple?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tuple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siku “[ ]”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Tuple </a:t>
            </a:r>
            <a:r>
              <a:rPr lang="en-US" dirty="0" err="1"/>
              <a:t>bersifat</a:t>
            </a:r>
            <a:r>
              <a:rPr lang="en-US" dirty="0"/>
              <a:t> mutable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itemnya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ditambah</a:t>
            </a:r>
            <a:r>
              <a:rPr lang="en-US" dirty="0"/>
              <a:t>, </a:t>
            </a:r>
            <a:r>
              <a:rPr lang="en-US" dirty="0" err="1"/>
              <a:t>dihapus</a:t>
            </a:r>
            <a:r>
              <a:rPr lang="en-US" dirty="0"/>
              <a:t>, dan </a:t>
            </a:r>
            <a:r>
              <a:rPr lang="en-US" dirty="0" err="1"/>
              <a:t>diubah</a:t>
            </a:r>
            <a:endParaRPr lang="en-US" dirty="0"/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Maksimal</a:t>
            </a:r>
            <a:r>
              <a:rPr lang="en-US" dirty="0"/>
              <a:t> item di tuple </a:t>
            </a:r>
            <a:r>
              <a:rPr lang="en-US" dirty="0" err="1"/>
              <a:t>yaitu</a:t>
            </a:r>
            <a:r>
              <a:rPr lang="en-US" dirty="0"/>
              <a:t> 10 </a:t>
            </a:r>
            <a:r>
              <a:rPr lang="en-US" dirty="0" err="1"/>
              <a:t>buah</a:t>
            </a:r>
            <a:endParaRPr lang="en-US" dirty="0"/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Tuple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mengenal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index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item di tuple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list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509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F04C96-CECB-8E26-9461-EDD21ED4F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637E95-DDDB-23EA-A598-0445CAC2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952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ECF2-CAE7-99FF-0931-F7AD64B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E0BA-9D1F-E88C-95E8-3E3558F6B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800" dirty="0" err="1"/>
              <a:t>Buatlah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list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buah</a:t>
            </a:r>
            <a:r>
              <a:rPr lang="en-US" sz="1800" dirty="0"/>
              <a:t> = ["</a:t>
            </a:r>
            <a:r>
              <a:rPr lang="en-US" sz="1800" dirty="0" err="1"/>
              <a:t>apel</a:t>
            </a:r>
            <a:r>
              <a:rPr lang="en-US" sz="1800" dirty="0"/>
              <a:t>", "</a:t>
            </a:r>
            <a:r>
              <a:rPr lang="en-US" sz="1800" dirty="0" err="1"/>
              <a:t>jeruk</a:t>
            </a:r>
            <a:r>
              <a:rPr lang="en-US" sz="1800" dirty="0"/>
              <a:t>", "</a:t>
            </a:r>
            <a:r>
              <a:rPr lang="en-US" sz="1800" dirty="0" err="1"/>
              <a:t>ceri</a:t>
            </a:r>
            <a:r>
              <a:rPr lang="en-US" sz="1800" dirty="0"/>
              <a:t>", "durian", "</a:t>
            </a:r>
            <a:r>
              <a:rPr lang="en-US" sz="1800" dirty="0" err="1"/>
              <a:t>apel</a:t>
            </a:r>
            <a:r>
              <a:rPr lang="en-US" sz="1800" dirty="0"/>
              <a:t>“, “</a:t>
            </a:r>
            <a:r>
              <a:rPr lang="en-US" sz="1800" dirty="0" err="1"/>
              <a:t>mangga</a:t>
            </a:r>
            <a:r>
              <a:rPr lang="en-US" sz="1800" dirty="0"/>
              <a:t>“]</a:t>
            </a:r>
          </a:p>
          <a:p>
            <a:pPr marL="51435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sz="1800" dirty="0" err="1"/>
              <a:t>Ganti</a:t>
            </a:r>
            <a:r>
              <a:rPr lang="en-US" sz="1800" dirty="0"/>
              <a:t> item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nama</a:t>
            </a:r>
            <a:r>
              <a:rPr lang="en-US" sz="1800" dirty="0"/>
              <a:t> “</a:t>
            </a:r>
            <a:r>
              <a:rPr lang="en-US" sz="1800" dirty="0" err="1"/>
              <a:t>ceri</a:t>
            </a:r>
            <a:r>
              <a:rPr lang="en-US" sz="1800" dirty="0"/>
              <a:t>” </a:t>
            </a:r>
            <a:r>
              <a:rPr lang="en-US" sz="1800" dirty="0" err="1"/>
              <a:t>menjadi</a:t>
            </a:r>
            <a:r>
              <a:rPr lang="en-US" sz="1800" dirty="0"/>
              <a:t> “cherry”</a:t>
            </a:r>
          </a:p>
          <a:p>
            <a:pPr marL="51435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sz="1800" dirty="0" err="1"/>
              <a:t>Tambahkan</a:t>
            </a:r>
            <a:r>
              <a:rPr lang="en-US" sz="1800" dirty="0"/>
              <a:t> item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nama</a:t>
            </a:r>
            <a:r>
              <a:rPr lang="en-US" sz="1800" dirty="0"/>
              <a:t> dan index yang </a:t>
            </a:r>
            <a:r>
              <a:rPr lang="en-US" sz="1800" dirty="0" err="1"/>
              <a:t>ditentukan</a:t>
            </a:r>
            <a:r>
              <a:rPr lang="en-US" sz="1800" dirty="0"/>
              <a:t> oleh User</a:t>
            </a:r>
          </a:p>
          <a:p>
            <a:pPr marL="51435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sz="1800" dirty="0" err="1"/>
              <a:t>Urutkan</a:t>
            </a:r>
            <a:r>
              <a:rPr lang="en-US" sz="1800" dirty="0"/>
              <a:t> item pada list </a:t>
            </a:r>
            <a:r>
              <a:rPr lang="en-US" sz="1800" dirty="0" err="1"/>
              <a:t>sesuai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abjadnya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55446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93BB30-4A18-3183-E559-E9B002B77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7163A0-6FA9-F4CE-82A4-4A3280F6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Individu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11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DAB80-0E70-2C45-B9F3-54C9051D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Mandiri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8E3E0-8794-3B47-33A7-1C52951B8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1. </a:t>
            </a:r>
            <a:r>
              <a:rPr lang="en-US" sz="1800" dirty="0" err="1"/>
              <a:t>Diketahui</a:t>
            </a:r>
            <a:r>
              <a:rPr lang="en-US" sz="1800" dirty="0"/>
              <a:t> list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10 </a:t>
            </a:r>
            <a:r>
              <a:rPr lang="en-US" sz="1800" dirty="0" err="1"/>
              <a:t>mahasiswa</a:t>
            </a:r>
            <a:r>
              <a:rPr lang="en-US" sz="1800" dirty="0"/>
              <a:t>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berikut</a:t>
            </a:r>
            <a:r>
              <a:rPr lang="en-US" sz="1800" dirty="0"/>
              <a:t>: 88, 75, 63, 97, 82, 74, 91, 80, 81, 63</a:t>
            </a:r>
          </a:p>
          <a:p>
            <a:pPr marL="628650" indent="-339725">
              <a:lnSpc>
                <a:spcPct val="120000"/>
              </a:lnSpc>
              <a:buFont typeface="+mj-lt"/>
              <a:buAutoNum type="alphaLcPeriod"/>
            </a:pPr>
            <a:r>
              <a:rPr lang="en-US" sz="1800" dirty="0" err="1"/>
              <a:t>Tampilkan</a:t>
            </a:r>
            <a:r>
              <a:rPr lang="en-US" sz="1800" dirty="0"/>
              <a:t> data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maksimum</a:t>
            </a:r>
            <a:r>
              <a:rPr lang="en-US" sz="1800" dirty="0"/>
              <a:t>, minimum, dan </a:t>
            </a:r>
            <a:r>
              <a:rPr lang="en-US" sz="1800" dirty="0" err="1"/>
              <a:t>nilai</a:t>
            </a:r>
            <a:r>
              <a:rPr lang="en-US" sz="1800" dirty="0"/>
              <a:t> rata-rata </a:t>
            </a:r>
            <a:r>
              <a:rPr lang="en-US" sz="1800" dirty="0" err="1"/>
              <a:t>dari</a:t>
            </a:r>
            <a:r>
              <a:rPr lang="en-US" sz="1800" dirty="0"/>
              <a:t> daftar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tersebut</a:t>
            </a:r>
            <a:r>
              <a:rPr lang="en-US" sz="1800" dirty="0"/>
              <a:t>.</a:t>
            </a:r>
          </a:p>
          <a:p>
            <a:pPr marL="628650" indent="-339725">
              <a:lnSpc>
                <a:spcPct val="120000"/>
              </a:lnSpc>
              <a:buFont typeface="+mj-lt"/>
              <a:buAutoNum type="alphaLcPeriod"/>
            </a:pPr>
            <a:r>
              <a:rPr lang="en-US" sz="1800" dirty="0" err="1"/>
              <a:t>Tampilkan</a:t>
            </a:r>
            <a:r>
              <a:rPr lang="en-US" sz="1800" dirty="0"/>
              <a:t> </a:t>
            </a:r>
            <a:r>
              <a:rPr lang="en-US" sz="1800" dirty="0" err="1"/>
              <a:t>angka</a:t>
            </a:r>
            <a:r>
              <a:rPr lang="en-US" sz="1800" dirty="0"/>
              <a:t> </a:t>
            </a:r>
            <a:r>
              <a:rPr lang="en-US" sz="1800" dirty="0" err="1"/>
              <a:t>terbesar</a:t>
            </a:r>
            <a:r>
              <a:rPr lang="en-US" sz="1800" dirty="0"/>
              <a:t> </a:t>
            </a:r>
            <a:r>
              <a:rPr lang="en-US" sz="1800" dirty="0" err="1"/>
              <a:t>kedua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daftar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tersebut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br>
              <a:rPr lang="en-US" sz="1800" dirty="0"/>
            </a:br>
            <a:r>
              <a:rPr lang="en-US" sz="1800" dirty="0"/>
              <a:t>2. </a:t>
            </a:r>
            <a:r>
              <a:rPr lang="en-US" sz="1800" dirty="0" err="1"/>
              <a:t>Diketahui</a:t>
            </a:r>
            <a:r>
              <a:rPr lang="en-US" sz="1800" dirty="0"/>
              <a:t> tuple yang </a:t>
            </a:r>
            <a:r>
              <a:rPr lang="en-US" sz="1800" dirty="0" err="1"/>
              <a:t>berisi</a:t>
            </a:r>
            <a:r>
              <a:rPr lang="en-US" sz="1800" dirty="0"/>
              <a:t> daftar </a:t>
            </a:r>
            <a:r>
              <a:rPr lang="en-US" sz="1800" dirty="0" err="1"/>
              <a:t>pasangan</a:t>
            </a:r>
            <a:r>
              <a:rPr lang="en-US" sz="1800" dirty="0"/>
              <a:t> (latitude, longitude)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lokasi</a:t>
            </a:r>
            <a:r>
              <a:rPr lang="en-US" sz="1800" dirty="0"/>
              <a:t>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berikut</a:t>
            </a:r>
            <a:r>
              <a:rPr lang="en-US" sz="1800" dirty="0"/>
              <a:t>:</a:t>
            </a:r>
          </a:p>
          <a:p>
            <a:pPr marL="938213" indent="-215900">
              <a:lnSpc>
                <a:spcPct val="120000"/>
              </a:lnSpc>
            </a:pPr>
            <a:r>
              <a:rPr lang="en-US" sz="1800" dirty="0" err="1"/>
              <a:t>jakarta</a:t>
            </a:r>
            <a:r>
              <a:rPr lang="en-US" sz="1800" dirty="0"/>
              <a:t> = (-6.2088, 106.8456)</a:t>
            </a:r>
          </a:p>
          <a:p>
            <a:pPr marL="938213" indent="-215900">
              <a:lnSpc>
                <a:spcPct val="120000"/>
              </a:lnSpc>
            </a:pPr>
            <a:r>
              <a:rPr lang="en-US" sz="1800" dirty="0"/>
              <a:t>Bandung: (-6.9175, 107.6191)</a:t>
            </a:r>
          </a:p>
          <a:p>
            <a:pPr marL="938213" indent="-215900">
              <a:lnSpc>
                <a:spcPct val="120000"/>
              </a:lnSpc>
            </a:pPr>
            <a:r>
              <a:rPr lang="en-US" sz="1800" dirty="0"/>
              <a:t>Surabaya: (-7.2575, 112.7521)</a:t>
            </a:r>
          </a:p>
          <a:p>
            <a:pPr marL="628650" indent="-339725">
              <a:lnSpc>
                <a:spcPct val="120000"/>
              </a:lnSpc>
              <a:buFont typeface="+mj-lt"/>
              <a:buAutoNum type="alphaLcPeriod"/>
            </a:pPr>
            <a:r>
              <a:rPr lang="en-US" sz="1800" dirty="0" err="1"/>
              <a:t>Tampilkan</a:t>
            </a:r>
            <a:r>
              <a:rPr lang="en-US" sz="1800" dirty="0"/>
              <a:t> data </a:t>
            </a:r>
            <a:r>
              <a:rPr lang="en-US" sz="1800" dirty="0" err="1"/>
              <a:t>koordinat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kota</a:t>
            </a:r>
            <a:r>
              <a:rPr lang="en-US" sz="1800" dirty="0"/>
              <a:t> </a:t>
            </a:r>
            <a:r>
              <a:rPr lang="en-US" sz="1800" dirty="0" err="1"/>
              <a:t>bandung</a:t>
            </a:r>
            <a:endParaRPr lang="en-US" sz="1800" dirty="0"/>
          </a:p>
          <a:p>
            <a:pPr marL="628650" indent="-339725">
              <a:lnSpc>
                <a:spcPct val="120000"/>
              </a:lnSpc>
              <a:buFont typeface="+mj-lt"/>
              <a:buAutoNum type="alphaLcPeriod"/>
            </a:pPr>
            <a:r>
              <a:rPr lang="en-US" sz="1800" dirty="0" err="1"/>
              <a:t>Tampilkan</a:t>
            </a:r>
            <a:r>
              <a:rPr lang="en-US" sz="1800" dirty="0"/>
              <a:t> </a:t>
            </a:r>
            <a:r>
              <a:rPr lang="en-US" sz="1800" dirty="0" err="1"/>
              <a:t>jumlah</a:t>
            </a:r>
            <a:r>
              <a:rPr lang="en-US" sz="1800" dirty="0"/>
              <a:t> </a:t>
            </a:r>
            <a:r>
              <a:rPr lang="en-US" sz="1800" dirty="0" err="1"/>
              <a:t>lokasi</a:t>
            </a:r>
            <a:r>
              <a:rPr lang="en-US" sz="1800" dirty="0"/>
              <a:t> yang </a:t>
            </a:r>
            <a:r>
              <a:rPr lang="en-US" sz="1800" dirty="0" err="1"/>
              <a:t>tersimpan</a:t>
            </a:r>
            <a:endParaRPr lang="en-US" sz="1800" dirty="0"/>
          </a:p>
          <a:p>
            <a:pPr>
              <a:lnSpc>
                <a:spcPct val="12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33012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8439-5739-85A6-51F5-EC161539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Mandiri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D33F0-187A-69C1-792B-CB25D96FA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Buatlah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program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meminta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user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memasukkan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ID" b="1" dirty="0">
                <a:solidFill>
                  <a:srgbClr val="000000"/>
                </a:solidFill>
                <a:latin typeface="-webkit-standard"/>
              </a:rPr>
              <a:t>10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nama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teman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sekaligus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dalam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satu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baris,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lalu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simpan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kedalam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list</a:t>
            </a:r>
          </a:p>
          <a:p>
            <a:pPr lvl="1"/>
            <a:r>
              <a:rPr lang="en-ID" dirty="0" err="1">
                <a:solidFill>
                  <a:srgbClr val="000000"/>
                </a:solidFill>
                <a:latin typeface="-webkit-standard"/>
              </a:rPr>
              <a:t>Contoh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: </a:t>
            </a:r>
          </a:p>
          <a:p>
            <a:pPr lvl="2"/>
            <a:r>
              <a:rPr lang="en-ID" dirty="0">
                <a:solidFill>
                  <a:srgbClr val="000000"/>
                </a:solidFill>
                <a:latin typeface="-webkit-standard"/>
              </a:rPr>
              <a:t>Input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nama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teman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: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abi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bia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cia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aci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ica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iba</a:t>
            </a:r>
            <a:endParaRPr lang="en-ID" dirty="0">
              <a:solidFill>
                <a:srgbClr val="000000"/>
              </a:solidFill>
              <a:latin typeface="-webkit-standard"/>
            </a:endParaRPr>
          </a:p>
          <a:p>
            <a:pPr lvl="2"/>
            <a:r>
              <a:rPr lang="en-ID" dirty="0">
                <a:solidFill>
                  <a:srgbClr val="000000"/>
                </a:solidFill>
                <a:latin typeface="-webkit-standard"/>
              </a:rPr>
              <a:t>Output: [‘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abi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’, ’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bia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’, ‘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cia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’, ‘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aci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’, ‘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ica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’, ‘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iba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’]</a:t>
            </a:r>
          </a:p>
        </p:txBody>
      </p:sp>
    </p:spTree>
    <p:extLst>
      <p:ext uri="{BB962C8B-B14F-4D97-AF65-F5344CB8AC3E}">
        <p14:creationId xmlns:p14="http://schemas.microsoft.com/office/powerpoint/2010/main" val="61116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03864"/>
      </a:accent1>
      <a:accent2>
        <a:srgbClr val="A8836F"/>
      </a:accent2>
      <a:accent3>
        <a:srgbClr val="F4F4F4"/>
      </a:accent3>
      <a:accent4>
        <a:srgbClr val="A38500"/>
      </a:accent4>
      <a:accent5>
        <a:srgbClr val="5B9BD5"/>
      </a:accent5>
      <a:accent6>
        <a:srgbClr val="527F5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1056</Words>
  <Application>Microsoft Macintosh PowerPoint</Application>
  <PresentationFormat>Widescreen</PresentationFormat>
  <Paragraphs>251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-webkit-standard</vt:lpstr>
      <vt:lpstr>Aharoni</vt:lpstr>
      <vt:lpstr>Arial</vt:lpstr>
      <vt:lpstr>Calibri</vt:lpstr>
      <vt:lpstr>Calibri Light</vt:lpstr>
      <vt:lpstr>Gill Sans MT</vt:lpstr>
      <vt:lpstr>Montserrat</vt:lpstr>
      <vt:lpstr>Office Theme</vt:lpstr>
      <vt:lpstr>TIPE DATA  (BAG 2: LIST DAN TUPLE)</vt:lpstr>
      <vt:lpstr>PRETEST</vt:lpstr>
      <vt:lpstr>Sequence Data Type</vt:lpstr>
      <vt:lpstr>Tipe Data: Sequence</vt:lpstr>
      <vt:lpstr>Data Type : List</vt:lpstr>
      <vt:lpstr>Tipe Data: List</vt:lpstr>
      <vt:lpstr>Tipe Data: List</vt:lpstr>
      <vt:lpstr>Tipe Data: List</vt:lpstr>
      <vt:lpstr>Tipe Data: List</vt:lpstr>
      <vt:lpstr>Tipe Data: List</vt:lpstr>
      <vt:lpstr>Tipe Data: List</vt:lpstr>
      <vt:lpstr>Tipe Data: List Method</vt:lpstr>
      <vt:lpstr>Quiz</vt:lpstr>
      <vt:lpstr>Data Type: Tuple</vt:lpstr>
      <vt:lpstr>Tipe Data: Tuple</vt:lpstr>
      <vt:lpstr>Tipe Data: Tuple</vt:lpstr>
      <vt:lpstr>Tipe Data: Tuple</vt:lpstr>
      <vt:lpstr>Tipe Data: Tuple</vt:lpstr>
      <vt:lpstr>Tipe Data: Tuple</vt:lpstr>
      <vt:lpstr>Tipe Data: Tuple</vt:lpstr>
      <vt:lpstr>Quiz</vt:lpstr>
      <vt:lpstr>Studi Kasus</vt:lpstr>
      <vt:lpstr>Studi Kasus</vt:lpstr>
      <vt:lpstr>Tugas Individu</vt:lpstr>
      <vt:lpstr>Tugas Mandiri</vt:lpstr>
      <vt:lpstr>Tugas Mandiri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indirasyawanodya</dc:creator>
  <cp:lastModifiedBy>indirasyawanodya</cp:lastModifiedBy>
  <cp:revision>10</cp:revision>
  <dcterms:created xsi:type="dcterms:W3CDTF">2025-08-15T01:30:00Z</dcterms:created>
  <dcterms:modified xsi:type="dcterms:W3CDTF">2025-09-18T06:54:11Z</dcterms:modified>
</cp:coreProperties>
</file>