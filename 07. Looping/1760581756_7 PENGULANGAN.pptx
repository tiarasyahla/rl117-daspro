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32"/>
    <p:restoredTop sz="96296"/>
  </p:normalViewPr>
  <p:slideViewPr>
    <p:cSldViewPr snapToGrid="0">
      <p:cViewPr varScale="1">
        <p:scale>
          <a:sx n="118" d="100"/>
          <a:sy n="118" d="100"/>
        </p:scale>
        <p:origin x="2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05272-72D5-F345-94B5-CCE264DD64C5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FC485-BAB3-DB4D-8232-AFA43C57E7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8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760C-150A-D504-E74E-46B2CD722AE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8638" y="2025564"/>
            <a:ext cx="6683923" cy="2387600"/>
          </a:xfrm>
        </p:spPr>
        <p:txBody>
          <a:bodyPr anchor="b">
            <a:noAutofit/>
          </a:bodyPr>
          <a:lstStyle>
            <a:lvl1pPr algn="l">
              <a:defRPr sz="5400" b="1" i="0"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F35F9-698B-DA5C-C7FF-2A9514211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042681" cy="718073"/>
          </a:xfrm>
        </p:spPr>
        <p:txBody>
          <a:bodyPr/>
          <a:lstStyle>
            <a:lvl1pPr marL="0" indent="0" algn="ctr">
              <a:buNone/>
              <a:defRPr sz="2400" b="1" i="0"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33BD6FD-C059-80B4-333E-ACA6245ED5B1}"/>
              </a:ext>
            </a:extLst>
          </p:cNvPr>
          <p:cNvSpPr/>
          <p:nvPr userDrawn="1"/>
        </p:nvSpPr>
        <p:spPr>
          <a:xfrm>
            <a:off x="-1090037" y="-2714590"/>
            <a:ext cx="6940440" cy="6705041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3CAD99F5-8EB6-6CE3-49FA-74FD8735816E}"/>
              </a:ext>
            </a:extLst>
          </p:cNvPr>
          <p:cNvSpPr/>
          <p:nvPr userDrawn="1"/>
        </p:nvSpPr>
        <p:spPr>
          <a:xfrm>
            <a:off x="-2704898" y="2272421"/>
            <a:ext cx="4585579" cy="458557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9AA94A3-1D0B-95B3-DF97-48B827321325}"/>
              </a:ext>
            </a:extLst>
          </p:cNvPr>
          <p:cNvSpPr/>
          <p:nvPr userDrawn="1"/>
        </p:nvSpPr>
        <p:spPr>
          <a:xfrm>
            <a:off x="239439" y="4835878"/>
            <a:ext cx="4585578" cy="4585578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177270-A6A6-64D5-9347-308E71A1CC3A}"/>
              </a:ext>
            </a:extLst>
          </p:cNvPr>
          <p:cNvSpPr txBox="1"/>
          <p:nvPr userDrawn="1"/>
        </p:nvSpPr>
        <p:spPr>
          <a:xfrm>
            <a:off x="681033" y="637930"/>
            <a:ext cx="4143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latin typeface="Gill Sans MT" panose="020B0502020104020203" pitchFamily="34" charset="77"/>
              </a:rPr>
              <a:t>REKAYASA PERANGKAT LUNAK</a:t>
            </a:r>
          </a:p>
        </p:txBody>
      </p:sp>
    </p:spTree>
    <p:extLst>
      <p:ext uri="{BB962C8B-B14F-4D97-AF65-F5344CB8AC3E}">
        <p14:creationId xmlns:p14="http://schemas.microsoft.com/office/powerpoint/2010/main" val="65878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515C394D-C021-DF68-DBDD-E9413F9061B7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3C90-8185-169A-D4A8-DB18D76D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C741D-17FE-FCFD-3E2B-5C327401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378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8919F672-3EBD-7ED0-57D7-0C747184B83C}"/>
              </a:ext>
            </a:extLst>
          </p:cNvPr>
          <p:cNvSpPr/>
          <p:nvPr userDrawn="1"/>
        </p:nvSpPr>
        <p:spPr>
          <a:xfrm rot="673413">
            <a:off x="6773829" y="-485966"/>
            <a:ext cx="8137998" cy="7829930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CE2D0-AB6C-07B4-2C4E-8481F7272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4710821" cy="2852737"/>
          </a:xfrm>
        </p:spPr>
        <p:txBody>
          <a:bodyPr anchor="b"/>
          <a:lstStyle>
            <a:lvl1pPr>
              <a:defRPr sz="60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12767-782B-0360-24AC-B6F385029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47108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BC4F8A94-35F1-F519-5C09-D2A510CC50EB}"/>
              </a:ext>
            </a:extLst>
          </p:cNvPr>
          <p:cNvGrpSpPr/>
          <p:nvPr userDrawn="1"/>
        </p:nvGrpSpPr>
        <p:grpSpPr>
          <a:xfrm>
            <a:off x="7462998" y="269295"/>
            <a:ext cx="7077020" cy="6588705"/>
            <a:chOff x="0" y="0"/>
            <a:chExt cx="6350000" cy="591185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F3253A5D-723C-8310-5D9B-18494A980C46}"/>
                </a:ext>
              </a:extLst>
            </p:cNvPr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4762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41FBA89D-3B3E-26C9-52EA-7C0C1DC8245D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99B3262B-727C-1F17-EE1F-677F84EBE0D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57ECD795-11BC-4A89-6929-93D19409EF4E}"/>
              </a:ext>
            </a:extLst>
          </p:cNvPr>
          <p:cNvGrpSpPr/>
          <p:nvPr userDrawn="1"/>
        </p:nvGrpSpPr>
        <p:grpSpPr>
          <a:xfrm>
            <a:off x="0" y="0"/>
            <a:ext cx="12192000" cy="1927274"/>
            <a:chOff x="0" y="0"/>
            <a:chExt cx="24384000" cy="5030819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CF9B217B-C26C-AC73-48B8-119D8EEA0305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082680-88F3-E286-ADA0-7C49EFD14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sz="4000"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05A69-E81E-8AA0-7FA6-FBC212CB7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153CA-69A6-56E8-DB28-7618EE3AA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41537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91F7AADE-8EE6-9338-8160-470CE767CEE3}"/>
              </a:ext>
            </a:extLst>
          </p:cNvPr>
          <p:cNvSpPr/>
          <p:nvPr userDrawn="1"/>
        </p:nvSpPr>
        <p:spPr>
          <a:xfrm>
            <a:off x="5672782" y="-530349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17BE3EE1-AA84-0B65-856D-B22A46A14E02}"/>
              </a:ext>
            </a:extLst>
          </p:cNvPr>
          <p:cNvSpPr/>
          <p:nvPr userDrawn="1"/>
        </p:nvSpPr>
        <p:spPr>
          <a:xfrm>
            <a:off x="5672782" y="6492875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2335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43C6-3AC3-2E23-CED3-8F0902072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07808-550C-EDA3-8C1E-B5D90DC6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8A83F-B8C6-9850-B9F0-C84609FB0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29018-CFBE-502E-B83F-59B76511D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A4C0-6A9A-3ABA-165C-920EFF089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34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9">
            <a:extLst>
              <a:ext uri="{FF2B5EF4-FFF2-40B4-BE49-F238E27FC236}">
                <a16:creationId xmlns:a16="http://schemas.microsoft.com/office/drawing/2014/main" id="{EC4EECB4-B97A-EA9E-5C81-890134F5E532}"/>
              </a:ext>
            </a:extLst>
          </p:cNvPr>
          <p:cNvSpPr/>
          <p:nvPr/>
        </p:nvSpPr>
        <p:spPr>
          <a:xfrm>
            <a:off x="0" y="6094827"/>
            <a:ext cx="12192000" cy="763173"/>
          </a:xfrm>
          <a:custGeom>
            <a:avLst/>
            <a:gdLst/>
            <a:ahLst/>
            <a:cxnLst/>
            <a:rect l="l" t="t" r="r" b="b"/>
            <a:pathLst>
              <a:path w="4816592" h="305799">
                <a:moveTo>
                  <a:pt x="0" y="0"/>
                </a:moveTo>
                <a:lnTo>
                  <a:pt x="4816592" y="0"/>
                </a:lnTo>
                <a:lnTo>
                  <a:pt x="4816592" y="305799"/>
                </a:lnTo>
                <a:lnTo>
                  <a:pt x="0" y="305799"/>
                </a:lnTo>
                <a:close/>
              </a:path>
            </a:pathLst>
          </a:custGeom>
          <a:solidFill>
            <a:srgbClr val="F4F4F4"/>
          </a:solidFill>
        </p:spPr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4349327-1A17-0CFE-2B8D-1D50261B5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chemeClr val="tx2">
                    <a:lumMod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reeform 7">
            <a:extLst>
              <a:ext uri="{FF2B5EF4-FFF2-40B4-BE49-F238E27FC236}">
                <a16:creationId xmlns:a16="http://schemas.microsoft.com/office/drawing/2014/main" id="{E6672B45-5413-EB9C-8B10-79FC60D4456A}"/>
              </a:ext>
            </a:extLst>
          </p:cNvPr>
          <p:cNvSpPr/>
          <p:nvPr userDrawn="1"/>
        </p:nvSpPr>
        <p:spPr>
          <a:xfrm>
            <a:off x="-460473" y="-548090"/>
            <a:ext cx="1826429" cy="1826429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0575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76D24A9-4C44-6B4D-E8B9-96558E200D82}"/>
              </a:ext>
            </a:extLst>
          </p:cNvPr>
          <p:cNvGrpSpPr/>
          <p:nvPr userDrawn="1"/>
        </p:nvGrpSpPr>
        <p:grpSpPr>
          <a:xfrm>
            <a:off x="0" y="5739616"/>
            <a:ext cx="12192000" cy="1188721"/>
            <a:chOff x="0" y="0"/>
            <a:chExt cx="24384000" cy="5030819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9DDA39D9-5441-E437-3D28-EADBA70D5CF1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solidFill>
              <a:srgbClr val="A9846F">
                <a:alpha val="13725"/>
              </a:srgbClr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AE33936C-1B41-E63A-F456-69A17879EB35}"/>
              </a:ext>
            </a:extLst>
          </p:cNvPr>
          <p:cNvGrpSpPr/>
          <p:nvPr userDrawn="1"/>
        </p:nvGrpSpPr>
        <p:grpSpPr>
          <a:xfrm>
            <a:off x="0" y="5739618"/>
            <a:ext cx="12192000" cy="1188720"/>
            <a:chOff x="0" y="0"/>
            <a:chExt cx="24384000" cy="5030819"/>
          </a:xfrm>
          <a:solidFill>
            <a:schemeClr val="accent1">
              <a:lumMod val="50000"/>
            </a:schemeClr>
          </a:solidFill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D7394CF8-83FD-AC32-F27D-5114C7C66E49}"/>
                </a:ext>
              </a:extLst>
            </p:cNvPr>
            <p:cNvSpPr/>
            <p:nvPr/>
          </p:nvSpPr>
          <p:spPr>
            <a:xfrm>
              <a:off x="0" y="0"/>
              <a:ext cx="24384000" cy="5030819"/>
            </a:xfrm>
            <a:prstGeom prst="rect">
              <a:avLst/>
            </a:prstGeom>
            <a:grpFill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Freeform 11">
            <a:extLst>
              <a:ext uri="{FF2B5EF4-FFF2-40B4-BE49-F238E27FC236}">
                <a16:creationId xmlns:a16="http://schemas.microsoft.com/office/drawing/2014/main" id="{CDFE3B20-4A60-BC55-80FA-9BF693759D68}"/>
              </a:ext>
            </a:extLst>
          </p:cNvPr>
          <p:cNvSpPr/>
          <p:nvPr userDrawn="1"/>
        </p:nvSpPr>
        <p:spPr>
          <a:xfrm>
            <a:off x="5672782" y="-423218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178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535A315B-011B-B841-4FBB-67716B0E6150}"/>
              </a:ext>
            </a:extLst>
          </p:cNvPr>
          <p:cNvSpPr/>
          <p:nvPr userDrawn="1"/>
        </p:nvSpPr>
        <p:spPr>
          <a:xfrm>
            <a:off x="-3453972" y="-850278"/>
            <a:ext cx="8558555" cy="8558555"/>
          </a:xfrm>
          <a:custGeom>
            <a:avLst/>
            <a:gdLst/>
            <a:ahLst/>
            <a:cxnLst/>
            <a:rect l="l" t="t" r="r" b="b"/>
            <a:pathLst>
              <a:path w="13960430" h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851FE-27BB-EA1B-9054-0A1F77D3C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23149" y="2162739"/>
            <a:ext cx="5618871" cy="2926715"/>
          </a:xfrm>
        </p:spPr>
        <p:txBody>
          <a:bodyPr/>
          <a:lstStyle>
            <a:lvl1pPr>
              <a:defRPr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9AE97C-A4D8-5599-F8F4-4F17A9779D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29263" y="352425"/>
            <a:ext cx="6302375" cy="6076950"/>
          </a:xfrm>
        </p:spPr>
        <p:txBody>
          <a:bodyPr>
            <a:normAutofit/>
          </a:bodyPr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222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2">
            <a:extLst>
              <a:ext uri="{FF2B5EF4-FFF2-40B4-BE49-F238E27FC236}">
                <a16:creationId xmlns:a16="http://schemas.microsoft.com/office/drawing/2014/main" id="{6E896274-BB9F-BD97-6D6C-EBC584D12450}"/>
              </a:ext>
            </a:extLst>
          </p:cNvPr>
          <p:cNvSpPr/>
          <p:nvPr userDrawn="1"/>
        </p:nvSpPr>
        <p:spPr>
          <a:xfrm>
            <a:off x="4582511" y="1906093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869B31BE-B7B2-0778-9449-B7438136502B}"/>
              </a:ext>
            </a:extLst>
          </p:cNvPr>
          <p:cNvSpPr/>
          <p:nvPr userDrawn="1"/>
        </p:nvSpPr>
        <p:spPr>
          <a:xfrm>
            <a:off x="4582511" y="439050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9A288E6-176F-BABA-2FDA-430F32189B98}"/>
              </a:ext>
            </a:extLst>
          </p:cNvPr>
          <p:cNvGrpSpPr/>
          <p:nvPr userDrawn="1"/>
        </p:nvGrpSpPr>
        <p:grpSpPr>
          <a:xfrm>
            <a:off x="0" y="0"/>
            <a:ext cx="5022166" cy="6858000"/>
            <a:chOff x="0" y="0"/>
            <a:chExt cx="2478633" cy="270933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69347F9-B76C-2B2A-6D73-865FF372C708}"/>
                </a:ext>
              </a:extLst>
            </p:cNvPr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552AED-E6F7-DBDB-BEEA-388D9E69665B}"/>
                </a:ext>
              </a:extLst>
            </p:cNvPr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A428EF-3210-DB4B-AB6C-880547C588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199"/>
            <a:ext cx="3932237" cy="2328203"/>
          </a:xfrm>
        </p:spPr>
        <p:txBody>
          <a:bodyPr anchor="b">
            <a:normAutofit/>
          </a:bodyPr>
          <a:lstStyle>
            <a:lvl1pPr>
              <a:defRPr sz="3600" b="1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97830-ABEC-8B43-C72D-4C4DFBD84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77"/>
              </a:defRPr>
            </a:lvl1pPr>
            <a:lvl2pPr>
              <a:defRPr sz="2800">
                <a:latin typeface="Gill Sans MT" panose="020B0502020104020203" pitchFamily="34" charset="77"/>
              </a:defRPr>
            </a:lvl2pPr>
            <a:lvl3pPr>
              <a:defRPr sz="2400">
                <a:latin typeface="Gill Sans MT" panose="020B0502020104020203" pitchFamily="34" charset="77"/>
              </a:defRPr>
            </a:lvl3pPr>
            <a:lvl4pPr>
              <a:defRPr sz="2000">
                <a:latin typeface="Gill Sans MT" panose="020B0502020104020203" pitchFamily="34" charset="77"/>
              </a:defRPr>
            </a:lvl4pPr>
            <a:lvl5pPr>
              <a:defRPr sz="2000">
                <a:latin typeface="Gill Sans MT" panose="020B0502020104020203" pitchFamily="34" charset="7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EED15-05C0-5249-CED6-E4472745B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12012"/>
            <a:ext cx="3932237" cy="295697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Gill Sans MT" panose="020B0502020104020203" pitchFamily="34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32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10BC-2A4E-4DC8-9DB8-02E205BBF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 i="0">
                <a:latin typeface="Gill Sans MT" panose="020B050202010402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E789763-E27E-A0EE-397B-C0C8844C3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2193925"/>
            <a:ext cx="3932237" cy="4038600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4E91ACBB-AF92-B3EB-35DE-F92A5FC9C32B}"/>
              </a:ext>
            </a:extLst>
          </p:cNvPr>
          <p:cNvGrpSpPr/>
          <p:nvPr userDrawn="1"/>
        </p:nvGrpSpPr>
        <p:grpSpPr>
          <a:xfrm>
            <a:off x="4772025" y="-509886"/>
            <a:ext cx="7877771" cy="7877771"/>
            <a:chOff x="0" y="0"/>
            <a:chExt cx="13141858" cy="13141858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9BCC494D-BBD8-4A6E-097B-6E21EFC86690}"/>
                </a:ext>
              </a:extLst>
            </p:cNvPr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C76A96AA-B38B-B3E0-9037-D51B0685AEC4}"/>
                </a:ext>
              </a:extLst>
            </p:cNvPr>
            <p:cNvSpPr/>
            <p:nvPr/>
          </p:nvSpPr>
          <p:spPr>
            <a:xfrm>
              <a:off x="1311122" y="1311122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EF98BC8-5D27-98A6-AA64-E292728E74F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14616" y="1253298"/>
            <a:ext cx="4192588" cy="4191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EBF7F67B-1435-D631-7220-E6B98C128C8A}"/>
              </a:ext>
            </a:extLst>
          </p:cNvPr>
          <p:cNvSpPr/>
          <p:nvPr userDrawn="1"/>
        </p:nvSpPr>
        <p:spPr>
          <a:xfrm>
            <a:off x="-357888" y="6335400"/>
            <a:ext cx="846436" cy="846436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0716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37B4-FB53-EA98-745B-324E0143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0D3F7-ABC2-8C73-96EB-B87BB867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70C0E-9B53-1C5D-1516-FCFA9DA4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71263-F331-F40B-B7FF-B14F8E32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6A29-2D21-4948-15D6-2FD146A3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49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E876F-6920-8F54-4EBA-C93296F78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0A0B17-96AB-031D-3FF0-094D35871D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53DFC-38B1-D398-AA0D-2F305C4F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6BC9-2F17-4644-8BAF-C8380839D32A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DFDFE-CFB9-BE46-BCBE-794FDA41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1BF20-F219-0484-193D-4174FB51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9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432933" cy="1325563"/>
          </a:xfrm>
        </p:spPr>
        <p:txBody>
          <a:bodyPr/>
          <a:lstStyle>
            <a:lvl1pPr>
              <a:defRPr b="1" i="0">
                <a:solidFill>
                  <a:schemeClr val="tx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0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5DB61C1A-4664-2515-0BDB-8AAAEC13BC4A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1769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04099" cy="1325563"/>
          </a:xfrm>
        </p:spPr>
        <p:txBody>
          <a:bodyPr/>
          <a:lstStyle>
            <a:lvl1pPr>
              <a:defRPr b="1" i="0">
                <a:solidFill>
                  <a:schemeClr val="accent1"/>
                </a:solidFill>
                <a:latin typeface="Gill Sans MT" panose="020B0502020104020203" pitchFamily="34" charset="77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96939"/>
            <a:ext cx="7315200" cy="3280023"/>
          </a:xfrm>
        </p:spPr>
        <p:txBody>
          <a:bodyPr/>
          <a:lstStyle>
            <a:lvl1pPr>
              <a:defRPr>
                <a:latin typeface="Gill Sans MT" panose="020B0502020104020203" pitchFamily="34" charset="77"/>
              </a:defRPr>
            </a:lvl1pPr>
            <a:lvl2pPr>
              <a:defRPr>
                <a:latin typeface="Gill Sans MT" panose="020B0502020104020203" pitchFamily="34" charset="77"/>
              </a:defRPr>
            </a:lvl2pPr>
            <a:lvl3pPr>
              <a:defRPr>
                <a:latin typeface="Gill Sans MT" panose="020B0502020104020203" pitchFamily="34" charset="77"/>
              </a:defRPr>
            </a:lvl3pPr>
            <a:lvl4pPr>
              <a:defRPr>
                <a:latin typeface="Gill Sans MT" panose="020B0502020104020203" pitchFamily="34" charset="77"/>
              </a:defRPr>
            </a:lvl4pPr>
            <a:lvl5pPr>
              <a:defRPr>
                <a:latin typeface="Gill Sans MT" panose="020B050202010402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EB4D66C9-F974-7255-DE5F-D48941E91D59}"/>
              </a:ext>
            </a:extLst>
          </p:cNvPr>
          <p:cNvGrpSpPr/>
          <p:nvPr userDrawn="1"/>
        </p:nvGrpSpPr>
        <p:grpSpPr>
          <a:xfrm>
            <a:off x="9216325" y="191911"/>
            <a:ext cx="2975675" cy="6858000"/>
            <a:chOff x="0" y="0"/>
            <a:chExt cx="1321562" cy="2709333"/>
          </a:xfrm>
          <a:solidFill>
            <a:schemeClr val="bg2"/>
          </a:solidFill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ADEF0BB9-6296-6AF7-51C0-407C4B5F697F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45D2709-9245-5FB8-7922-6EC714C0EBF0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4" name="AutoShape 18">
            <a:extLst>
              <a:ext uri="{FF2B5EF4-FFF2-40B4-BE49-F238E27FC236}">
                <a16:creationId xmlns:a16="http://schemas.microsoft.com/office/drawing/2014/main" id="{5A72F1C2-C799-4A9A-5989-9D4AA2D904F9}"/>
              </a:ext>
            </a:extLst>
          </p:cNvPr>
          <p:cNvSpPr/>
          <p:nvPr userDrawn="1"/>
        </p:nvSpPr>
        <p:spPr>
          <a:xfrm>
            <a:off x="870165" y="1872448"/>
            <a:ext cx="0" cy="725501"/>
          </a:xfrm>
          <a:prstGeom prst="line">
            <a:avLst/>
          </a:prstGeom>
          <a:ln w="76200" cap="flat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F618F19-F498-53C4-B0BE-F6F85DB255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38860" y="1115879"/>
            <a:ext cx="3101559" cy="506108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91740583-7361-9AD7-3125-9803F49F3A1F}"/>
              </a:ext>
            </a:extLst>
          </p:cNvPr>
          <p:cNvSpPr/>
          <p:nvPr userDrawn="1"/>
        </p:nvSpPr>
        <p:spPr>
          <a:xfrm>
            <a:off x="11540419" y="6319210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2915E256-1E1D-5476-8E85-168F2D05E9F7}"/>
              </a:ext>
            </a:extLst>
          </p:cNvPr>
          <p:cNvSpPr/>
          <p:nvPr userDrawn="1"/>
        </p:nvSpPr>
        <p:spPr>
          <a:xfrm rot="10121484">
            <a:off x="7300002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EB77396F-9644-D6FA-1C5B-DBA3FE54DB58}"/>
              </a:ext>
            </a:extLst>
          </p:cNvPr>
          <p:cNvSpPr/>
          <p:nvPr userDrawn="1"/>
        </p:nvSpPr>
        <p:spPr>
          <a:xfrm rot="10121484">
            <a:off x="7517621" y="385669"/>
            <a:ext cx="879309" cy="879309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198154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5765369" y="0"/>
            <a:ext cx="6426631" cy="6858000"/>
            <a:chOff x="0" y="0"/>
            <a:chExt cx="1321562" cy="270933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4601705" cy="1325563"/>
          </a:xfrm>
        </p:spPr>
        <p:txBody>
          <a:bodyPr/>
          <a:lstStyle>
            <a:lvl1pPr>
              <a:defRPr>
                <a:solidFill>
                  <a:srgbClr val="16726E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523081"/>
            <a:ext cx="5448946" cy="58118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5562F7F-66DF-3DD7-3349-48BF61475B2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199" y="2180915"/>
            <a:ext cx="4540250" cy="1782763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634272D-A4A0-D639-9B87-E53F0BB24F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199" y="4453905"/>
            <a:ext cx="4540250" cy="17827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20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AF45971-146F-4FCB-2DA8-B55376909150}"/>
              </a:ext>
            </a:extLst>
          </p:cNvPr>
          <p:cNvGrpSpPr/>
          <p:nvPr userDrawn="1"/>
        </p:nvGrpSpPr>
        <p:grpSpPr>
          <a:xfrm>
            <a:off x="0" y="0"/>
            <a:ext cx="6426631" cy="6858000"/>
            <a:chOff x="0" y="0"/>
            <a:chExt cx="1321562" cy="2709333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C5320BAC-8342-0B2C-73E6-ECD90C900314}"/>
                </a:ext>
              </a:extLst>
            </p:cNvPr>
            <p:cNvSpPr/>
            <p:nvPr/>
          </p:nvSpPr>
          <p:spPr>
            <a:xfrm>
              <a:off x="0" y="0"/>
              <a:ext cx="1321562" cy="2709333"/>
            </a:xfrm>
            <a:custGeom>
              <a:avLst/>
              <a:gdLst/>
              <a:ahLst/>
              <a:cxnLst/>
              <a:rect l="l" t="t" r="r" b="b"/>
              <a:pathLst>
                <a:path w="1321562" h="2709333">
                  <a:moveTo>
                    <a:pt x="0" y="0"/>
                  </a:moveTo>
                  <a:lnTo>
                    <a:pt x="1321562" y="0"/>
                  </a:lnTo>
                  <a:lnTo>
                    <a:pt x="13215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1BF87C4-4052-0BB4-9860-B4D57157B4E8}"/>
                </a:ext>
              </a:extLst>
            </p:cNvPr>
            <p:cNvSpPr txBox="1"/>
            <p:nvPr/>
          </p:nvSpPr>
          <p:spPr>
            <a:xfrm>
              <a:off x="0" y="-47625"/>
              <a:ext cx="1321562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79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C704E-0FAF-0265-4B1D-424377B87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631" y="388140"/>
            <a:ext cx="5448946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1CE5-EA1B-DFAB-544F-9AD0A9B3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1470" y="388140"/>
            <a:ext cx="5089899" cy="61986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C83F293-4741-2FD1-C31F-A4B661637F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4017" y="2124632"/>
            <a:ext cx="5196076" cy="37236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530BA52E-938B-4ECD-DA47-F3765811E4C0}"/>
              </a:ext>
            </a:extLst>
          </p:cNvPr>
          <p:cNvSpPr/>
          <p:nvPr userDrawn="1"/>
        </p:nvSpPr>
        <p:spPr>
          <a:xfrm flipV="1">
            <a:off x="330631" y="1913909"/>
            <a:ext cx="3400467" cy="0"/>
          </a:xfrm>
          <a:prstGeom prst="line">
            <a:avLst/>
          </a:prstGeom>
          <a:ln w="76200" cap="flat">
            <a:solidFill>
              <a:srgbClr val="EAE4D2"/>
            </a:solidFill>
            <a:prstDash val="solid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241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D572B2-2579-C934-8471-0E228785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54AD1-0042-9DAC-E467-F3AAD655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2C67-6E0A-E036-5DEF-CBF56651D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A6BC9-2F17-4644-8BAF-C8380839D32A}" type="datetimeFigureOut">
              <a:rPr lang="en-US" smtClean="0"/>
              <a:t>10/16/25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1351A-0A5A-A73E-384C-3A1744FC1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D997-0963-C69F-A3C3-E78E18AC6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50487-239F-9443-BCF2-594FF8C34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1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3" r:id="rId13"/>
    <p:sldLayoutId id="2147483666" r:id="rId14"/>
    <p:sldLayoutId id="2147483667" r:id="rId15"/>
    <p:sldLayoutId id="214748366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B2B2-1420-2CD0-16A9-74EE8DE30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PENGULANGAN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DE58-F161-772C-BD5E-1FF653B48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8638" y="4630129"/>
            <a:ext cx="5773610" cy="718073"/>
          </a:xfrm>
        </p:spPr>
        <p:txBody>
          <a:bodyPr>
            <a:normAutofit/>
          </a:bodyPr>
          <a:lstStyle/>
          <a:p>
            <a:r>
              <a:rPr lang="en-US" dirty="0"/>
              <a:t>RL117 – DASAR PEMROGRAMAN</a:t>
            </a:r>
          </a:p>
        </p:txBody>
      </p:sp>
    </p:spTree>
    <p:extLst>
      <p:ext uri="{BB962C8B-B14F-4D97-AF65-F5344CB8AC3E}">
        <p14:creationId xmlns:p14="http://schemas.microsoft.com/office/powerpoint/2010/main" val="181463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0A10-2586-ED8E-29E4-85C015CD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Perulangan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B04B4-0D78-4BF3-BEBF-1ED74643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800" dirty="0" err="1"/>
              <a:t>Perulangan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looping </a:t>
            </a:r>
            <a:r>
              <a:rPr lang="en-US" sz="1800" dirty="0" err="1"/>
              <a:t>merupakan</a:t>
            </a:r>
            <a:r>
              <a:rPr lang="en-US" sz="1800" dirty="0"/>
              <a:t> </a:t>
            </a:r>
            <a:r>
              <a:rPr lang="en-US" sz="1800" dirty="0" err="1"/>
              <a:t>perintah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menyuruh</a:t>
            </a:r>
            <a:r>
              <a:rPr lang="en-US" sz="1800" dirty="0"/>
              <a:t> program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sesuatu</a:t>
            </a:r>
            <a:r>
              <a:rPr lang="en-US" sz="1800" dirty="0"/>
              <a:t> </a:t>
            </a:r>
            <a:r>
              <a:rPr lang="en-US" sz="1800" dirty="0" err="1"/>
              <a:t>secara</a:t>
            </a:r>
            <a:r>
              <a:rPr lang="en-US" sz="1800" dirty="0"/>
              <a:t> </a:t>
            </a:r>
            <a:r>
              <a:rPr lang="en-US" sz="1800" dirty="0" err="1"/>
              <a:t>berulang-ulang</a:t>
            </a:r>
            <a:r>
              <a:rPr lang="en-US" sz="18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Di Python, </a:t>
            </a:r>
            <a:r>
              <a:rPr lang="en-US" sz="1800" dirty="0" err="1"/>
              <a:t>terdapat</a:t>
            </a:r>
            <a:r>
              <a:rPr lang="en-US" sz="1800" dirty="0"/>
              <a:t> </a:t>
            </a:r>
            <a:r>
              <a:rPr lang="en-US" sz="1800" dirty="0" err="1"/>
              <a:t>dua</a:t>
            </a:r>
            <a:r>
              <a:rPr lang="en-US" sz="1800" dirty="0"/>
              <a:t> </a:t>
            </a:r>
            <a:r>
              <a:rPr lang="en-US" sz="1800" dirty="0" err="1"/>
              <a:t>perintah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looping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fungsi</a:t>
            </a:r>
            <a:r>
              <a:rPr lang="en-US" sz="1800" dirty="0"/>
              <a:t> for dan while.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For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apabila</a:t>
            </a:r>
            <a:r>
              <a:rPr lang="en-US" sz="1800" dirty="0"/>
              <a:t> </a:t>
            </a:r>
            <a:r>
              <a:rPr lang="en-US" sz="1800" dirty="0" err="1"/>
              <a:t>kita</a:t>
            </a:r>
            <a:r>
              <a:rPr lang="en-US" sz="1800" dirty="0"/>
              <a:t> </a:t>
            </a:r>
            <a:r>
              <a:rPr lang="en-US" sz="1800" dirty="0" err="1"/>
              <a:t>telah</a:t>
            </a:r>
            <a:r>
              <a:rPr lang="en-US" sz="1800" dirty="0"/>
              <a:t> </a:t>
            </a:r>
            <a:r>
              <a:rPr lang="en-US" sz="1800" dirty="0" err="1"/>
              <a:t>mengetahui</a:t>
            </a:r>
            <a:r>
              <a:rPr lang="en-US" sz="1800" dirty="0"/>
              <a:t> </a:t>
            </a:r>
            <a:r>
              <a:rPr lang="en-US" sz="1800" dirty="0" err="1"/>
              <a:t>seberapa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program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mengulang</a:t>
            </a:r>
            <a:endParaRPr lang="en-US" sz="1800" dirty="0"/>
          </a:p>
          <a:p>
            <a:pPr>
              <a:lnSpc>
                <a:spcPct val="120000"/>
              </a:lnSpc>
            </a:pPr>
            <a:r>
              <a:rPr lang="en-US" sz="1800" dirty="0"/>
              <a:t>For </a:t>
            </a:r>
            <a:r>
              <a:rPr lang="en-US" sz="1800" dirty="0" err="1"/>
              <a:t>disebut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perulangan</a:t>
            </a:r>
            <a:r>
              <a:rPr lang="en-US" sz="1800" dirty="0"/>
              <a:t> yang </a:t>
            </a:r>
            <a:r>
              <a:rPr lang="en-US" sz="1800" dirty="0" err="1"/>
              <a:t>terhitung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counted loop</a:t>
            </a:r>
          </a:p>
          <a:p>
            <a:pPr>
              <a:lnSpc>
                <a:spcPct val="120000"/>
              </a:lnSpc>
            </a:pPr>
            <a:r>
              <a:rPr lang="en-US" sz="1800" dirty="0"/>
              <a:t>While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apabila</a:t>
            </a:r>
            <a:r>
              <a:rPr lang="en-US" sz="1800" dirty="0"/>
              <a:t> </a:t>
            </a:r>
            <a:r>
              <a:rPr lang="en-US" sz="1800" dirty="0" err="1"/>
              <a:t>kita</a:t>
            </a:r>
            <a:r>
              <a:rPr lang="en-US" sz="1800" dirty="0"/>
              <a:t> </a:t>
            </a:r>
            <a:r>
              <a:rPr lang="en-US" sz="1800" dirty="0" err="1"/>
              <a:t>belum</a:t>
            </a:r>
            <a:r>
              <a:rPr lang="en-US" sz="1800" dirty="0"/>
              <a:t> </a:t>
            </a:r>
            <a:r>
              <a:rPr lang="en-US" sz="1800" dirty="0" err="1"/>
              <a:t>mengetahui</a:t>
            </a:r>
            <a:r>
              <a:rPr lang="en-US" sz="1800" dirty="0"/>
              <a:t> </a:t>
            </a:r>
            <a:r>
              <a:rPr lang="en-US" sz="1800" dirty="0" err="1"/>
              <a:t>seberapa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program </a:t>
            </a:r>
            <a:r>
              <a:rPr lang="en-US" sz="1800" dirty="0" err="1"/>
              <a:t>harus</a:t>
            </a:r>
            <a:r>
              <a:rPr lang="en-US" sz="1800" dirty="0"/>
              <a:t> </a:t>
            </a:r>
            <a:r>
              <a:rPr lang="en-US" sz="1800" dirty="0" err="1"/>
              <a:t>mengulang</a:t>
            </a:r>
            <a:endParaRPr lang="en-US" sz="1800" dirty="0"/>
          </a:p>
          <a:p>
            <a:pPr>
              <a:lnSpc>
                <a:spcPct val="120000"/>
              </a:lnSpc>
            </a:pPr>
            <a:r>
              <a:rPr lang="en-US" sz="1800" dirty="0"/>
              <a:t>While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pengulangan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memiliki</a:t>
            </a:r>
            <a:r>
              <a:rPr lang="en-US" sz="1800" dirty="0"/>
              <a:t> </a:t>
            </a:r>
            <a:r>
              <a:rPr lang="en-US" sz="1800" dirty="0" err="1"/>
              <a:t>syarat</a:t>
            </a:r>
            <a:r>
              <a:rPr lang="en-US" sz="1800" dirty="0"/>
              <a:t> dan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tentu</a:t>
            </a:r>
            <a:r>
              <a:rPr lang="en-US" sz="1800" dirty="0"/>
              <a:t> </a:t>
            </a:r>
            <a:r>
              <a:rPr lang="en-US" sz="1800" dirty="0" err="1"/>
              <a:t>berapa</a:t>
            </a:r>
            <a:r>
              <a:rPr lang="en-US" sz="1800" dirty="0"/>
              <a:t> </a:t>
            </a:r>
            <a:r>
              <a:rPr lang="en-US" sz="1800" dirty="0" err="1"/>
              <a:t>banyak</a:t>
            </a:r>
            <a:r>
              <a:rPr lang="en-US" sz="1800" dirty="0"/>
              <a:t> </a:t>
            </a:r>
            <a:r>
              <a:rPr lang="en-US" sz="1800" dirty="0" err="1"/>
              <a:t>pengulangan</a:t>
            </a:r>
            <a:r>
              <a:rPr lang="en-US" sz="1800" dirty="0"/>
              <a:t> </a:t>
            </a:r>
            <a:r>
              <a:rPr lang="en-US" sz="1800" dirty="0" err="1"/>
              <a:t>tersebut</a:t>
            </a:r>
            <a:endParaRPr lang="en-US" sz="1800" dirty="0"/>
          </a:p>
          <a:p>
            <a:pPr>
              <a:lnSpc>
                <a:spcPct val="120000"/>
              </a:lnSpc>
            </a:pPr>
            <a:r>
              <a:rPr lang="en-US" sz="1800" dirty="0"/>
              <a:t>While </a:t>
            </a:r>
            <a:r>
              <a:rPr lang="en-US" sz="1800" dirty="0" err="1"/>
              <a:t>disebut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uncounted loop</a:t>
            </a:r>
          </a:p>
        </p:txBody>
      </p:sp>
    </p:spTree>
    <p:extLst>
      <p:ext uri="{BB962C8B-B14F-4D97-AF65-F5344CB8AC3E}">
        <p14:creationId xmlns:p14="http://schemas.microsoft.com/office/powerpoint/2010/main" val="2234029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980C3-C707-E010-631D-108BFB6C8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71215C-6F63-EB7F-D325-FF0659BC2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Looping: For</a:t>
            </a:r>
          </a:p>
        </p:txBody>
      </p:sp>
    </p:spTree>
    <p:extLst>
      <p:ext uri="{BB962C8B-B14F-4D97-AF65-F5344CB8AC3E}">
        <p14:creationId xmlns:p14="http://schemas.microsoft.com/office/powerpoint/2010/main" val="353874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FD5B-CE75-FF78-CD0E-F3BE29CAE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Looping: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267F1-9AFF-EA53-6001-BC02C1AFB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2311"/>
            <a:ext cx="7995834" cy="437056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en-US" sz="1800" dirty="0"/>
              <a:t>For </a:t>
            </a:r>
            <a:r>
              <a:rPr lang="en-US" sz="1800" dirty="0" err="1"/>
              <a:t>digunakan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mengulangi</a:t>
            </a:r>
            <a:r>
              <a:rPr lang="en-US" sz="1800" dirty="0"/>
              <a:t> </a:t>
            </a:r>
            <a:r>
              <a:rPr lang="en-US" sz="1800" dirty="0" err="1"/>
              <a:t>urutan</a:t>
            </a:r>
            <a:r>
              <a:rPr lang="en-US" sz="1800" dirty="0"/>
              <a:t> dan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digunakan</a:t>
            </a:r>
            <a:r>
              <a:rPr lang="en-US" sz="1800" dirty="0"/>
              <a:t> di </a:t>
            </a:r>
            <a:r>
              <a:rPr lang="en-US" sz="1800" dirty="0" err="1"/>
              <a:t>beberapa</a:t>
            </a:r>
            <a:r>
              <a:rPr lang="en-US" sz="1800" dirty="0"/>
              <a:t> </a:t>
            </a:r>
            <a:r>
              <a:rPr lang="en-US" sz="1800" dirty="0" err="1"/>
              <a:t>tipe</a:t>
            </a:r>
            <a:r>
              <a:rPr lang="en-US" sz="1800" dirty="0"/>
              <a:t> data </a:t>
            </a:r>
            <a:r>
              <a:rPr lang="en-US" sz="1800" dirty="0" err="1"/>
              <a:t>seperti</a:t>
            </a:r>
            <a:r>
              <a:rPr lang="en-US" sz="1800" dirty="0"/>
              <a:t> list, tuple, dictionary, set, dan string</a:t>
            </a:r>
          </a:p>
          <a:p>
            <a:pPr algn="just">
              <a:lnSpc>
                <a:spcPct val="100000"/>
              </a:lnSpc>
            </a:pPr>
            <a:r>
              <a:rPr lang="en-US" sz="1800" dirty="0" err="1"/>
              <a:t>Bentuk</a:t>
            </a:r>
            <a:r>
              <a:rPr lang="en-US" sz="1800" dirty="0"/>
              <a:t> </a:t>
            </a:r>
            <a:r>
              <a:rPr lang="en-US" sz="1800" dirty="0" err="1"/>
              <a:t>umum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pengulangan</a:t>
            </a:r>
            <a:r>
              <a:rPr lang="en-US" sz="1800" dirty="0"/>
              <a:t> for </a:t>
            </a:r>
            <a:r>
              <a:rPr lang="en-US" sz="1800" dirty="0" err="1"/>
              <a:t>yaitu</a:t>
            </a:r>
            <a:r>
              <a:rPr lang="en-US" sz="1800" dirty="0"/>
              <a:t>:</a:t>
            </a:r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dirty="0" err="1"/>
              <a:t>Contoh</a:t>
            </a:r>
            <a:r>
              <a:rPr lang="en-US" sz="1800" dirty="0"/>
              <a:t> program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print </a:t>
            </a:r>
            <a:r>
              <a:rPr lang="en-US" sz="1800" dirty="0" err="1"/>
              <a:t>dengan</a:t>
            </a:r>
            <a:r>
              <a:rPr lang="en-US" sz="1800" dirty="0"/>
              <a:t> for</a:t>
            </a:r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dirty="0" err="1"/>
              <a:t>Perintah</a:t>
            </a:r>
            <a:r>
              <a:rPr lang="en-US" sz="1800" dirty="0"/>
              <a:t> print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mengulangi</a:t>
            </a:r>
            <a:r>
              <a:rPr lang="en-US" sz="1800" dirty="0"/>
              <a:t> </a:t>
            </a:r>
            <a:r>
              <a:rPr lang="en-US" sz="1800" dirty="0" err="1"/>
              <a:t>sebanyak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jumlah_perulangan</a:t>
            </a:r>
            <a:r>
              <a:rPr lang="en-US" sz="1800" dirty="0"/>
              <a:t>, </a:t>
            </a:r>
            <a:r>
              <a:rPr lang="en-US" sz="1800" dirty="0" err="1"/>
              <a:t>yaitu</a:t>
            </a:r>
            <a:r>
              <a:rPr lang="en-US" sz="1800" dirty="0"/>
              <a:t> </a:t>
            </a:r>
            <a:r>
              <a:rPr lang="en-US" sz="1800" dirty="0" err="1"/>
              <a:t>tiga</a:t>
            </a:r>
            <a:r>
              <a:rPr lang="en-US" sz="1800" dirty="0"/>
              <a:t> kali </a:t>
            </a:r>
            <a:r>
              <a:rPr lang="en-US" sz="1800" dirty="0" err="1"/>
              <a:t>dimulai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index ke-0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39EB32-3D2B-CBB8-783C-3E19C416D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706" y="3026104"/>
            <a:ext cx="6594828" cy="83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8B1EB5C-867C-8F52-E2A4-45B97C1E5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1" y="4261757"/>
            <a:ext cx="6716183" cy="150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22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C38D-72BE-BC1D-E6DA-9DE0F26F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Looping: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E25B-9208-102B-2F70-E800FA396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implementasi</a:t>
            </a:r>
            <a:r>
              <a:rPr lang="en-US" sz="1800" dirty="0"/>
              <a:t> for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perulangan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string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err="1"/>
              <a:t>Implementasi</a:t>
            </a:r>
            <a:r>
              <a:rPr lang="en-US" sz="1800" dirty="0"/>
              <a:t> for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range()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37F093E-E6AB-9A4F-F159-EE9D03ABB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428" y="2308039"/>
            <a:ext cx="6110111" cy="153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5BA0F41-2084-8BBE-1DF6-635D582F7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428" y="4653148"/>
            <a:ext cx="6671028" cy="155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2C38D-72BE-BC1D-E6DA-9DE0F26F9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Looping: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E25B-9208-102B-2F70-E800FA396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2311"/>
            <a:ext cx="7995834" cy="4054652"/>
          </a:xfrm>
        </p:spPr>
        <p:txBody>
          <a:bodyPr>
            <a:normAutofit/>
          </a:bodyPr>
          <a:lstStyle/>
          <a:p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implementasi</a:t>
            </a:r>
            <a:r>
              <a:rPr lang="en-US" sz="1800" dirty="0"/>
              <a:t> for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perulangan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list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 err="1"/>
              <a:t>Contoh</a:t>
            </a:r>
            <a:r>
              <a:rPr lang="en-US" sz="1800" dirty="0"/>
              <a:t> </a:t>
            </a:r>
            <a:r>
              <a:rPr lang="en-US" sz="1800" dirty="0" err="1"/>
              <a:t>implementasi</a:t>
            </a:r>
            <a:r>
              <a:rPr lang="en-US" sz="1800" dirty="0"/>
              <a:t> for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perulangan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list </a:t>
            </a:r>
            <a:r>
              <a:rPr lang="en-US" sz="1800" dirty="0" err="1"/>
              <a:t>dengan</a:t>
            </a:r>
            <a:r>
              <a:rPr lang="en-US" sz="1800" dirty="0"/>
              <a:t> range()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22A905A-779C-9BAB-E828-C532E0E41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489" y="2504577"/>
            <a:ext cx="6348587" cy="164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B899C7C-8DEF-68A3-25B3-FA76802A6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421" y="5043488"/>
            <a:ext cx="5806722" cy="144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06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0B4F67-BF1C-342C-0DE8-289254598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D1ED30-4A5C-1CD8-8F08-F54E659DC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Looping: While</a:t>
            </a:r>
          </a:p>
        </p:txBody>
      </p:sp>
    </p:spTree>
    <p:extLst>
      <p:ext uri="{BB962C8B-B14F-4D97-AF65-F5344CB8AC3E}">
        <p14:creationId xmlns:p14="http://schemas.microsoft.com/office/powerpoint/2010/main" val="3498337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0C0C-FF15-DDD1-797B-70A7FD60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Looping: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A4A6-3559-BE6C-5E80-30ABA9AB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/>
              <a:t>Pengulangan</a:t>
            </a:r>
            <a:r>
              <a:rPr lang="en-US" sz="1800" dirty="0"/>
              <a:t> while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dieksekusi</a:t>
            </a:r>
            <a:r>
              <a:rPr lang="en-US" sz="1800" dirty="0"/>
              <a:t> </a:t>
            </a:r>
            <a:r>
              <a:rPr lang="en-US" sz="1800" dirty="0" err="1"/>
              <a:t>selama</a:t>
            </a:r>
            <a:r>
              <a:rPr lang="en-US" sz="1800" dirty="0"/>
              <a:t> statement </a:t>
            </a:r>
            <a:r>
              <a:rPr lang="en-US" sz="1800" dirty="0" err="1"/>
              <a:t>memenuhi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bernilai</a:t>
            </a:r>
            <a:r>
              <a:rPr lang="en-US" sz="1800" dirty="0"/>
              <a:t> True</a:t>
            </a:r>
          </a:p>
          <a:p>
            <a:r>
              <a:rPr lang="en-US" sz="1800" dirty="0" err="1"/>
              <a:t>Bentuk</a:t>
            </a:r>
            <a:r>
              <a:rPr lang="en-US" sz="1800" dirty="0"/>
              <a:t> </a:t>
            </a:r>
            <a:r>
              <a:rPr lang="en-US" sz="1800" dirty="0" err="1"/>
              <a:t>umum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pengulangan</a:t>
            </a:r>
            <a:r>
              <a:rPr lang="en-US" sz="1800" dirty="0"/>
              <a:t> for </a:t>
            </a:r>
            <a:r>
              <a:rPr lang="en-US" sz="1800" dirty="0" err="1"/>
              <a:t>yaitu</a:t>
            </a:r>
            <a:r>
              <a:rPr lang="en-US" sz="1800" dirty="0"/>
              <a:t>:</a:t>
            </a:r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err="1"/>
              <a:t>Contoh</a:t>
            </a:r>
            <a:r>
              <a:rPr lang="en-US" sz="1800" dirty="0"/>
              <a:t> program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while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4FF5249-C2C1-522C-CF3B-A7CBD9094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054" y="2590908"/>
            <a:ext cx="7346950" cy="84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46CD6D4-5D4F-935A-275A-A07BB2C5C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642" y="4531552"/>
            <a:ext cx="6047203" cy="217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8786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A0C0C-FF15-DDD1-797B-70A7FD60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Looping: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A4A6-3559-BE6C-5E80-30ABA9AB9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lnSpc>
                <a:spcPct val="100000"/>
              </a:lnSpc>
              <a:spcBef>
                <a:spcPts val="0"/>
              </a:spcBef>
            </a:pP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Eksekusi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perulangan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while juga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bersifat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infinite loop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pernah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bernilai</a:t>
            </a:r>
            <a:r>
              <a:rPr lang="en-ID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False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7B141EB-0EC5-B454-AC84-21BEE2A1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902" y="2828860"/>
            <a:ext cx="7097183" cy="272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378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D6D4EC-EE2B-0A83-D89C-71564041A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167C83-BE39-6EF0-5F4E-410962F3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the Flow</a:t>
            </a:r>
          </a:p>
        </p:txBody>
      </p:sp>
    </p:spTree>
    <p:extLst>
      <p:ext uri="{BB962C8B-B14F-4D97-AF65-F5344CB8AC3E}">
        <p14:creationId xmlns:p14="http://schemas.microsoft.com/office/powerpoint/2010/main" val="262473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D3CBA-DAE4-C816-7349-A621A76E5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C002E-EF7D-C69E-DB2F-DF18964C1A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 err="1"/>
              <a:t>Fungsi</a:t>
            </a:r>
            <a:r>
              <a:rPr lang="en-US" sz="2000" dirty="0"/>
              <a:t> break </a:t>
            </a:r>
            <a:r>
              <a:rPr lang="en-US" sz="2000" dirty="0" err="1"/>
              <a:t>akan</a:t>
            </a:r>
            <a:r>
              <a:rPr lang="en-US" sz="2000" dirty="0"/>
              <a:t> </a:t>
            </a:r>
            <a:r>
              <a:rPr lang="en-US" sz="2000" dirty="0" err="1"/>
              <a:t>menghentikan</a:t>
            </a:r>
            <a:r>
              <a:rPr lang="en-US" sz="2000" dirty="0"/>
              <a:t> </a:t>
            </a:r>
            <a:r>
              <a:rPr lang="en-US" sz="2000" dirty="0" err="1"/>
              <a:t>perulangan</a:t>
            </a:r>
            <a:r>
              <a:rPr lang="en-US" sz="2000" dirty="0"/>
              <a:t> </a:t>
            </a:r>
            <a:r>
              <a:rPr lang="en-US" sz="2000" dirty="0" err="1"/>
              <a:t>sebelum</a:t>
            </a:r>
            <a:r>
              <a:rPr lang="en-US" sz="2000" dirty="0"/>
              <a:t> </a:t>
            </a:r>
            <a:r>
              <a:rPr lang="en-US" sz="2000" dirty="0" err="1"/>
              <a:t>perulangan</a:t>
            </a:r>
            <a:r>
              <a:rPr lang="en-US" sz="2000" dirty="0"/>
              <a:t> </a:t>
            </a:r>
            <a:r>
              <a:rPr lang="en-US" sz="2000" dirty="0" err="1"/>
              <a:t>melewati</a:t>
            </a:r>
            <a:r>
              <a:rPr lang="en-US" sz="2000" dirty="0"/>
              <a:t> </a:t>
            </a:r>
            <a:r>
              <a:rPr lang="en-US" sz="2000" dirty="0" err="1"/>
              <a:t>seluruh</a:t>
            </a:r>
            <a:r>
              <a:rPr lang="en-US" sz="2000" dirty="0"/>
              <a:t> item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AAE9DF24-97C3-E860-F478-50775B250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343314"/>
            <a:ext cx="5984486" cy="151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4AEF113-DC6B-434C-F201-3686222F26C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854" y="2440297"/>
            <a:ext cx="5181600" cy="145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8437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24DB-7D95-E223-B9F4-3C7D9319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09B7F-3DA3-01E0-6537-B13C65B51B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continue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menghentikan</a:t>
            </a:r>
            <a:r>
              <a:rPr lang="en-US" dirty="0"/>
              <a:t> </a:t>
            </a:r>
            <a:r>
              <a:rPr lang="en-US" dirty="0" err="1"/>
              <a:t>iterasi</a:t>
            </a:r>
            <a:r>
              <a:rPr lang="en-US" dirty="0"/>
              <a:t> loop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dan </a:t>
            </a:r>
            <a:r>
              <a:rPr lang="en-US" dirty="0" err="1"/>
              <a:t>melanjutkan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iterasi</a:t>
            </a:r>
            <a:r>
              <a:rPr lang="en-US" dirty="0"/>
              <a:t> yang </a:t>
            </a:r>
            <a:r>
              <a:rPr lang="en-US" dirty="0" err="1"/>
              <a:t>berikutnya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7C1960C-2F20-4434-DE86-E3A174E44E5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972" y="3638998"/>
            <a:ext cx="6777770" cy="20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06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EDA0BB-57DE-6F3C-99EB-1F9DDB1CD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3F36F5-E505-B334-B974-6E76907EB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</p:spTree>
    <p:extLst>
      <p:ext uri="{BB962C8B-B14F-4D97-AF65-F5344CB8AC3E}">
        <p14:creationId xmlns:p14="http://schemas.microsoft.com/office/powerpoint/2010/main" val="336820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DC7A-D5AD-B02B-65ED-03F22C3B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6971E-E1F4-B881-6890-D203BB6C3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 err="1"/>
              <a:t>Dalam</a:t>
            </a:r>
            <a:r>
              <a:rPr lang="en-US" sz="1800" dirty="0"/>
              <a:t> slide </a:t>
            </a:r>
            <a:r>
              <a:rPr lang="en-US" sz="1800" dirty="0" err="1"/>
              <a:t>sebelumnya</a:t>
            </a:r>
            <a:r>
              <a:rPr lang="en-US" sz="1800" dirty="0"/>
              <a:t>,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melakukan</a:t>
            </a:r>
            <a:r>
              <a:rPr lang="en-US" sz="1800" dirty="0"/>
              <a:t> </a:t>
            </a:r>
            <a:r>
              <a:rPr lang="en-US" sz="1800" dirty="0" err="1"/>
              <a:t>perulangan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fungsi</a:t>
            </a:r>
            <a:r>
              <a:rPr lang="en-US" sz="1800" dirty="0"/>
              <a:t> range()</a:t>
            </a:r>
          </a:p>
          <a:p>
            <a:pPr algn="just"/>
            <a:r>
              <a:rPr lang="en-US" sz="1800" dirty="0" err="1"/>
              <a:t>Fungsi</a:t>
            </a:r>
            <a:r>
              <a:rPr lang="en-US" sz="1800" dirty="0"/>
              <a:t> range() </a:t>
            </a:r>
            <a:r>
              <a:rPr lang="en-US" sz="1800" dirty="0" err="1"/>
              <a:t>mengembalikan</a:t>
            </a:r>
            <a:r>
              <a:rPr lang="en-US" sz="1800" dirty="0"/>
              <a:t> </a:t>
            </a:r>
            <a:r>
              <a:rPr lang="en-US" sz="1800" dirty="0" err="1"/>
              <a:t>urutan</a:t>
            </a:r>
            <a:r>
              <a:rPr lang="en-US" sz="1800" dirty="0"/>
              <a:t> </a:t>
            </a:r>
            <a:r>
              <a:rPr lang="en-US" sz="1800" dirty="0" err="1"/>
              <a:t>angka</a:t>
            </a:r>
            <a:r>
              <a:rPr lang="en-US" sz="1800" dirty="0"/>
              <a:t> </a:t>
            </a:r>
            <a:r>
              <a:rPr lang="en-US" sz="1800" dirty="0" err="1"/>
              <a:t>mulai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0 (default), </a:t>
            </a:r>
            <a:r>
              <a:rPr lang="en-US" sz="1800" dirty="0" err="1"/>
              <a:t>bertambah</a:t>
            </a:r>
            <a:r>
              <a:rPr lang="en-US" sz="1800" dirty="0"/>
              <a:t> 1 (default) </a:t>
            </a:r>
            <a:r>
              <a:rPr lang="en-US" sz="1800" dirty="0" err="1"/>
              <a:t>hingga</a:t>
            </a:r>
            <a:r>
              <a:rPr lang="en-US" sz="1800" dirty="0"/>
              <a:t> pada </a:t>
            </a:r>
            <a:r>
              <a:rPr lang="en-US" sz="1800" dirty="0" err="1"/>
              <a:t>angka</a:t>
            </a:r>
            <a:r>
              <a:rPr lang="en-US" sz="1800" dirty="0"/>
              <a:t> yang </a:t>
            </a:r>
            <a:r>
              <a:rPr lang="en-US" sz="1800" dirty="0" err="1"/>
              <a:t>ditentukan</a:t>
            </a:r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r>
              <a:rPr lang="en-US" sz="1800" dirty="0"/>
              <a:t>Pada range(6) </a:t>
            </a:r>
            <a:r>
              <a:rPr lang="en-US" sz="1800" dirty="0" err="1"/>
              <a:t>nilainya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0 </a:t>
            </a:r>
            <a:r>
              <a:rPr lang="en-US" sz="1800" dirty="0" err="1"/>
              <a:t>hingga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5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E80D911-622D-B561-A33C-FB336DED2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941" y="2827497"/>
            <a:ext cx="6639278" cy="164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917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E6FA6-890A-CAC9-A45E-17829F92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FDA0E-E0A7-C21E-DFCA-0EA98D425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 err="1"/>
              <a:t>Secara</a:t>
            </a:r>
            <a:r>
              <a:rPr lang="en-US" sz="1800" dirty="0"/>
              <a:t> default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awal</a:t>
            </a:r>
            <a:r>
              <a:rPr lang="en-US" sz="1800" dirty="0"/>
              <a:t> pada range </a:t>
            </a:r>
            <a:r>
              <a:rPr lang="en-US" sz="1800" dirty="0" err="1"/>
              <a:t>yaitu</a:t>
            </a:r>
            <a:r>
              <a:rPr lang="en-US" sz="1800" dirty="0"/>
              <a:t> 0, </a:t>
            </a:r>
            <a:r>
              <a:rPr lang="en-US" sz="1800" dirty="0" err="1"/>
              <a:t>apabila</a:t>
            </a:r>
            <a:r>
              <a:rPr lang="en-US" sz="1800" dirty="0"/>
              <a:t> </a:t>
            </a:r>
            <a:r>
              <a:rPr lang="en-US" sz="1800" dirty="0" err="1"/>
              <a:t>ingin</a:t>
            </a:r>
            <a:r>
              <a:rPr lang="en-US" sz="1800" dirty="0"/>
              <a:t> </a:t>
            </a:r>
            <a:r>
              <a:rPr lang="en-US" sz="1800" dirty="0" err="1"/>
              <a:t>menambahkan</a:t>
            </a:r>
            <a:r>
              <a:rPr lang="en-US" sz="1800" dirty="0"/>
              <a:t> parameter </a:t>
            </a:r>
            <a:r>
              <a:rPr lang="en-US" sz="1800" dirty="0" err="1"/>
              <a:t>kita</a:t>
            </a:r>
            <a:r>
              <a:rPr lang="en-US" sz="1800" dirty="0"/>
              <a:t>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range(</a:t>
            </a:r>
            <a:r>
              <a:rPr lang="en-US" sz="1800" dirty="0" err="1"/>
              <a:t>nilai_awal</a:t>
            </a:r>
            <a:r>
              <a:rPr lang="en-US" sz="1800" dirty="0"/>
              <a:t>, </a:t>
            </a:r>
            <a:r>
              <a:rPr lang="en-US" sz="1800" dirty="0" err="1"/>
              <a:t>nilai_akhir</a:t>
            </a:r>
            <a:r>
              <a:rPr lang="en-US" sz="1800" dirty="0"/>
              <a:t>)</a:t>
            </a:r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endParaRPr lang="en-US" sz="1800" dirty="0"/>
          </a:p>
          <a:p>
            <a:pPr algn="just">
              <a:lnSpc>
                <a:spcPct val="100000"/>
              </a:lnSpc>
            </a:pPr>
            <a:r>
              <a:rPr lang="en-US" sz="1800" dirty="0" err="1"/>
              <a:t>Secara</a:t>
            </a:r>
            <a:r>
              <a:rPr lang="en-US" sz="1800" dirty="0"/>
              <a:t> default </a:t>
            </a:r>
            <a:r>
              <a:rPr lang="en-US" sz="1800" dirty="0" err="1"/>
              <a:t>nilai</a:t>
            </a:r>
            <a:r>
              <a:rPr lang="en-US" sz="1800" dirty="0"/>
              <a:t> </a:t>
            </a:r>
            <a:r>
              <a:rPr lang="en-US" sz="1800" dirty="0" err="1"/>
              <a:t>kenaikkan</a:t>
            </a:r>
            <a:r>
              <a:rPr lang="en-US" sz="1800" dirty="0"/>
              <a:t> </a:t>
            </a:r>
            <a:r>
              <a:rPr lang="en-US" sz="1800" dirty="0" err="1"/>
              <a:t>urutan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1, </a:t>
            </a:r>
            <a:r>
              <a:rPr lang="en-US" sz="1800" dirty="0" err="1"/>
              <a:t>namun</a:t>
            </a:r>
            <a:r>
              <a:rPr lang="en-US" sz="1800" dirty="0"/>
              <a:t> </a:t>
            </a:r>
            <a:r>
              <a:rPr lang="en-US" sz="1800" dirty="0" err="1"/>
              <a:t>kita</a:t>
            </a:r>
            <a:r>
              <a:rPr lang="en-US" sz="1800" dirty="0"/>
              <a:t>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mengumbahnya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menambahkan</a:t>
            </a:r>
            <a:r>
              <a:rPr lang="en-US" sz="1800" dirty="0"/>
              <a:t> parameter range(</a:t>
            </a:r>
            <a:r>
              <a:rPr lang="en-US" sz="1800" dirty="0" err="1"/>
              <a:t>nilai_awal</a:t>
            </a:r>
            <a:r>
              <a:rPr lang="en-US" sz="1800" dirty="0"/>
              <a:t>, </a:t>
            </a:r>
            <a:r>
              <a:rPr lang="en-US" sz="1800" dirty="0" err="1"/>
              <a:t>nilai_akhir</a:t>
            </a:r>
            <a:r>
              <a:rPr lang="en-US" sz="1800" dirty="0"/>
              <a:t>, </a:t>
            </a:r>
            <a:r>
              <a:rPr lang="en-US" sz="1800" dirty="0" err="1"/>
              <a:t>jumlah_kenaikkan</a:t>
            </a:r>
            <a:r>
              <a:rPr lang="en-US" sz="1800" dirty="0"/>
              <a:t>)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519B6DD-5340-7B11-ADE1-7EB481FB5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103" y="2609526"/>
            <a:ext cx="7071078" cy="139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A158BE41-5DCE-36D2-71B1-ED6888721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126" y="4940204"/>
            <a:ext cx="6451833" cy="147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528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137F0-D812-2AE9-C6AF-A36118268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9342F-B0E5-B066-3443-EF776260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Selain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range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pengulangan</a:t>
            </a:r>
            <a:r>
              <a:rPr lang="en-US" sz="2000" dirty="0"/>
              <a:t> </a:t>
            </a:r>
            <a:r>
              <a:rPr lang="en-US" sz="2000" dirty="0" err="1"/>
              <a:t>secara</a:t>
            </a:r>
            <a:r>
              <a:rPr lang="en-US" sz="2000" dirty="0"/>
              <a:t> naik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atas</a:t>
            </a:r>
            <a:r>
              <a:rPr lang="en-US" sz="2000" dirty="0"/>
              <a:t>, </a:t>
            </a:r>
            <a:r>
              <a:rPr lang="en-US" sz="2000" dirty="0" err="1"/>
              <a:t>kita</a:t>
            </a:r>
            <a:r>
              <a:rPr lang="en-US" sz="2000" dirty="0"/>
              <a:t> juga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mengulangan</a:t>
            </a:r>
            <a:r>
              <a:rPr lang="en-US" sz="2000" dirty="0"/>
              <a:t> </a:t>
            </a:r>
            <a:r>
              <a:rPr lang="en-US" sz="2000" dirty="0" err="1"/>
              <a:t>menurun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4D02BA51-8003-E530-BF96-90AE811A0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888" y="2805685"/>
            <a:ext cx="6568017" cy="239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149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981224-C0FD-30E1-F9F3-BDAA8C418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01A6B-8FF2-6596-362C-3C43586C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Nested Loops</a:t>
            </a:r>
          </a:p>
        </p:txBody>
      </p:sp>
    </p:spTree>
    <p:extLst>
      <p:ext uri="{BB962C8B-B14F-4D97-AF65-F5344CB8AC3E}">
        <p14:creationId xmlns:p14="http://schemas.microsoft.com/office/powerpoint/2010/main" val="319941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3A4C-C224-CAA1-0300-35BABDA1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265D3-A234-A6D3-056C-74C76751AF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Nested loop </a:t>
            </a:r>
            <a:r>
              <a:rPr lang="en-US" sz="2400" dirty="0" err="1"/>
              <a:t>atau</a:t>
            </a:r>
            <a:r>
              <a:rPr lang="en-US" sz="2400" dirty="0"/>
              <a:t> looping </a:t>
            </a:r>
            <a:r>
              <a:rPr lang="en-US" sz="2400" dirty="0" err="1"/>
              <a:t>bersarang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adanya</a:t>
            </a:r>
            <a:r>
              <a:rPr lang="en-US" sz="2400" dirty="0"/>
              <a:t> </a:t>
            </a:r>
            <a:r>
              <a:rPr lang="en-US" sz="2400" dirty="0" err="1"/>
              <a:t>sebuah</a:t>
            </a:r>
            <a:r>
              <a:rPr lang="en-US" sz="2400" dirty="0"/>
              <a:t> looping </a:t>
            </a:r>
            <a:r>
              <a:rPr lang="en-US" sz="2400" dirty="0" err="1"/>
              <a:t>dalam</a:t>
            </a:r>
            <a:r>
              <a:rPr lang="en-US" sz="2400" dirty="0"/>
              <a:t> looping</a:t>
            </a:r>
          </a:p>
          <a:p>
            <a:r>
              <a:rPr lang="en-US" sz="2400" dirty="0"/>
              <a:t>Looping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dieksekusi</a:t>
            </a:r>
            <a:r>
              <a:rPr lang="en-US" sz="2400" dirty="0"/>
              <a:t> </a:t>
            </a:r>
            <a:r>
              <a:rPr lang="en-US" sz="2400" dirty="0" err="1"/>
              <a:t>sebanyak</a:t>
            </a:r>
            <a:r>
              <a:rPr lang="en-US" sz="2400" dirty="0"/>
              <a:t> </a:t>
            </a:r>
            <a:r>
              <a:rPr lang="en-US" sz="2400" dirty="0" err="1"/>
              <a:t>satu</a:t>
            </a:r>
            <a:r>
              <a:rPr lang="en-US" sz="2400" dirty="0"/>
              <a:t> kali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iterasi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looping </a:t>
            </a:r>
            <a:r>
              <a:rPr lang="en-US" sz="2400" dirty="0" err="1"/>
              <a:t>luar</a:t>
            </a:r>
            <a:endParaRPr lang="en-US" sz="2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0B97163-C2AF-D5A3-2451-7414593A810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887611"/>
            <a:ext cx="5181600" cy="2859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4301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B0B561-C5FE-1187-184D-44E300D0D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D06ED2-B7AF-BB92-5DB2-CBD8417C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 with Conditional Statement</a:t>
            </a:r>
          </a:p>
        </p:txBody>
      </p:sp>
    </p:spTree>
    <p:extLst>
      <p:ext uri="{BB962C8B-B14F-4D97-AF65-F5344CB8AC3E}">
        <p14:creationId xmlns:p14="http://schemas.microsoft.com/office/powerpoint/2010/main" val="1403391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888E-7055-96F9-6BC8-8B79BC721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Else di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B746F-90F5-9C4E-D99A-318B24C9D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Looping juga </a:t>
            </a:r>
            <a:r>
              <a:rPr lang="en-US" sz="2000" dirty="0" err="1"/>
              <a:t>bisa</a:t>
            </a:r>
            <a:r>
              <a:rPr lang="en-US" sz="2000" dirty="0"/>
              <a:t> </a:t>
            </a:r>
            <a:r>
              <a:rPr lang="en-US" sz="2000" dirty="0" err="1"/>
              <a:t>dikombinasikan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conditional statement</a:t>
            </a:r>
          </a:p>
          <a:p>
            <a:r>
              <a:rPr lang="en-US" sz="2000" dirty="0" err="1"/>
              <a:t>Contoh</a:t>
            </a:r>
            <a:r>
              <a:rPr lang="en-US" sz="2000" dirty="0"/>
              <a:t> </a:t>
            </a:r>
            <a:r>
              <a:rPr lang="en-US" sz="2000" dirty="0" err="1"/>
              <a:t>penggunaan</a:t>
            </a:r>
            <a:r>
              <a:rPr lang="en-US" sz="2000" dirty="0"/>
              <a:t> if dan continue 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29629EF4-2B02-6261-79E6-C759685E1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097" y="3080839"/>
            <a:ext cx="7975600" cy="265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632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9D0CB-7BB0-DEEB-FBB4-95935BBB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Else di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928B3-8346-6E3B-6B8A-5104FC238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Melakukan</a:t>
            </a:r>
            <a:r>
              <a:rPr lang="en-US" sz="2000" dirty="0"/>
              <a:t> </a:t>
            </a:r>
            <a:r>
              <a:rPr lang="en-US" sz="2000" dirty="0" err="1"/>
              <a:t>cetak</a:t>
            </a:r>
            <a:r>
              <a:rPr lang="en-US" sz="2000" dirty="0"/>
              <a:t> </a:t>
            </a:r>
            <a:r>
              <a:rPr lang="en-US" sz="2000" dirty="0" err="1"/>
              <a:t>bintang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while dan if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264F4CEF-0FBA-6E58-68F9-D60F65C66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112" y="2561779"/>
            <a:ext cx="5704307" cy="344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777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B6D0-2574-2625-F0F1-44897F5F2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 </a:t>
            </a:r>
            <a:r>
              <a:rPr lang="en-US" dirty="0" err="1"/>
              <a:t>Setelah</a:t>
            </a:r>
            <a:r>
              <a:rPr lang="en-US" dirty="0"/>
              <a:t>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89752-3725-DE11-3994-3DC211E95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Statement else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menjalankan</a:t>
            </a:r>
            <a:r>
              <a:rPr lang="en-US" sz="2000" dirty="0"/>
              <a:t> </a:t>
            </a:r>
            <a:r>
              <a:rPr lang="en-US" sz="2000" dirty="0" err="1"/>
              <a:t>perintah</a:t>
            </a:r>
            <a:r>
              <a:rPr lang="en-US" sz="2000" dirty="0"/>
              <a:t> </a:t>
            </a:r>
            <a:r>
              <a:rPr lang="en-US" sz="2000" dirty="0" err="1"/>
              <a:t>selama</a:t>
            </a:r>
            <a:r>
              <a:rPr lang="en-US" sz="2000" dirty="0"/>
              <a:t> </a:t>
            </a:r>
            <a:r>
              <a:rPr lang="en-US" sz="2000" dirty="0" err="1"/>
              <a:t>satu</a:t>
            </a:r>
            <a:r>
              <a:rPr lang="en-US" sz="2000" dirty="0"/>
              <a:t> kali Ketika </a:t>
            </a:r>
            <a:r>
              <a:rPr lang="en-US" sz="2000" dirty="0" err="1"/>
              <a:t>kondisi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benar</a:t>
            </a:r>
            <a:r>
              <a:rPr lang="en-US" sz="2000" dirty="0"/>
              <a:t> 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6D215732-FEA4-83A9-F822-96D294946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381" y="3121438"/>
            <a:ext cx="6219472" cy="305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138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68E0FF-0BF9-07D1-F3A4-B87416FED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354F12-B243-EB94-E4C3-4A9E19F1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 di Type Data</a:t>
            </a:r>
          </a:p>
        </p:txBody>
      </p:sp>
    </p:spTree>
    <p:extLst>
      <p:ext uri="{BB962C8B-B14F-4D97-AF65-F5344CB8AC3E}">
        <p14:creationId xmlns:p14="http://schemas.microsoft.com/office/powerpoint/2010/main" val="2435975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DA7EBD-E840-C6BF-11B5-91AA0FCF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Looping di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F6AB8-80AC-98CB-72EC-603EF71165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mengulangi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dan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di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seperti</a:t>
            </a:r>
            <a:r>
              <a:rPr lang="en-US" dirty="0"/>
              <a:t> list, tuple, dictionary, set, dan string</a:t>
            </a:r>
          </a:p>
          <a:p>
            <a:r>
              <a:rPr lang="en-US" dirty="0" err="1"/>
              <a:t>Mengakses</a:t>
            </a:r>
            <a:r>
              <a:rPr lang="en-US" dirty="0"/>
              <a:t> item di </a:t>
            </a:r>
            <a:r>
              <a:rPr lang="en-US" dirty="0" err="1"/>
              <a:t>suatu</a:t>
            </a:r>
            <a:r>
              <a:rPr lang="en-US" dirty="0"/>
              <a:t> list </a:t>
            </a:r>
            <a:r>
              <a:rPr lang="en-US" dirty="0" err="1"/>
              <a:t>menggunakan</a:t>
            </a:r>
            <a:r>
              <a:rPr lang="en-US" dirty="0"/>
              <a:t> for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A28FB855-A751-638A-6982-8787AC3FD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317206"/>
            <a:ext cx="5814209" cy="17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37CA0FA-FF19-1F96-65FE-A07728AF712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2" y="2141537"/>
            <a:ext cx="5181600" cy="158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067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7E28-8110-DD62-CD61-7754C9B6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di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E3273-DF80-1D7B-389B-92094B8E16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Selain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mengkases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itemnya</a:t>
            </a:r>
            <a:r>
              <a:rPr lang="en-US" dirty="0"/>
              <a:t>, </a:t>
            </a:r>
            <a:r>
              <a:rPr lang="en-US" dirty="0" err="1"/>
              <a:t>kita</a:t>
            </a:r>
            <a:r>
              <a:rPr lang="en-US" dirty="0"/>
              <a:t> juga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looping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karakter</a:t>
            </a:r>
            <a:r>
              <a:rPr lang="en-US" dirty="0"/>
              <a:t> item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list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kapital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A469EF7-203C-6DC7-B95C-629538CCAD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665398"/>
            <a:ext cx="5181600" cy="130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685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11BF-F9C3-1951-B7FE-03D1FF83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Looping di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DCF24-B2F1-BF5A-85D7-D95E4E2417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Mengakses</a:t>
            </a:r>
            <a:r>
              <a:rPr lang="en-US" dirty="0"/>
              <a:t> item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tuple</a:t>
            </a: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D8B2DF5D-5284-4733-0B3F-F538915A8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867" y="4450322"/>
            <a:ext cx="5940666" cy="1652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ECCCF25-47E2-A71E-BAEC-E2B65528CDD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349016"/>
            <a:ext cx="5181600" cy="1442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565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0565-7C2F-571F-8180-155AB47E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di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D50A4-4BFB-7B80-28EA-D68F4FA411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Karena set </a:t>
            </a:r>
            <a:r>
              <a:rPr lang="en-US" dirty="0" err="1"/>
              <a:t>bersifat</a:t>
            </a:r>
            <a:r>
              <a:rPr lang="en-US" dirty="0"/>
              <a:t> unordered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urutan</a:t>
            </a:r>
            <a:r>
              <a:rPr lang="en-US" dirty="0"/>
              <a:t> item yang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teratur</a:t>
            </a:r>
            <a:r>
              <a:rPr lang="en-US" dirty="0"/>
              <a:t> </a:t>
            </a:r>
            <a:r>
              <a:rPr lang="en-US" dirty="0" err="1"/>
              <a:t>susunannya</a:t>
            </a:r>
            <a:endParaRPr lang="en-US" dirty="0"/>
          </a:p>
          <a:p>
            <a:r>
              <a:rPr lang="en-US" dirty="0"/>
              <a:t>Karena </a:t>
            </a:r>
            <a:r>
              <a:rPr lang="en-US" dirty="0" err="1"/>
              <a:t>bersifat</a:t>
            </a:r>
            <a:r>
              <a:rPr lang="en-US" dirty="0"/>
              <a:t> unindexed juga,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index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set 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21EF77-4B9F-05C3-0296-BC731D60A52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594193"/>
            <a:ext cx="5181600" cy="144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509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7BF6-746E-DC20-836E-6CAD035B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di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68A3-DAB9-8961-F45D-14210D2B2A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looping di </a:t>
            </a:r>
            <a:r>
              <a:rPr lang="en-US" dirty="0" err="1"/>
              <a:t>tipe</a:t>
            </a:r>
            <a:r>
              <a:rPr lang="en-US" dirty="0"/>
              <a:t> data dictionary, </a:t>
            </a:r>
            <a:r>
              <a:rPr lang="en-US" dirty="0" err="1"/>
              <a:t>nilai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dikembalikan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keys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mengembalikan</a:t>
            </a:r>
            <a:r>
              <a:rPr lang="en-US" dirty="0"/>
              <a:t> values </a:t>
            </a:r>
            <a:r>
              <a:rPr lang="en-US" dirty="0" err="1"/>
              <a:t>dari</a:t>
            </a:r>
            <a:r>
              <a:rPr lang="en-US" dirty="0"/>
              <a:t> dictionary juga</a:t>
            </a:r>
          </a:p>
        </p:txBody>
      </p:sp>
      <p:pic>
        <p:nvPicPr>
          <p:cNvPr id="21507" name="Picture 3">
            <a:extLst>
              <a:ext uri="{FF2B5EF4-FFF2-40B4-BE49-F238E27FC236}">
                <a16:creationId xmlns:a16="http://schemas.microsoft.com/office/drawing/2014/main" id="{BC704008-9CC2-AA48-26A6-F7B40EA2B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370" y="4219041"/>
            <a:ext cx="5616858" cy="2518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37DEAA1-3E93-9F7D-C44F-9541A8F9E5F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799" y="2141537"/>
            <a:ext cx="5181600" cy="230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2122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07BF6-746E-DC20-836E-6CAD035B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di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68A3-DAB9-8961-F45D-14210D2B2A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lain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key dan value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list </a:t>
            </a:r>
            <a:r>
              <a:rPr lang="en-US" dirty="0" err="1"/>
              <a:t>menggunakan</a:t>
            </a:r>
            <a:r>
              <a:rPr lang="en-US" dirty="0"/>
              <a:t> keys() dan values()</a:t>
            </a:r>
          </a:p>
        </p:txBody>
      </p:sp>
      <p:pic>
        <p:nvPicPr>
          <p:cNvPr id="23555" name="Picture 3">
            <a:extLst>
              <a:ext uri="{FF2B5EF4-FFF2-40B4-BE49-F238E27FC236}">
                <a16:creationId xmlns:a16="http://schemas.microsoft.com/office/drawing/2014/main" id="{5914DF8A-1FA2-E3A3-6DC6-21A4A989B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857" y="4317206"/>
            <a:ext cx="4600285" cy="206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A5A86BC-9C57-DF40-94DE-A989AADA8E3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141537"/>
            <a:ext cx="5181600" cy="231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000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525D6-4FA0-8A30-AE59-975A9C7FE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di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350B5-BAC0-5BC7-6CE8-C60DC8426D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Metode</a:t>
            </a:r>
            <a:r>
              <a:rPr lang="en-US" dirty="0"/>
              <a:t> lain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key dan value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0BCD5-B1E3-6B57-20C4-58B4194334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B753FB70-EDB6-D497-5D5F-D03F60CF4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7447" y="2914498"/>
            <a:ext cx="6279737" cy="280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6842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6D04-4C3E-7FC9-A922-5ABFC86B1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8453A-7C12-D547-5964-87A36F29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9733"/>
            <a:ext cx="7995834" cy="451555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600" dirty="0" err="1"/>
              <a:t>Isilah</a:t>
            </a:r>
            <a:r>
              <a:rPr lang="en-US" sz="1600" dirty="0"/>
              <a:t> </a:t>
            </a:r>
            <a:r>
              <a:rPr lang="en-US" sz="1600" dirty="0" err="1"/>
              <a:t>tiga</a:t>
            </a:r>
            <a:r>
              <a:rPr lang="en-US" sz="1600" dirty="0"/>
              <a:t> </a:t>
            </a:r>
            <a:r>
              <a:rPr lang="en-US" sz="1600" dirty="0" err="1"/>
              <a:t>bagian</a:t>
            </a:r>
            <a:r>
              <a:rPr lang="en-US" sz="1600" dirty="0"/>
              <a:t> code yang </a:t>
            </a:r>
            <a:r>
              <a:rPr lang="en-US" sz="1600" dirty="0" err="1"/>
              <a:t>kosong</a:t>
            </a:r>
            <a:r>
              <a:rPr lang="en-US" sz="1600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	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buah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= ["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apel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anggur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mangga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", "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jeruk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", "melon"]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_____ x _____ _____: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      print(x)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 startAt="2"/>
            </a:pPr>
            <a:r>
              <a:rPr lang="en-US" sz="1600" dirty="0" err="1"/>
              <a:t>Isilah</a:t>
            </a:r>
            <a:r>
              <a:rPr lang="en-US" sz="1600" dirty="0"/>
              <a:t> </a:t>
            </a:r>
            <a:r>
              <a:rPr lang="en-US" sz="1600" dirty="0" err="1"/>
              <a:t>bagian</a:t>
            </a:r>
            <a:r>
              <a:rPr lang="en-US" sz="1600" dirty="0"/>
              <a:t> code yang </a:t>
            </a:r>
            <a:r>
              <a:rPr lang="en-US" sz="1600" dirty="0" err="1"/>
              <a:t>kosong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looping </a:t>
            </a:r>
            <a:r>
              <a:rPr lang="en-US" sz="1600" dirty="0" err="1"/>
              <a:t>dimana</a:t>
            </a:r>
            <a:r>
              <a:rPr lang="en-US" sz="1600" dirty="0"/>
              <a:t> </a:t>
            </a:r>
            <a:r>
              <a:rPr lang="en-US" sz="1600" dirty="0" err="1"/>
              <a:t>ketika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x </a:t>
            </a:r>
            <a:r>
              <a:rPr lang="en-US" sz="1600" dirty="0" err="1"/>
              <a:t>adalah</a:t>
            </a:r>
            <a:r>
              <a:rPr lang="en-US" sz="1600" dirty="0"/>
              <a:t> 5 </a:t>
            </a:r>
            <a:r>
              <a:rPr lang="en-US" sz="1600" dirty="0" err="1"/>
              <a:t>maka</a:t>
            </a:r>
            <a:r>
              <a:rPr lang="en-US" sz="1600" dirty="0"/>
              <a:t> program </a:t>
            </a:r>
            <a:r>
              <a:rPr lang="en-US" sz="1600" dirty="0" err="1"/>
              <a:t>langsung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</a:t>
            </a:r>
            <a:r>
              <a:rPr lang="en-US" sz="1600" dirty="0" err="1"/>
              <a:t>iterasi</a:t>
            </a:r>
            <a:r>
              <a:rPr lang="en-US" sz="1600" dirty="0"/>
              <a:t> </a:t>
            </a:r>
            <a:r>
              <a:rPr lang="en-US" sz="1600" dirty="0" err="1"/>
              <a:t>berikutnya</a:t>
            </a:r>
            <a:r>
              <a:rPr lang="en-US" sz="1600" dirty="0"/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/>
              <a:t>	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x = 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_____ x &lt; 10: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       x +=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_____ 5: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       _____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9819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127BB3-E1AE-9631-34B0-70438C000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5FB011-DE5D-3FF4-877E-3337E5787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06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AE8BB-C1FE-903D-3AD5-7030F12DC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3BE8-7428-09DD-A359-B215B6A10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Leni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deret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sampai</a:t>
            </a:r>
            <a:r>
              <a:rPr lang="en-US" dirty="0"/>
              <a:t> 50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bertemu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kelipatan</a:t>
            </a:r>
            <a:r>
              <a:rPr lang="en-US" dirty="0"/>
              <a:t> 5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outputnya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“pass”. </a:t>
            </a:r>
            <a:r>
              <a:rPr lang="en-US" dirty="0" err="1"/>
              <a:t>Tolong</a:t>
            </a:r>
            <a:r>
              <a:rPr lang="en-US" dirty="0"/>
              <a:t> </a:t>
            </a:r>
            <a:r>
              <a:rPr lang="en-US" dirty="0" err="1"/>
              <a:t>bantu</a:t>
            </a:r>
            <a:r>
              <a:rPr lang="en-US" dirty="0"/>
              <a:t> Leni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masalahnya</a:t>
            </a:r>
            <a:r>
              <a:rPr lang="en-US" dirty="0"/>
              <a:t> kali </a:t>
            </a:r>
            <a:r>
              <a:rPr lang="en-US" dirty="0" err="1"/>
              <a:t>ini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4264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E3335-2BF0-80E0-FD72-0A83CC60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492D-4FD4-90B3-B85B-AF316CAB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2. Buat program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dapat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menginputkan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sejumlah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n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untuk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diisi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nama-nama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hewan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kemudian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mencetak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kembali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hewan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telah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diinputkan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tersebut</a:t>
            </a:r>
            <a:endParaRPr lang="en-ID" dirty="0">
              <a:solidFill>
                <a:srgbClr val="000000"/>
              </a:solidFill>
              <a:latin typeface="-webkit-standard"/>
            </a:endParaRPr>
          </a:p>
          <a:p>
            <a:pPr marL="0" indent="0" algn="just">
              <a:buNone/>
            </a:pPr>
            <a:endParaRPr lang="en-ID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0" indent="0" algn="just">
              <a:buNone/>
            </a:pPr>
            <a:r>
              <a:rPr lang="en-ID" dirty="0" err="1">
                <a:solidFill>
                  <a:srgbClr val="000000"/>
                </a:solidFill>
                <a:latin typeface="-webkit-standard"/>
              </a:rPr>
              <a:t>Contoh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:</a:t>
            </a:r>
          </a:p>
          <a:p>
            <a:pPr marL="0" indent="0" algn="just">
              <a:buNone/>
            </a:pP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Input: </a:t>
            </a:r>
          </a:p>
          <a:p>
            <a:pPr marL="0" indent="0" algn="just">
              <a:buNone/>
            </a:pP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masukkan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jumlah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hewan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yang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akan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diinput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: 3 </a:t>
            </a:r>
          </a:p>
          <a:p>
            <a:pPr marL="0" indent="0" algn="just">
              <a:buNone/>
            </a:pP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Output: </a:t>
            </a:r>
          </a:p>
          <a:p>
            <a:pPr marL="0" indent="0" algn="just">
              <a:buNone/>
            </a:pP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hewan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ke-1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adalah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ayam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</a:p>
          <a:p>
            <a:pPr marL="0" indent="0" algn="just">
              <a:buNone/>
            </a:pP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hewan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ke-2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adalah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bebek</a:t>
            </a:r>
            <a:endParaRPr lang="en-ID" b="0" i="0" u="none" strike="noStrike" dirty="0">
              <a:solidFill>
                <a:srgbClr val="1F1F1F"/>
              </a:solidFill>
              <a:effectLst/>
              <a:latin typeface="Google Sans"/>
            </a:endParaRPr>
          </a:p>
          <a:p>
            <a:pPr marL="0" indent="0" algn="just">
              <a:buNone/>
            </a:pP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hewan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ke-3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adalah</a:t>
            </a:r>
            <a:r>
              <a:rPr lang="en-ID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 </a:t>
            </a:r>
            <a:r>
              <a:rPr lang="en-ID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cacing</a:t>
            </a:r>
            <a:endParaRPr lang="en-ID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</p:spTree>
    <p:extLst>
      <p:ext uri="{BB962C8B-B14F-4D97-AF65-F5344CB8AC3E}">
        <p14:creationId xmlns:p14="http://schemas.microsoft.com/office/powerpoint/2010/main" val="1366240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A365-09D9-E57C-44BE-5BB2F740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7FF3-DB50-9A9A-97EB-11596E697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3. Buat program yang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meminta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user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memasukkan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n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bilangan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lalu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tampilkan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mana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saja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ID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bilangan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genap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dan mana yang 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ganjil</a:t>
            </a:r>
            <a:r>
              <a:rPr lang="en-ID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0" indent="0">
              <a:buNone/>
            </a:pPr>
            <a:r>
              <a:rPr lang="en-ID" dirty="0" err="1">
                <a:solidFill>
                  <a:srgbClr val="000000"/>
                </a:solidFill>
                <a:latin typeface="-webkit-standard"/>
              </a:rPr>
              <a:t>Contoh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:</a:t>
            </a:r>
          </a:p>
          <a:p>
            <a:pPr marL="0" indent="0">
              <a:buNone/>
            </a:pPr>
            <a:r>
              <a:rPr lang="en-ID" dirty="0">
                <a:solidFill>
                  <a:srgbClr val="000000"/>
                </a:solidFill>
                <a:latin typeface="-webkit-standard"/>
              </a:rPr>
              <a:t>Input </a:t>
            </a:r>
          </a:p>
          <a:p>
            <a:pPr marL="0" indent="0">
              <a:buNone/>
            </a:pPr>
            <a:r>
              <a:rPr lang="en-ID" dirty="0" err="1">
                <a:solidFill>
                  <a:srgbClr val="000000"/>
                </a:solidFill>
                <a:latin typeface="-webkit-standard"/>
              </a:rPr>
              <a:t>Bilangan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ke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- 1 : 5</a:t>
            </a:r>
          </a:p>
          <a:p>
            <a:pPr marL="0" indent="0">
              <a:buNone/>
            </a:pPr>
            <a:r>
              <a:rPr lang="en-ID" dirty="0" err="1">
                <a:solidFill>
                  <a:srgbClr val="000000"/>
                </a:solidFill>
                <a:latin typeface="-webkit-standard"/>
              </a:rPr>
              <a:t>Bilangan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ke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- 2 : 8</a:t>
            </a:r>
          </a:p>
          <a:p>
            <a:pPr marL="0" indent="0">
              <a:buNone/>
            </a:pPr>
            <a:endParaRPr lang="en-ID" dirty="0">
              <a:solidFill>
                <a:srgbClr val="000000"/>
              </a:solidFill>
              <a:latin typeface="-webkit-standard"/>
            </a:endParaRPr>
          </a:p>
          <a:p>
            <a:pPr marL="0" indent="0">
              <a:buNone/>
            </a:pPr>
            <a:r>
              <a:rPr lang="en-ID" dirty="0">
                <a:solidFill>
                  <a:srgbClr val="000000"/>
                </a:solidFill>
                <a:latin typeface="-webkit-standard"/>
              </a:rPr>
              <a:t>Output:</a:t>
            </a:r>
          </a:p>
          <a:p>
            <a:pPr marL="0" indent="0">
              <a:buNone/>
            </a:pPr>
            <a:r>
              <a:rPr lang="en-ID" dirty="0" err="1">
                <a:solidFill>
                  <a:srgbClr val="000000"/>
                </a:solidFill>
                <a:latin typeface="-webkit-standard"/>
              </a:rPr>
              <a:t>Bilangan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5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adalah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ganjil</a:t>
            </a:r>
            <a:endParaRPr lang="en-ID" dirty="0">
              <a:solidFill>
                <a:srgbClr val="000000"/>
              </a:solidFill>
              <a:latin typeface="-webkit-standard"/>
            </a:endParaRPr>
          </a:p>
          <a:p>
            <a:pPr marL="0" indent="0">
              <a:buNone/>
            </a:pPr>
            <a:r>
              <a:rPr lang="en-ID" dirty="0" err="1">
                <a:solidFill>
                  <a:srgbClr val="000000"/>
                </a:solidFill>
                <a:latin typeface="-webkit-standard"/>
              </a:rPr>
              <a:t>Bilangan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8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adalah</a:t>
            </a:r>
            <a:r>
              <a:rPr lang="en-ID" dirty="0">
                <a:solidFill>
                  <a:srgbClr val="000000"/>
                </a:solidFill>
                <a:latin typeface="-webkit-standard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-webkit-standard"/>
              </a:rPr>
              <a:t>genap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581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3E15-BE93-0921-53E2-370EA5B5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Latihan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E40B3-11B7-0E62-EEBA-76F16772E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 startAt="4"/>
            </a:pPr>
            <a:r>
              <a:rPr lang="en-US" dirty="0" err="1"/>
              <a:t>Tampilkan</a:t>
            </a:r>
            <a:r>
              <a:rPr lang="en-US" dirty="0"/>
              <a:t> </a:t>
            </a:r>
            <a:r>
              <a:rPr lang="en-US" dirty="0" err="1"/>
              <a:t>deret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1 </a:t>
            </a:r>
            <a:r>
              <a:rPr lang="en-US" dirty="0" err="1"/>
              <a:t>sampai</a:t>
            </a:r>
            <a:r>
              <a:rPr lang="en-US" dirty="0"/>
              <a:t> 80 </a:t>
            </a:r>
            <a:r>
              <a:rPr lang="en-US" dirty="0" err="1"/>
              <a:t>dimana</a:t>
            </a:r>
            <a:r>
              <a:rPr lang="en-US" dirty="0"/>
              <a:t> yang </a:t>
            </a:r>
            <a:r>
              <a:rPr lang="en-US" dirty="0" err="1"/>
              <a:t>ditampilkan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yang </a:t>
            </a:r>
            <a:r>
              <a:rPr lang="en-US" dirty="0" err="1"/>
              <a:t>kelipatan</a:t>
            </a:r>
            <a:r>
              <a:rPr lang="en-US" dirty="0"/>
              <a:t> 3 dan 5 </a:t>
            </a:r>
            <a:r>
              <a:rPr lang="en-US" dirty="0" err="1"/>
              <a:t>saja</a:t>
            </a:r>
            <a:r>
              <a:rPr lang="en-US" dirty="0"/>
              <a:t>.</a:t>
            </a:r>
          </a:p>
          <a:p>
            <a:pPr marL="514350" indent="-514350">
              <a:buAutoNum type="arabicPeriod" startAt="4"/>
            </a:pPr>
            <a:r>
              <a:rPr lang="en-US" dirty="0" err="1"/>
              <a:t>Buat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login </a:t>
            </a:r>
            <a:r>
              <a:rPr lang="en-US" dirty="0" err="1"/>
              <a:t>sederhana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batas</a:t>
            </a:r>
            <a:r>
              <a:rPr lang="en-US" dirty="0"/>
              <a:t> salah username/password.</a:t>
            </a:r>
          </a:p>
          <a:p>
            <a:pPr marL="720725" lvl="1" indent="0">
              <a:buNone/>
            </a:pPr>
            <a:r>
              <a:rPr lang="en-US" dirty="0"/>
              <a:t>Username: </a:t>
            </a:r>
            <a:r>
              <a:rPr lang="en-US" dirty="0" err="1"/>
              <a:t>dasproRPL</a:t>
            </a:r>
            <a:endParaRPr lang="en-US" dirty="0"/>
          </a:p>
          <a:p>
            <a:pPr marL="720725" lvl="1" indent="0">
              <a:buNone/>
            </a:pPr>
            <a:r>
              <a:rPr lang="en-US" dirty="0"/>
              <a:t>Password: RPLfire!123</a:t>
            </a:r>
          </a:p>
        </p:txBody>
      </p:sp>
    </p:spTree>
    <p:extLst>
      <p:ext uri="{BB962C8B-B14F-4D97-AF65-F5344CB8AC3E}">
        <p14:creationId xmlns:p14="http://schemas.microsoft.com/office/powerpoint/2010/main" val="355931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03864"/>
      </a:accent1>
      <a:accent2>
        <a:srgbClr val="A8836F"/>
      </a:accent2>
      <a:accent3>
        <a:srgbClr val="F4F4F4"/>
      </a:accent3>
      <a:accent4>
        <a:srgbClr val="A38500"/>
      </a:accent4>
      <a:accent5>
        <a:srgbClr val="5B9BD5"/>
      </a:accent5>
      <a:accent6>
        <a:srgbClr val="527F53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1930</TotalTime>
  <Words>875</Words>
  <Application>Microsoft Macintosh PowerPoint</Application>
  <PresentationFormat>Widescreen</PresentationFormat>
  <Paragraphs>141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-webkit-standard</vt:lpstr>
      <vt:lpstr>Aharoni</vt:lpstr>
      <vt:lpstr>Arial</vt:lpstr>
      <vt:lpstr>Calibri</vt:lpstr>
      <vt:lpstr>Calibri Light</vt:lpstr>
      <vt:lpstr>Consolas</vt:lpstr>
      <vt:lpstr>Gill Sans MT</vt:lpstr>
      <vt:lpstr>Google Sans</vt:lpstr>
      <vt:lpstr>Office Theme</vt:lpstr>
      <vt:lpstr>PENGULANGAN</vt:lpstr>
      <vt:lpstr>Perulangan</vt:lpstr>
      <vt:lpstr>Looping: For</vt:lpstr>
      <vt:lpstr>Looping: For</vt:lpstr>
      <vt:lpstr>Looping: For</vt:lpstr>
      <vt:lpstr>Looping: For</vt:lpstr>
      <vt:lpstr>Looping: While</vt:lpstr>
      <vt:lpstr>Looping: While</vt:lpstr>
      <vt:lpstr>Looping: While</vt:lpstr>
      <vt:lpstr>Control the Flow</vt:lpstr>
      <vt:lpstr>Break</vt:lpstr>
      <vt:lpstr>Continue</vt:lpstr>
      <vt:lpstr>Range</vt:lpstr>
      <vt:lpstr>Range</vt:lpstr>
      <vt:lpstr>Range</vt:lpstr>
      <vt:lpstr>Range</vt:lpstr>
      <vt:lpstr>Nested Loops</vt:lpstr>
      <vt:lpstr>Nested Loops</vt:lpstr>
      <vt:lpstr>Loop with Conditional Statement</vt:lpstr>
      <vt:lpstr>If Else di Loop</vt:lpstr>
      <vt:lpstr>If Else di Loop</vt:lpstr>
      <vt:lpstr>Else Setelah While</vt:lpstr>
      <vt:lpstr>Loop di Type Data</vt:lpstr>
      <vt:lpstr>Looping di List</vt:lpstr>
      <vt:lpstr>Looping di List</vt:lpstr>
      <vt:lpstr>Looping di Tuple</vt:lpstr>
      <vt:lpstr>Looping di Set</vt:lpstr>
      <vt:lpstr>Looping di Dictionary</vt:lpstr>
      <vt:lpstr>Looping di Dictionary</vt:lpstr>
      <vt:lpstr>Looping di Dictionary</vt:lpstr>
      <vt:lpstr>Quiz</vt:lpstr>
      <vt:lpstr>Studi Kasus</vt:lpstr>
      <vt:lpstr>Studi Kasus</vt:lpstr>
      <vt:lpstr>Latihan</vt:lpstr>
      <vt:lpstr>Latihan</vt:lpstr>
      <vt:lpstr>Latihan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indirasyawanodya</dc:creator>
  <cp:lastModifiedBy>indirasyawanodya</cp:lastModifiedBy>
  <cp:revision>14</cp:revision>
  <dcterms:created xsi:type="dcterms:W3CDTF">2025-08-15T01:30:00Z</dcterms:created>
  <dcterms:modified xsi:type="dcterms:W3CDTF">2025-10-16T02:28:57Z</dcterms:modified>
</cp:coreProperties>
</file>